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6232E"/>
                </a:solidFill>
                <a:latin typeface="Calibri"/>
              </a:defRPr>
            </a:pPr>
            <a:r>
              <a:rPr sz="1250" b="0" i="0" u="none" strike="noStrike">
                <a:solidFill>
                  <a:srgbClr val="16232E"/>
                </a:solidFill>
                <a:latin typeface="Calibri"/>
              </a:rPr>
              <a:t>Speed against number of connections</a:t>
            </a:r>
          </a:p>
        </c:rich>
      </c:tx>
      <c:layout/>
      <c:overlay val="0"/>
    </c:title>
    <c:autoTitleDeleted val="0"/>
    <c:plotArea>
      <c:layout/>
      <c:lineChart>
        <c:varyColors val="0"/>
        <c:ser>
          <c:idx val="0"/>
          <c:order val="0"/>
          <c:tx>
            <c:strRef>
              <c:f>Sheet1!$B$1</c:f>
              <c:strCache>
                <c:ptCount val="1"/>
                <c:pt idx="0">
                  <c:v>MB/s</c:v>
                </c:pt>
              </c:strCache>
            </c:strRef>
          </c:tx>
          <c:spPr>
            <a:solidFill>
              <a:srgbClr val="00A896"/>
            </a:solidFill>
            <a:ln w="44450" cap="flat">
              <a:solidFill>
                <a:srgbClr val="00A8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A896"/>
              </a:solidFill>
              <a:ln w="9525" cap="flat">
                <a:solidFill>
                  <a:srgbClr val="00A896"/>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3</c:v>
                </c:pt>
                <c:pt idx="1">
                  <c:v>6.1</c:v>
                </c:pt>
                <c:pt idx="2">
                  <c:v>12.4</c:v>
                </c:pt>
                <c:pt idx="3">
                  <c:v>25.8</c:v>
                </c:pt>
                <c:pt idx="4">
                  <c:v>25.5</c:v>
                </c:pt>
                <c:pt idx="5">
                  <c:v>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2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title as a sentence: how a program waits for many things at once. That is the entire subject. Then say plainly that you will define every word before using it, because most of them get used loosely.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everything later depends on it. Read each definition out. The one people mishear is concurrency: stress that it is mostly about overlapping waiting, not about extra calculation. That single sentence prevents most of the confusion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the zero percent. When something takes twenty seconds the instinct is to buy a faster machine, and here that would buy nothing at all, because the machine is already idle. Pause after the last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Everything after this is mechanism. Say the two phrasings aloud and let the contrast land. If anybody is lost later, it is because this slide went too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page after the numbers. Let the room pick a file from the library on the left. While it runs, point out that both sides end up with their own copy and the same checksum.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confused pair in the whole API. If they remember one mechanism slide, make it this one. The two little bars on the right are the entire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row is the interesting one: a task that simply never returns throws nothing, so try/catch waits forever. The trap at the bottom is the single most common real-world mistake with this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first and third; those are judgement rather than syntax. Then leave this slide up so people can scan the code and run it themselves while you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1783080"/>
            <a:ext cx="10607040" cy="777240"/>
          </a:xfrm>
          <a:prstGeom prst="rect">
            <a:avLst/>
          </a:prstGeom>
          <a:noFill/>
          <a:ln/>
        </p:spPr>
        <p:txBody>
          <a:bodyPr wrap="square" lIns="0" tIns="0" rIns="0" bIns="0" rtlCol="0" anchor="ctr"/>
          <a:lstStyle/>
          <a:p>
            <a:pPr indent="0" marL="0">
              <a:buNone/>
            </a:pPr>
            <a:r>
              <a:rPr lang="en-US" sz="4000" dirty="0">
                <a:solidFill>
                  <a:srgbClr val="7C8FA0"/>
                </a:solidFill>
                <a:latin typeface="Cambria" pitchFamily="34" charset="0"/>
                <a:ea typeface="Cambria" pitchFamily="34" charset="-122"/>
                <a:cs typeface="Cambria" pitchFamily="34" charset="-120"/>
              </a:rPr>
              <a:t>How a program waits</a:t>
            </a:r>
            <a:endParaRPr lang="en-US" sz="4000" dirty="0"/>
          </a:p>
        </p:txBody>
      </p:sp>
      <p:sp>
        <p:nvSpPr>
          <p:cNvPr id="3" name="Text 1"/>
          <p:cNvSpPr txBox="1"/>
          <p:nvPr/>
        </p:nvSpPr>
        <p:spPr>
          <a:xfrm>
            <a:off x="822960" y="2487168"/>
            <a:ext cx="10607040" cy="96012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for many things at once</a:t>
            </a:r>
            <a:endParaRPr lang="en-US" sz="5200" dirty="0"/>
          </a:p>
        </p:txBody>
      </p:sp>
      <p:sp>
        <p:nvSpPr>
          <p:cNvPr id="4" name="Text 2"/>
          <p:cNvSpPr txBox="1"/>
          <p:nvPr/>
        </p:nvSpPr>
        <p:spPr>
          <a:xfrm>
            <a:off x="841248" y="3657600"/>
            <a:ext cx="9601200" cy="411480"/>
          </a:xfrm>
          <a:prstGeom prst="rect">
            <a:avLst/>
          </a:prstGeom>
          <a:noFill/>
          <a:ln/>
        </p:spPr>
        <p:txBody>
          <a:bodyPr wrap="square" lIns="0" tIns="0" rIns="0" bIns="0" rtlCol="0" anchor="ctr"/>
          <a:lstStyle/>
          <a:p>
            <a:pPr indent="0" marL="0">
              <a:buNone/>
            </a:pPr>
            <a:r>
              <a:rPr lang="en-US" sz="1800" dirty="0">
                <a:solidFill>
                  <a:srgbClr val="00A896"/>
                </a:solidFill>
                <a:latin typeface="Calibri" pitchFamily="34" charset="0"/>
                <a:ea typeface="Calibri" pitchFamily="34" charset="-122"/>
                <a:cs typeface="Calibri" pitchFamily="34" charset="-120"/>
              </a:rPr>
              <a:t>Concurrency in Java, using CompletableFuture</a:t>
            </a:r>
            <a:endParaRPr lang="en-US" sz="1800" dirty="0"/>
          </a:p>
        </p:txBody>
      </p:sp>
      <p:sp>
        <p:nvSpPr>
          <p:cNvPr id="5" name="Text 3"/>
          <p:cNvSpPr txBox="1"/>
          <p:nvPr/>
        </p:nvSpPr>
        <p:spPr>
          <a:xfrm>
            <a:off x="841248" y="521208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Mohammed Adnan</a:t>
            </a:r>
            <a:pPr indent="0" marL="0">
              <a:buNone/>
            </a:pPr>
            <a:r>
              <a:rPr lang="en-US" sz="1400" dirty="0">
                <a:solidFill>
                  <a:srgbClr val="7C8FA0"/>
                </a:solidFill>
                <a:latin typeface="Calibri" pitchFamily="34" charset="0"/>
                <a:ea typeface="Calibri" pitchFamily="34" charset="-122"/>
                <a:cs typeface="Calibri" pitchFamily="34" charset="-120"/>
              </a:rPr>
              <a:t>   ·   Trine University</a:t>
            </a:r>
            <a:endParaRPr lang="en-US" sz="1400" dirty="0"/>
          </a:p>
        </p:txBody>
      </p:sp>
      <p:sp>
        <p:nvSpPr>
          <p:cNvPr id="6" name="Shape 4"/>
          <p:cNvSpPr/>
          <p:nvPr/>
        </p:nvSpPr>
        <p:spPr>
          <a:xfrm>
            <a:off x="841248" y="5852160"/>
            <a:ext cx="2377440" cy="118872"/>
          </a:xfrm>
          <a:prstGeom prst="rect">
            <a:avLst/>
          </a:prstGeom>
          <a:solidFill>
            <a:srgbClr val="6B7C8C"/>
          </a:solidFill>
          <a:ln/>
        </p:spPr>
      </p:sp>
      <p:sp>
        <p:nvSpPr>
          <p:cNvPr id="7" name="Shape 5"/>
          <p:cNvSpPr/>
          <p:nvPr/>
        </p:nvSpPr>
        <p:spPr>
          <a:xfrm>
            <a:off x="841248" y="6126480"/>
            <a:ext cx="237744" cy="118872"/>
          </a:xfrm>
          <a:prstGeom prst="rect">
            <a:avLst/>
          </a:prstGeom>
          <a:solidFill>
            <a:srgbClr val="00A896"/>
          </a:solidFill>
          <a:ln/>
        </p:spPr>
      </p:sp>
      <p:sp>
        <p:nvSpPr>
          <p:cNvPr id="8" name="Shape 6"/>
          <p:cNvSpPr/>
          <p:nvPr/>
        </p:nvSpPr>
        <p:spPr>
          <a:xfrm>
            <a:off x="1152144" y="6126480"/>
            <a:ext cx="237744" cy="118872"/>
          </a:xfrm>
          <a:prstGeom prst="rect">
            <a:avLst/>
          </a:prstGeom>
          <a:solidFill>
            <a:srgbClr val="00A896"/>
          </a:solidFill>
          <a:ln/>
        </p:spPr>
      </p:sp>
      <p:sp>
        <p:nvSpPr>
          <p:cNvPr id="9" name="Shape 7"/>
          <p:cNvSpPr/>
          <p:nvPr/>
        </p:nvSpPr>
        <p:spPr>
          <a:xfrm>
            <a:off x="1463040" y="6126480"/>
            <a:ext cx="237744" cy="118872"/>
          </a:xfrm>
          <a:prstGeom prst="rect">
            <a:avLst/>
          </a:prstGeom>
          <a:solidFill>
            <a:srgbClr val="00A896"/>
          </a:solidFill>
          <a:ln/>
        </p:spPr>
      </p:sp>
      <p:sp>
        <p:nvSpPr>
          <p:cNvPr id="10" name="Shape 8"/>
          <p:cNvSpPr/>
          <p:nvPr/>
        </p:nvSpPr>
        <p:spPr>
          <a:xfrm>
            <a:off x="1773936" y="6126480"/>
            <a:ext cx="237744" cy="118872"/>
          </a:xfrm>
          <a:prstGeom prst="rect">
            <a:avLst/>
          </a:prstGeom>
          <a:solidFill>
            <a:srgbClr val="00A896"/>
          </a:solidFill>
          <a:ln/>
        </p:spPr>
      </p:sp>
      <p:sp>
        <p:nvSpPr>
          <p:cNvPr id="11" name="Shape 9"/>
          <p:cNvSpPr/>
          <p:nvPr/>
        </p:nvSpPr>
        <p:spPr>
          <a:xfrm>
            <a:off x="2084832" y="6126480"/>
            <a:ext cx="237744" cy="118872"/>
          </a:xfrm>
          <a:prstGeom prst="rect">
            <a:avLst/>
          </a:prstGeom>
          <a:solidFill>
            <a:srgbClr val="00A896"/>
          </a:solidFill>
          <a:ln/>
        </p:spPr>
      </p:sp>
      <p:sp>
        <p:nvSpPr>
          <p:cNvPr id="12" name="Shape 10"/>
          <p:cNvSpPr/>
          <p:nvPr/>
        </p:nvSpPr>
        <p:spPr>
          <a:xfrm>
            <a:off x="2395728" y="6126480"/>
            <a:ext cx="237744" cy="118872"/>
          </a:xfrm>
          <a:prstGeom prst="rect">
            <a:avLst/>
          </a:prstGeom>
          <a:solidFill>
            <a:srgbClr val="00A896"/>
          </a:solidFill>
          <a:ln/>
        </p:spPr>
      </p:sp>
      <p:sp>
        <p:nvSpPr>
          <p:cNvPr id="13" name="Shape 11"/>
          <p:cNvSpPr/>
          <p:nvPr/>
        </p:nvSpPr>
        <p:spPr>
          <a:xfrm>
            <a:off x="2706624" y="6126480"/>
            <a:ext cx="237744" cy="118872"/>
          </a:xfrm>
          <a:prstGeom prst="rect">
            <a:avLst/>
          </a:prstGeom>
          <a:solidFill>
            <a:srgbClr val="00A896"/>
          </a:solidFill>
          <a:ln/>
        </p:spPr>
      </p:sp>
      <p:sp>
        <p:nvSpPr>
          <p:cNvPr id="14" name="Shape 12"/>
          <p:cNvSpPr/>
          <p:nvPr/>
        </p:nvSpPr>
        <p:spPr>
          <a:xfrm>
            <a:off x="3017520" y="6126480"/>
            <a:ext cx="237744" cy="118872"/>
          </a:xfrm>
          <a:prstGeom prst="rect">
            <a:avLst/>
          </a:prstGeom>
          <a:solidFill>
            <a:srgbClr val="00A89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Four words, defined before we use them</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These get used loosely all the time. For the next ten minutes they mean exactly this.</a:t>
            </a:r>
            <a:endParaRPr lang="en-US" sz="1500" dirty="0"/>
          </a:p>
        </p:txBody>
      </p:sp>
      <p:sp>
        <p:nvSpPr>
          <p:cNvPr id="4" name="Shape 2"/>
          <p:cNvSpPr/>
          <p:nvPr/>
        </p:nvSpPr>
        <p:spPr>
          <a:xfrm>
            <a:off x="621792" y="1828800"/>
            <a:ext cx="5349240" cy="1298448"/>
          </a:xfrm>
          <a:prstGeom prst="roundRect">
            <a:avLst>
              <a:gd name="adj" fmla="val 4225"/>
            </a:avLst>
          </a:prstGeom>
          <a:solidFill>
            <a:srgbClr val="F1F5F8"/>
          </a:solidFill>
          <a:ln w="12700">
            <a:solidFill>
              <a:srgbClr val="F1F5F8"/>
            </a:solidFill>
            <a:prstDash val="solid"/>
          </a:ln>
        </p:spPr>
      </p:sp>
      <p:sp>
        <p:nvSpPr>
          <p:cNvPr id="5" name="Text 3"/>
          <p:cNvSpPr txBox="1"/>
          <p:nvPr/>
        </p:nvSpPr>
        <p:spPr>
          <a:xfrm>
            <a:off x="877824" y="1984248"/>
            <a:ext cx="4837176" cy="329184"/>
          </a:xfrm>
          <a:prstGeom prst="rect">
            <a:avLst/>
          </a:prstGeom>
          <a:noFill/>
          <a:ln/>
        </p:spPr>
        <p:txBody>
          <a:bodyPr wrap="square" lIns="0" tIns="0" rIns="0" bIns="0" rtlCol="0" anchor="ctr"/>
          <a:lstStyle/>
          <a:p>
            <a:pPr indent="0" marL="0">
              <a:buNone/>
            </a:pPr>
            <a:r>
              <a:rPr lang="en-US" sz="1700" b="1" dirty="0">
                <a:solidFill>
                  <a:srgbClr val="00A896"/>
                </a:solidFill>
                <a:latin typeface="Calibri" pitchFamily="34" charset="0"/>
                <a:ea typeface="Calibri" pitchFamily="34" charset="-122"/>
                <a:cs typeface="Calibri" pitchFamily="34" charset="-120"/>
              </a:rPr>
              <a:t>Thread</a:t>
            </a:r>
            <a:endParaRPr lang="en-US" sz="1700" dirty="0"/>
          </a:p>
        </p:txBody>
      </p:sp>
      <p:sp>
        <p:nvSpPr>
          <p:cNvPr id="6" name="Text 4"/>
          <p:cNvSpPr txBox="1"/>
          <p:nvPr/>
        </p:nvSpPr>
        <p:spPr>
          <a:xfrm>
            <a:off x="877824" y="2340864"/>
            <a:ext cx="4837176" cy="685800"/>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One worker inside your program. It carries out one instruction at a time, in order. A plain Java program starts with a single one.</a:t>
            </a:r>
            <a:endParaRPr lang="en-US" sz="1350" dirty="0"/>
          </a:p>
        </p:txBody>
      </p:sp>
      <p:sp>
        <p:nvSpPr>
          <p:cNvPr id="7" name="Shape 5"/>
          <p:cNvSpPr/>
          <p:nvPr/>
        </p:nvSpPr>
        <p:spPr>
          <a:xfrm>
            <a:off x="6199632" y="1828800"/>
            <a:ext cx="5349240" cy="1298448"/>
          </a:xfrm>
          <a:prstGeom prst="roundRect">
            <a:avLst>
              <a:gd name="adj" fmla="val 4225"/>
            </a:avLst>
          </a:prstGeom>
          <a:solidFill>
            <a:srgbClr val="F1F5F8"/>
          </a:solidFill>
          <a:ln w="12700">
            <a:solidFill>
              <a:srgbClr val="F1F5F8"/>
            </a:solidFill>
            <a:prstDash val="solid"/>
          </a:ln>
        </p:spPr>
      </p:sp>
      <p:sp>
        <p:nvSpPr>
          <p:cNvPr id="8" name="Text 6"/>
          <p:cNvSpPr txBox="1"/>
          <p:nvPr/>
        </p:nvSpPr>
        <p:spPr>
          <a:xfrm>
            <a:off x="6455664" y="1984248"/>
            <a:ext cx="4837176" cy="329184"/>
          </a:xfrm>
          <a:prstGeom prst="rect">
            <a:avLst/>
          </a:prstGeom>
          <a:noFill/>
          <a:ln/>
        </p:spPr>
        <p:txBody>
          <a:bodyPr wrap="square" lIns="0" tIns="0" rIns="0" bIns="0" rtlCol="0" anchor="ctr"/>
          <a:lstStyle/>
          <a:p>
            <a:pPr indent="0" marL="0">
              <a:buNone/>
            </a:pPr>
            <a:r>
              <a:rPr lang="en-US" sz="1700" b="1" dirty="0">
                <a:solidFill>
                  <a:srgbClr val="6B7C8C"/>
                </a:solidFill>
                <a:latin typeface="Calibri" pitchFamily="34" charset="0"/>
                <a:ea typeface="Calibri" pitchFamily="34" charset="-122"/>
                <a:cs typeface="Calibri" pitchFamily="34" charset="-120"/>
              </a:rPr>
              <a:t>Blocking</a:t>
            </a:r>
            <a:endParaRPr lang="en-US" sz="1700" dirty="0"/>
          </a:p>
        </p:txBody>
      </p:sp>
      <p:sp>
        <p:nvSpPr>
          <p:cNvPr id="9" name="Text 7"/>
          <p:cNvSpPr txBox="1"/>
          <p:nvPr/>
        </p:nvSpPr>
        <p:spPr>
          <a:xfrm>
            <a:off x="6455664" y="2340864"/>
            <a:ext cx="4837176" cy="685800"/>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When that worker asks for something slow and simply stops until the answer comes back. It still holds its memory, and it does no work at all while it waits.</a:t>
            </a:r>
            <a:endParaRPr lang="en-US" sz="1350" dirty="0"/>
          </a:p>
        </p:txBody>
      </p:sp>
      <p:sp>
        <p:nvSpPr>
          <p:cNvPr id="10" name="Shape 8"/>
          <p:cNvSpPr/>
          <p:nvPr/>
        </p:nvSpPr>
        <p:spPr>
          <a:xfrm>
            <a:off x="621792" y="3364992"/>
            <a:ext cx="5349240" cy="1298448"/>
          </a:xfrm>
          <a:prstGeom prst="roundRect">
            <a:avLst>
              <a:gd name="adj" fmla="val 4225"/>
            </a:avLst>
          </a:prstGeom>
          <a:solidFill>
            <a:srgbClr val="F1F5F8"/>
          </a:solidFill>
          <a:ln w="12700">
            <a:solidFill>
              <a:srgbClr val="F1F5F8"/>
            </a:solidFill>
            <a:prstDash val="solid"/>
          </a:ln>
        </p:spPr>
      </p:sp>
      <p:sp>
        <p:nvSpPr>
          <p:cNvPr id="11" name="Text 9"/>
          <p:cNvSpPr txBox="1"/>
          <p:nvPr/>
        </p:nvSpPr>
        <p:spPr>
          <a:xfrm>
            <a:off x="877824" y="3520440"/>
            <a:ext cx="4837176" cy="329184"/>
          </a:xfrm>
          <a:prstGeom prst="rect">
            <a:avLst/>
          </a:prstGeom>
          <a:noFill/>
          <a:ln/>
        </p:spPr>
        <p:txBody>
          <a:bodyPr wrap="square" lIns="0" tIns="0" rIns="0" bIns="0" rtlCol="0" anchor="ctr"/>
          <a:lstStyle/>
          <a:p>
            <a:pPr indent="0" marL="0">
              <a:buNone/>
            </a:pPr>
            <a:r>
              <a:rPr lang="en-US" sz="1700" b="1" dirty="0">
                <a:solidFill>
                  <a:srgbClr val="00A896"/>
                </a:solidFill>
                <a:latin typeface="Calibri" pitchFamily="34" charset="0"/>
                <a:ea typeface="Calibri" pitchFamily="34" charset="-122"/>
                <a:cs typeface="Calibri" pitchFamily="34" charset="-120"/>
              </a:rPr>
              <a:t>Concurrency</a:t>
            </a:r>
            <a:endParaRPr lang="en-US" sz="1700" dirty="0"/>
          </a:p>
        </p:txBody>
      </p:sp>
      <p:sp>
        <p:nvSpPr>
          <p:cNvPr id="12" name="Text 10"/>
          <p:cNvSpPr txBox="1"/>
          <p:nvPr/>
        </p:nvSpPr>
        <p:spPr>
          <a:xfrm>
            <a:off x="877824" y="3877056"/>
            <a:ext cx="4837176" cy="685800"/>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Several pieces of work being underway at the same time. Note that this is not the same as doing more calculation; usually it just means more waiting happening at once.</a:t>
            </a:r>
            <a:endParaRPr lang="en-US" sz="1350" dirty="0"/>
          </a:p>
        </p:txBody>
      </p:sp>
      <p:sp>
        <p:nvSpPr>
          <p:cNvPr id="13" name="Shape 11"/>
          <p:cNvSpPr/>
          <p:nvPr/>
        </p:nvSpPr>
        <p:spPr>
          <a:xfrm>
            <a:off x="6199632" y="3364992"/>
            <a:ext cx="5349240" cy="1298448"/>
          </a:xfrm>
          <a:prstGeom prst="roundRect">
            <a:avLst>
              <a:gd name="adj" fmla="val 4225"/>
            </a:avLst>
          </a:prstGeom>
          <a:solidFill>
            <a:srgbClr val="F1F5F8"/>
          </a:solidFill>
          <a:ln w="12700">
            <a:solidFill>
              <a:srgbClr val="F1F5F8"/>
            </a:solidFill>
            <a:prstDash val="solid"/>
          </a:ln>
        </p:spPr>
      </p:sp>
      <p:sp>
        <p:nvSpPr>
          <p:cNvPr id="14" name="Text 12"/>
          <p:cNvSpPr txBox="1"/>
          <p:nvPr/>
        </p:nvSpPr>
        <p:spPr>
          <a:xfrm>
            <a:off x="6455664" y="3520440"/>
            <a:ext cx="4837176" cy="329184"/>
          </a:xfrm>
          <a:prstGeom prst="rect">
            <a:avLst/>
          </a:prstGeom>
          <a:noFill/>
          <a:ln/>
        </p:spPr>
        <p:txBody>
          <a:bodyPr wrap="square" lIns="0" tIns="0" rIns="0" bIns="0" rtlCol="0" anchor="ctr"/>
          <a:lstStyle/>
          <a:p>
            <a:pPr indent="0" marL="0">
              <a:buNone/>
            </a:pPr>
            <a:r>
              <a:rPr lang="en-US" sz="1700" b="1" dirty="0">
                <a:solidFill>
                  <a:srgbClr val="F2A65A"/>
                </a:solidFill>
                <a:latin typeface="Calibri" pitchFamily="34" charset="0"/>
                <a:ea typeface="Calibri" pitchFamily="34" charset="-122"/>
                <a:cs typeface="Calibri" pitchFamily="34" charset="-120"/>
              </a:rPr>
              <a:t>Asynchronous</a:t>
            </a:r>
            <a:endParaRPr lang="en-US" sz="1700" dirty="0"/>
          </a:p>
        </p:txBody>
      </p:sp>
      <p:sp>
        <p:nvSpPr>
          <p:cNvPr id="15" name="Text 13"/>
          <p:cNvSpPr txBox="1"/>
          <p:nvPr/>
        </p:nvSpPr>
        <p:spPr>
          <a:xfrm>
            <a:off x="6455664" y="3877056"/>
            <a:ext cx="4837176" cy="685800"/>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Instead of stopping to wait for an answer, you say in advance what should be done when the answer arrives, and carry on with something else.</a:t>
            </a:r>
            <a:endParaRPr lang="en-US" sz="1350" dirty="0"/>
          </a:p>
        </p:txBody>
      </p:sp>
      <p:sp>
        <p:nvSpPr>
          <p:cNvPr id="16" name="Shape 14"/>
          <p:cNvSpPr/>
          <p:nvPr/>
        </p:nvSpPr>
        <p:spPr>
          <a:xfrm>
            <a:off x="621792" y="4956048"/>
            <a:ext cx="10927080" cy="1325880"/>
          </a:xfrm>
          <a:prstGeom prst="roundRect">
            <a:avLst>
              <a:gd name="adj" fmla="val 4138"/>
            </a:avLst>
          </a:prstGeom>
          <a:solidFill>
            <a:srgbClr val="16293D"/>
          </a:solidFill>
          <a:ln w="12700">
            <a:solidFill>
              <a:srgbClr val="16293D"/>
            </a:solidFill>
            <a:prstDash val="solid"/>
          </a:ln>
        </p:spPr>
      </p:sp>
      <p:sp>
        <p:nvSpPr>
          <p:cNvPr id="17" name="Text 15"/>
          <p:cNvSpPr txBox="1"/>
          <p:nvPr/>
        </p:nvSpPr>
        <p:spPr>
          <a:xfrm>
            <a:off x="914400" y="5120640"/>
            <a:ext cx="4572000" cy="329184"/>
          </a:xfrm>
          <a:prstGeom prst="rect">
            <a:avLst/>
          </a:prstGeom>
          <a:noFill/>
          <a:ln/>
        </p:spPr>
        <p:txBody>
          <a:bodyPr wrap="square" lIns="0" tIns="0" rIns="0" bIns="0" rtlCol="0" anchor="ctr"/>
          <a:lstStyle/>
          <a:p>
            <a:pPr indent="0" marL="0">
              <a:buNone/>
            </a:pPr>
            <a:r>
              <a:rPr lang="en-US" sz="1700" b="1" dirty="0">
                <a:solidFill>
                  <a:srgbClr val="00A896"/>
                </a:solidFill>
                <a:latin typeface="Calibri" pitchFamily="34" charset="0"/>
                <a:ea typeface="Calibri" pitchFamily="34" charset="-122"/>
                <a:cs typeface="Calibri" pitchFamily="34" charset="-120"/>
              </a:rPr>
              <a:t>CompletableFuture</a:t>
            </a:r>
            <a:endParaRPr lang="en-US" sz="1700" dirty="0"/>
          </a:p>
        </p:txBody>
      </p:sp>
      <p:sp>
        <p:nvSpPr>
          <p:cNvPr id="18" name="Text 16"/>
          <p:cNvSpPr txBox="1"/>
          <p:nvPr/>
        </p:nvSpPr>
        <p:spPr>
          <a:xfrm>
            <a:off x="914400" y="5468112"/>
            <a:ext cx="10332720" cy="658368"/>
          </a:xfrm>
          <a:prstGeom prst="rect">
            <a:avLst/>
          </a:prstGeom>
          <a:noFill/>
          <a:ln/>
        </p:spPr>
        <p:txBody>
          <a:bodyPr wrap="square" lIns="0" tIns="0" rIns="0" bIns="0" rtlCol="0" anchor="t"/>
          <a:lstStyle/>
          <a:p>
            <a:pPr indent="0" marL="0">
              <a:buNone/>
            </a:pPr>
            <a:r>
              <a:rPr lang="en-US" sz="1400" dirty="0">
                <a:solidFill>
                  <a:srgbClr val="C9D6E0"/>
                </a:solidFill>
                <a:latin typeface="Calibri" pitchFamily="34" charset="0"/>
                <a:ea typeface="Calibri" pitchFamily="34" charset="-122"/>
                <a:cs typeface="Calibri" pitchFamily="34" charset="-120"/>
              </a:rPr>
              <a:t>The Java class that does the last one. It is a container for a value that has not arrived yet, together with the plan for what to do once it has. Introduced in Java 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A blocked thread is not slow. It is asleep.</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Downloading a 9 MB file over one connection, from a server that gives each connection 0.4 MB/s.</a:t>
            </a:r>
            <a:endParaRPr lang="en-US" sz="1500" dirty="0"/>
          </a:p>
        </p:txBody>
      </p:sp>
      <p:sp>
        <p:nvSpPr>
          <p:cNvPr id="4" name="Shape 2"/>
          <p:cNvSpPr/>
          <p:nvPr/>
        </p:nvSpPr>
        <p:spPr>
          <a:xfrm>
            <a:off x="621792" y="1828800"/>
            <a:ext cx="10927080" cy="1234440"/>
          </a:xfrm>
          <a:prstGeom prst="roundRect">
            <a:avLst>
              <a:gd name="adj" fmla="val 4444"/>
            </a:avLst>
          </a:prstGeom>
          <a:solidFill>
            <a:srgbClr val="F1F5F8"/>
          </a:solidFill>
          <a:ln w="12700">
            <a:solidFill>
              <a:srgbClr val="F1F5F8"/>
            </a:solidFill>
            <a:prstDash val="solid"/>
          </a:ln>
        </p:spPr>
      </p:sp>
      <p:sp>
        <p:nvSpPr>
          <p:cNvPr id="5" name="Shape 3"/>
          <p:cNvSpPr/>
          <p:nvPr/>
        </p:nvSpPr>
        <p:spPr>
          <a:xfrm>
            <a:off x="868680" y="2148840"/>
            <a:ext cx="10424160" cy="603504"/>
          </a:xfrm>
          <a:prstGeom prst="roundRect">
            <a:avLst>
              <a:gd name="adj" fmla="val 10606"/>
            </a:avLst>
          </a:prstGeom>
          <a:solidFill>
            <a:srgbClr val="6B7C8C"/>
          </a:solidFill>
          <a:ln w="12700">
            <a:solidFill>
              <a:srgbClr val="6B7C8C"/>
            </a:solidFill>
            <a:prstDash val="solid"/>
          </a:ln>
        </p:spPr>
      </p:sp>
      <p:sp>
        <p:nvSpPr>
          <p:cNvPr id="6" name="Text 4"/>
          <p:cNvSpPr txBox="1"/>
          <p:nvPr/>
        </p:nvSpPr>
        <p:spPr>
          <a:xfrm>
            <a:off x="868680" y="2148840"/>
            <a:ext cx="10424160"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thread  —  stopped inside read()  —  21 seconds</a:t>
            </a:r>
            <a:endParaRPr lang="en-US" sz="1400" dirty="0"/>
          </a:p>
        </p:txBody>
      </p:sp>
      <p:sp>
        <p:nvSpPr>
          <p:cNvPr id="7" name="Text 5"/>
          <p:cNvSpPr txBox="1"/>
          <p:nvPr/>
        </p:nvSpPr>
        <p:spPr>
          <a:xfrm>
            <a:off x="621792" y="3401568"/>
            <a:ext cx="3474720" cy="868680"/>
          </a:xfrm>
          <a:prstGeom prst="rect">
            <a:avLst/>
          </a:prstGeom>
          <a:noFill/>
          <a:ln/>
        </p:spPr>
        <p:txBody>
          <a:bodyPr wrap="square" lIns="0" tIns="0" rIns="0" bIns="0" rtlCol="0" anchor="ctr"/>
          <a:lstStyle/>
          <a:p>
            <a:pPr indent="0" marL="0">
              <a:buNone/>
            </a:pPr>
            <a:r>
              <a:rPr lang="en-US" sz="5000" b="1" dirty="0">
                <a:solidFill>
                  <a:srgbClr val="6B7C8C"/>
                </a:solidFill>
                <a:latin typeface="Cambria" pitchFamily="34" charset="0"/>
                <a:ea typeface="Cambria" pitchFamily="34" charset="-122"/>
                <a:cs typeface="Cambria" pitchFamily="34" charset="-120"/>
              </a:rPr>
              <a:t>0%</a:t>
            </a:r>
            <a:endParaRPr lang="en-US" sz="5000" dirty="0"/>
          </a:p>
        </p:txBody>
      </p:sp>
      <p:sp>
        <p:nvSpPr>
          <p:cNvPr id="8" name="Text 6"/>
          <p:cNvSpPr txBox="1"/>
          <p:nvPr/>
        </p:nvSpPr>
        <p:spPr>
          <a:xfrm>
            <a:off x="621792" y="4297680"/>
            <a:ext cx="3383280" cy="457200"/>
          </a:xfrm>
          <a:prstGeom prst="rect">
            <a:avLst/>
          </a:prstGeom>
          <a:noFill/>
          <a:ln/>
        </p:spPr>
        <p:txBody>
          <a:bodyPr wrap="square" lIns="0" tIns="0" rIns="0" bIns="0" rtlCol="0" anchor="t"/>
          <a:lstStyle/>
          <a:p>
            <a:pPr indent="0" marL="0">
              <a:buNone/>
            </a:pPr>
            <a:r>
              <a:rPr lang="en-US" sz="1350" dirty="0">
                <a:solidFill>
                  <a:srgbClr val="7C8FA0"/>
                </a:solidFill>
                <a:latin typeface="Calibri" pitchFamily="34" charset="0"/>
                <a:ea typeface="Calibri" pitchFamily="34" charset="-122"/>
                <a:cs typeface="Calibri" pitchFamily="34" charset="-120"/>
              </a:rPr>
              <a:t>of the processor used, the whole time</a:t>
            </a:r>
            <a:endParaRPr lang="en-US" sz="1350" dirty="0"/>
          </a:p>
        </p:txBody>
      </p:sp>
      <p:sp>
        <p:nvSpPr>
          <p:cNvPr id="9" name="Text 7"/>
          <p:cNvSpPr txBox="1"/>
          <p:nvPr/>
        </p:nvSpPr>
        <p:spPr>
          <a:xfrm>
            <a:off x="4370832" y="3401568"/>
            <a:ext cx="3474720" cy="868680"/>
          </a:xfrm>
          <a:prstGeom prst="rect">
            <a:avLst/>
          </a:prstGeom>
          <a:noFill/>
          <a:ln/>
        </p:spPr>
        <p:txBody>
          <a:bodyPr wrap="square" lIns="0" tIns="0" rIns="0" bIns="0" rtlCol="0" anchor="ctr"/>
          <a:lstStyle/>
          <a:p>
            <a:pPr indent="0" marL="0">
              <a:buNone/>
            </a:pPr>
            <a:r>
              <a:rPr lang="en-US" sz="5000" b="1" dirty="0">
                <a:solidFill>
                  <a:srgbClr val="6B7C8C"/>
                </a:solidFill>
                <a:latin typeface="Cambria" pitchFamily="34" charset="0"/>
                <a:ea typeface="Cambria" pitchFamily="34" charset="-122"/>
                <a:cs typeface="Cambria" pitchFamily="34" charset="-120"/>
              </a:rPr>
              <a:t>~1 MB</a:t>
            </a:r>
            <a:endParaRPr lang="en-US" sz="5000" dirty="0"/>
          </a:p>
        </p:txBody>
      </p:sp>
      <p:sp>
        <p:nvSpPr>
          <p:cNvPr id="10" name="Text 8"/>
          <p:cNvSpPr txBox="1"/>
          <p:nvPr/>
        </p:nvSpPr>
        <p:spPr>
          <a:xfrm>
            <a:off x="4370832" y="4297680"/>
            <a:ext cx="3383280" cy="457200"/>
          </a:xfrm>
          <a:prstGeom prst="rect">
            <a:avLst/>
          </a:prstGeom>
          <a:noFill/>
          <a:ln/>
        </p:spPr>
        <p:txBody>
          <a:bodyPr wrap="square" lIns="0" tIns="0" rIns="0" bIns="0" rtlCol="0" anchor="t"/>
          <a:lstStyle/>
          <a:p>
            <a:pPr indent="0" marL="0">
              <a:buNone/>
            </a:pPr>
            <a:r>
              <a:rPr lang="en-US" sz="1350" dirty="0">
                <a:solidFill>
                  <a:srgbClr val="7C8FA0"/>
                </a:solidFill>
                <a:latin typeface="Calibri" pitchFamily="34" charset="0"/>
                <a:ea typeface="Calibri" pitchFamily="34" charset="-122"/>
                <a:cs typeface="Calibri" pitchFamily="34" charset="-120"/>
              </a:rPr>
              <a:t>of memory held and not used</a:t>
            </a:r>
            <a:endParaRPr lang="en-US" sz="1350" dirty="0"/>
          </a:p>
        </p:txBody>
      </p:sp>
      <p:sp>
        <p:nvSpPr>
          <p:cNvPr id="11" name="Text 9"/>
          <p:cNvSpPr txBox="1"/>
          <p:nvPr/>
        </p:nvSpPr>
        <p:spPr>
          <a:xfrm>
            <a:off x="8119872" y="3401568"/>
            <a:ext cx="3474720" cy="868680"/>
          </a:xfrm>
          <a:prstGeom prst="rect">
            <a:avLst/>
          </a:prstGeom>
          <a:noFill/>
          <a:ln/>
        </p:spPr>
        <p:txBody>
          <a:bodyPr wrap="square" lIns="0" tIns="0" rIns="0" bIns="0" rtlCol="0" anchor="ctr"/>
          <a:lstStyle/>
          <a:p>
            <a:pPr indent="0" marL="0">
              <a:buNone/>
            </a:pPr>
            <a:r>
              <a:rPr lang="en-US" sz="5000" b="1" dirty="0">
                <a:solidFill>
                  <a:srgbClr val="D9534F"/>
                </a:solidFill>
                <a:latin typeface="Cambria" pitchFamily="34" charset="0"/>
                <a:ea typeface="Cambria" pitchFamily="34" charset="-122"/>
                <a:cs typeface="Cambria" pitchFamily="34" charset="-120"/>
              </a:rPr>
              <a:t>21 s</a:t>
            </a:r>
            <a:endParaRPr lang="en-US" sz="5000" dirty="0"/>
          </a:p>
        </p:txBody>
      </p:sp>
      <p:sp>
        <p:nvSpPr>
          <p:cNvPr id="12" name="Text 10"/>
          <p:cNvSpPr txBox="1"/>
          <p:nvPr/>
        </p:nvSpPr>
        <p:spPr>
          <a:xfrm>
            <a:off x="8119872" y="4297680"/>
            <a:ext cx="3383280" cy="457200"/>
          </a:xfrm>
          <a:prstGeom prst="rect">
            <a:avLst/>
          </a:prstGeom>
          <a:noFill/>
          <a:ln/>
        </p:spPr>
        <p:txBody>
          <a:bodyPr wrap="square" lIns="0" tIns="0" rIns="0" bIns="0" rtlCol="0" anchor="t"/>
          <a:lstStyle/>
          <a:p>
            <a:pPr indent="0" marL="0">
              <a:buNone/>
            </a:pPr>
            <a:r>
              <a:rPr lang="en-US" sz="1350" dirty="0">
                <a:solidFill>
                  <a:srgbClr val="7C8FA0"/>
                </a:solidFill>
                <a:latin typeface="Calibri" pitchFamily="34" charset="0"/>
                <a:ea typeface="Calibri" pitchFamily="34" charset="-122"/>
                <a:cs typeface="Calibri" pitchFamily="34" charset="-120"/>
              </a:rPr>
              <a:t>spent doing precisely nothing</a:t>
            </a:r>
            <a:endParaRPr lang="en-US" sz="1350" dirty="0"/>
          </a:p>
        </p:txBody>
      </p:sp>
      <p:sp>
        <p:nvSpPr>
          <p:cNvPr id="13" name="Shape 11"/>
          <p:cNvSpPr/>
          <p:nvPr/>
        </p:nvSpPr>
        <p:spPr>
          <a:xfrm>
            <a:off x="621792" y="5074920"/>
            <a:ext cx="82296" cy="82296"/>
          </a:xfrm>
          <a:prstGeom prst="ellipse">
            <a:avLst/>
          </a:prstGeom>
          <a:solidFill>
            <a:srgbClr val="00A896"/>
          </a:solidFill>
          <a:ln/>
        </p:spPr>
      </p:sp>
      <p:sp>
        <p:nvSpPr>
          <p:cNvPr id="14" name="Text 12"/>
          <p:cNvSpPr txBox="1"/>
          <p:nvPr/>
        </p:nvSpPr>
        <p:spPr>
          <a:xfrm>
            <a:off x="859536" y="4956048"/>
            <a:ext cx="1068933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The thread is not calculating slowly. It is parked in a system call, waiting for bytes to arrive.</a:t>
            </a:r>
            <a:endParaRPr lang="en-US" sz="1400" dirty="0"/>
          </a:p>
        </p:txBody>
      </p:sp>
      <p:sp>
        <p:nvSpPr>
          <p:cNvPr id="15" name="Shape 13"/>
          <p:cNvSpPr/>
          <p:nvPr/>
        </p:nvSpPr>
        <p:spPr>
          <a:xfrm>
            <a:off x="621792" y="5641848"/>
            <a:ext cx="82296" cy="82296"/>
          </a:xfrm>
          <a:prstGeom prst="ellipse">
            <a:avLst/>
          </a:prstGeom>
          <a:solidFill>
            <a:srgbClr val="00A896"/>
          </a:solidFill>
          <a:ln/>
        </p:spPr>
      </p:sp>
      <p:sp>
        <p:nvSpPr>
          <p:cNvPr id="16" name="Text 14"/>
          <p:cNvSpPr txBox="1"/>
          <p:nvPr/>
        </p:nvSpPr>
        <p:spPr>
          <a:xfrm>
            <a:off x="859536" y="5522976"/>
            <a:ext cx="1068933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A faster processor would change nothing here, because no processing is going on to speed up.</a:t>
            </a:r>
            <a:endParaRPr lang="en-US" sz="1400" dirty="0"/>
          </a:p>
        </p:txBody>
      </p:sp>
      <p:sp>
        <p:nvSpPr>
          <p:cNvPr id="17" name="Text 15"/>
          <p:cNvSpPr txBox="1"/>
          <p:nvPr/>
        </p:nvSpPr>
        <p:spPr>
          <a:xfrm>
            <a:off x="621792" y="6144768"/>
            <a:ext cx="10927080" cy="411480"/>
          </a:xfrm>
          <a:prstGeom prst="rect">
            <a:avLst/>
          </a:prstGeom>
          <a:noFill/>
          <a:ln/>
        </p:spPr>
        <p:txBody>
          <a:bodyPr wrap="square" lIns="0" tIns="0" rIns="0" bIns="0" rtlCol="0" anchor="ctr"/>
          <a:lstStyle/>
          <a:p>
            <a:pPr indent="0" marL="0">
              <a:buNone/>
            </a:pPr>
            <a:r>
              <a:rPr lang="en-US" sz="1900" b="1" i="1" dirty="0">
                <a:solidFill>
                  <a:srgbClr val="00776B"/>
                </a:solidFill>
                <a:latin typeface="Cambria" pitchFamily="34" charset="0"/>
                <a:ea typeface="Cambria" pitchFamily="34" charset="-122"/>
                <a:cs typeface="Cambria" pitchFamily="34" charset="-120"/>
              </a:rPr>
              <a:t>This was never a CPU problem, so it cannot have a CPU answer.</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So: hand me an empty box, and I will tell you what to do when it fills</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That sentence is the whole idea. A CompletableFuture is the box.</a:t>
            </a:r>
            <a:endParaRPr lang="en-US" sz="1500" dirty="0"/>
          </a:p>
        </p:txBody>
      </p:sp>
      <p:sp>
        <p:nvSpPr>
          <p:cNvPr id="4" name="Shape 2"/>
          <p:cNvSpPr/>
          <p:nvPr/>
        </p:nvSpPr>
        <p:spPr>
          <a:xfrm>
            <a:off x="621792" y="1947672"/>
            <a:ext cx="82296" cy="82296"/>
          </a:xfrm>
          <a:prstGeom prst="ellipse">
            <a:avLst/>
          </a:prstGeom>
          <a:solidFill>
            <a:srgbClr val="00A896"/>
          </a:solidFill>
          <a:ln/>
        </p:spPr>
      </p:sp>
      <p:sp>
        <p:nvSpPr>
          <p:cNvPr id="5" name="Text 3"/>
          <p:cNvSpPr txBox="1"/>
          <p:nvPr/>
        </p:nvSpPr>
        <p:spPr>
          <a:xfrm>
            <a:off x="859536" y="1828800"/>
            <a:ext cx="5340096" cy="649224"/>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Normally you ask for a value and your thread stops until it is handed one. That stopping is the waste on the last slide.</a:t>
            </a:r>
            <a:endParaRPr lang="en-US" sz="1350" dirty="0"/>
          </a:p>
        </p:txBody>
      </p:sp>
      <p:sp>
        <p:nvSpPr>
          <p:cNvPr id="6" name="Shape 4"/>
          <p:cNvSpPr/>
          <p:nvPr/>
        </p:nvSpPr>
        <p:spPr>
          <a:xfrm>
            <a:off x="621792" y="2633472"/>
            <a:ext cx="82296" cy="82296"/>
          </a:xfrm>
          <a:prstGeom prst="ellipse">
            <a:avLst/>
          </a:prstGeom>
          <a:solidFill>
            <a:srgbClr val="00A896"/>
          </a:solidFill>
          <a:ln/>
        </p:spPr>
      </p:sp>
      <p:sp>
        <p:nvSpPr>
          <p:cNvPr id="7" name="Text 5"/>
          <p:cNvSpPr txBox="1"/>
          <p:nvPr/>
        </p:nvSpPr>
        <p:spPr>
          <a:xfrm>
            <a:off x="859536" y="2514600"/>
            <a:ext cx="5340096" cy="649224"/>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A CompletableFuture is handed to you straight away, empty. The work to fill it is going on elsewhere.</a:t>
            </a:r>
            <a:endParaRPr lang="en-US" sz="1350" dirty="0"/>
          </a:p>
        </p:txBody>
      </p:sp>
      <p:sp>
        <p:nvSpPr>
          <p:cNvPr id="8" name="Shape 6"/>
          <p:cNvSpPr/>
          <p:nvPr/>
        </p:nvSpPr>
        <p:spPr>
          <a:xfrm>
            <a:off x="621792" y="3319272"/>
            <a:ext cx="82296" cy="82296"/>
          </a:xfrm>
          <a:prstGeom prst="ellipse">
            <a:avLst/>
          </a:prstGeom>
          <a:solidFill>
            <a:srgbClr val="00A896"/>
          </a:solidFill>
          <a:ln/>
        </p:spPr>
      </p:sp>
      <p:sp>
        <p:nvSpPr>
          <p:cNvPr id="9" name="Text 7"/>
          <p:cNvSpPr txBox="1"/>
          <p:nvPr/>
        </p:nvSpPr>
        <p:spPr>
          <a:xfrm>
            <a:off x="859536" y="3200400"/>
            <a:ext cx="5340096" cy="649224"/>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You then write what should happen to the value once it arrives: change it, join it with another, recover if it fails.</a:t>
            </a:r>
            <a:endParaRPr lang="en-US" sz="1350" dirty="0"/>
          </a:p>
        </p:txBody>
      </p:sp>
      <p:sp>
        <p:nvSpPr>
          <p:cNvPr id="10" name="Shape 8"/>
          <p:cNvSpPr/>
          <p:nvPr/>
        </p:nvSpPr>
        <p:spPr>
          <a:xfrm>
            <a:off x="621792" y="4005072"/>
            <a:ext cx="82296" cy="82296"/>
          </a:xfrm>
          <a:prstGeom prst="ellipse">
            <a:avLst/>
          </a:prstGeom>
          <a:solidFill>
            <a:srgbClr val="00A896"/>
          </a:solidFill>
          <a:ln/>
        </p:spPr>
      </p:sp>
      <p:sp>
        <p:nvSpPr>
          <p:cNvPr id="11" name="Text 9"/>
          <p:cNvSpPr txBox="1"/>
          <p:nvPr/>
        </p:nvSpPr>
        <p:spPr>
          <a:xfrm>
            <a:off x="859536" y="3886200"/>
            <a:ext cx="5340096" cy="649224"/>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None of that has run yet. You are writing instructions about a value you do not have.</a:t>
            </a:r>
            <a:endParaRPr lang="en-US" sz="1350" dirty="0"/>
          </a:p>
        </p:txBody>
      </p:sp>
      <p:sp>
        <p:nvSpPr>
          <p:cNvPr id="12" name="Shape 10"/>
          <p:cNvSpPr/>
          <p:nvPr/>
        </p:nvSpPr>
        <p:spPr>
          <a:xfrm>
            <a:off x="621792" y="4690872"/>
            <a:ext cx="82296" cy="82296"/>
          </a:xfrm>
          <a:prstGeom prst="ellipse">
            <a:avLst/>
          </a:prstGeom>
          <a:solidFill>
            <a:srgbClr val="00A896"/>
          </a:solidFill>
          <a:ln/>
        </p:spPr>
      </p:sp>
      <p:sp>
        <p:nvSpPr>
          <p:cNvPr id="13" name="Text 11"/>
          <p:cNvSpPr txBox="1"/>
          <p:nvPr/>
        </p:nvSpPr>
        <p:spPr>
          <a:xfrm>
            <a:off x="859536" y="4572000"/>
            <a:ext cx="5340096" cy="649224"/>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Only at the very end do you ask for the result, and by then it is usually already sitting there.</a:t>
            </a:r>
            <a:endParaRPr lang="en-US" sz="1350" dirty="0"/>
          </a:p>
        </p:txBody>
      </p:sp>
      <p:sp>
        <p:nvSpPr>
          <p:cNvPr id="14" name="Shape 12"/>
          <p:cNvSpPr/>
          <p:nvPr/>
        </p:nvSpPr>
        <p:spPr>
          <a:xfrm>
            <a:off x="6492240" y="1828800"/>
            <a:ext cx="5056632" cy="2103120"/>
          </a:xfrm>
          <a:prstGeom prst="roundRect">
            <a:avLst>
              <a:gd name="adj" fmla="val 2609"/>
            </a:avLst>
          </a:prstGeom>
          <a:solidFill>
            <a:srgbClr val="0D1F31"/>
          </a:solidFill>
          <a:ln w="12700">
            <a:solidFill>
              <a:srgbClr val="0D1F31"/>
            </a:solidFill>
            <a:prstDash val="solid"/>
          </a:ln>
        </p:spPr>
      </p:sp>
      <p:sp>
        <p:nvSpPr>
          <p:cNvPr id="15" name="Text 13"/>
          <p:cNvSpPr txBox="1"/>
          <p:nvPr/>
        </p:nvSpPr>
        <p:spPr>
          <a:xfrm>
            <a:off x="6693408" y="1975104"/>
            <a:ext cx="4654296" cy="1810512"/>
          </a:xfrm>
          <a:prstGeom prst="rect">
            <a:avLst/>
          </a:prstGeom>
          <a:noFill/>
          <a:ln/>
        </p:spPr>
        <p:txBody>
          <a:bodyPr wrap="square" lIns="0" tIns="0" rIns="0" bIns="0" rtlCol="0" anchor="t"/>
          <a:lstStyle/>
          <a:p>
            <a:pPr indent="0" marL="0">
              <a:lnSpc>
                <a:spcPct val="118000"/>
              </a:lnSpc>
              <a:buNone/>
            </a:pPr>
            <a:r>
              <a:rPr lang="en-US" sz="1300" dirty="0">
                <a:solidFill>
                  <a:srgbClr val="6B8199"/>
                </a:solidFill>
                <a:latin typeface="Courier New" pitchFamily="34" charset="0"/>
                <a:ea typeface="Courier New" pitchFamily="34" charset="-122"/>
                <a:cs typeface="Courier New" pitchFamily="34" charset="-120"/>
              </a:rPr>
              <a:t>// the box, straight away</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var box = </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supplyAsync</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(this::fetch, pool);</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 </a:t>
            </a:r>
            <a:endParaRPr lang="en-US" sz="1300" dirty="0"/>
          </a:p>
          <a:p>
            <a:pPr indent="0" marL="0">
              <a:lnSpc>
                <a:spcPct val="118000"/>
              </a:lnSpc>
              <a:buNone/>
            </a:pPr>
            <a:r>
              <a:rPr lang="en-US" sz="1300" dirty="0">
                <a:solidFill>
                  <a:srgbClr val="6B8199"/>
                </a:solidFill>
                <a:latin typeface="Courier New" pitchFamily="34" charset="0"/>
                <a:ea typeface="Courier New" pitchFamily="34" charset="-122"/>
                <a:cs typeface="Courier New" pitchFamily="34" charset="-120"/>
              </a:rPr>
              <a:t>// the plan for when it fills</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box.</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thenApply</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(this::decode)</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thenAccept</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(this::show);</a:t>
            </a:r>
            <a:endParaRPr lang="en-US" sz="1300" dirty="0"/>
          </a:p>
        </p:txBody>
      </p:sp>
      <p:sp>
        <p:nvSpPr>
          <p:cNvPr id="16" name="Shape 14"/>
          <p:cNvSpPr/>
          <p:nvPr/>
        </p:nvSpPr>
        <p:spPr>
          <a:xfrm>
            <a:off x="6492240" y="4160520"/>
            <a:ext cx="5056632" cy="1572768"/>
          </a:xfrm>
          <a:prstGeom prst="roundRect">
            <a:avLst>
              <a:gd name="adj" fmla="val 3488"/>
            </a:avLst>
          </a:prstGeom>
          <a:solidFill>
            <a:srgbClr val="F1F5F8"/>
          </a:solidFill>
          <a:ln w="12700">
            <a:solidFill>
              <a:srgbClr val="F1F5F8"/>
            </a:solidFill>
            <a:prstDash val="solid"/>
          </a:ln>
        </p:spPr>
      </p:sp>
      <p:sp>
        <p:nvSpPr>
          <p:cNvPr id="17" name="Text 15"/>
          <p:cNvSpPr txBox="1"/>
          <p:nvPr/>
        </p:nvSpPr>
        <p:spPr>
          <a:xfrm>
            <a:off x="6766560" y="4325112"/>
            <a:ext cx="4480560" cy="292608"/>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The change in wording</a:t>
            </a:r>
            <a:endParaRPr lang="en-US" sz="1350" dirty="0"/>
          </a:p>
        </p:txBody>
      </p:sp>
      <p:sp>
        <p:nvSpPr>
          <p:cNvPr id="18" name="Text 16"/>
          <p:cNvSpPr txBox="1"/>
          <p:nvPr/>
        </p:nvSpPr>
        <p:spPr>
          <a:xfrm>
            <a:off x="6766560" y="4645152"/>
            <a:ext cx="4526280" cy="1005840"/>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From "wait here, then do this" to "when this lands, do this". The thread stays free throughout, so it can be handed somebody else’s work instead of sitting idle.</a:t>
            </a:r>
            <a:endParaRPr lang="en-US" sz="1300" dirty="0"/>
          </a:p>
        </p:txBody>
      </p:sp>
      <p:sp>
        <p:nvSpPr>
          <p:cNvPr id="19" name="Text 17"/>
          <p:cNvSpPr txBox="1"/>
          <p:nvPr/>
        </p:nvSpPr>
        <p:spPr>
          <a:xfrm>
            <a:off x="621792" y="5989320"/>
            <a:ext cx="10927080" cy="457200"/>
          </a:xfrm>
          <a:prstGeom prst="rect">
            <a:avLst/>
          </a:prstGeom>
          <a:noFill/>
          <a:ln/>
        </p:spPr>
        <p:txBody>
          <a:bodyPr wrap="square" lIns="0" tIns="0" rIns="0" bIns="0" rtlCol="0" anchor="ctr"/>
          <a:lstStyle/>
          <a:p>
            <a:pPr indent="0" marL="0">
              <a:buNone/>
            </a:pPr>
            <a:r>
              <a:rPr lang="en-US" sz="1800" b="1" i="1" dirty="0">
                <a:solidFill>
                  <a:srgbClr val="16232E"/>
                </a:solidFill>
                <a:latin typeface="Cambria" pitchFamily="34" charset="0"/>
                <a:ea typeface="Cambria" pitchFamily="34" charset="-122"/>
                <a:cs typeface="Cambria" pitchFamily="34" charset="-120"/>
              </a:rPr>
              <a:t>One thread can now look after many jobs, because looking after them costs nothing while waiting does.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Ask for eight pieces at once, then put them back together</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The same 9 MB file, fetched twice at the same instant: once over one connection, once over eight.</a:t>
            </a:r>
            <a:endParaRPr lang="en-US" sz="1500" dirty="0"/>
          </a:p>
        </p:txBody>
      </p:sp>
      <p:sp>
        <p:nvSpPr>
          <p:cNvPr id="4" name="Shape 2"/>
          <p:cNvSpPr/>
          <p:nvPr/>
        </p:nvSpPr>
        <p:spPr>
          <a:xfrm>
            <a:off x="621792" y="1901952"/>
            <a:ext cx="82296" cy="82296"/>
          </a:xfrm>
          <a:prstGeom prst="ellipse">
            <a:avLst/>
          </a:prstGeom>
          <a:solidFill>
            <a:srgbClr val="00A896"/>
          </a:solidFill>
          <a:ln/>
        </p:spPr>
      </p:sp>
      <p:sp>
        <p:nvSpPr>
          <p:cNvPr id="5" name="Text 3"/>
          <p:cNvSpPr txBox="1"/>
          <p:nvPr/>
        </p:nvSpPr>
        <p:spPr>
          <a:xfrm>
            <a:off x="859536" y="1783080"/>
            <a:ext cx="5385816" cy="713232"/>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Cut the file into eight byte ranges and request all eight at the same moment. That is supplyAsync, once per range.</a:t>
            </a:r>
            <a:endParaRPr lang="en-US" sz="1350" dirty="0"/>
          </a:p>
        </p:txBody>
      </p:sp>
      <p:sp>
        <p:nvSpPr>
          <p:cNvPr id="6" name="Shape 4"/>
          <p:cNvSpPr/>
          <p:nvPr/>
        </p:nvSpPr>
        <p:spPr>
          <a:xfrm>
            <a:off x="621792" y="2651760"/>
            <a:ext cx="82296" cy="82296"/>
          </a:xfrm>
          <a:prstGeom prst="ellipse">
            <a:avLst/>
          </a:prstGeom>
          <a:solidFill>
            <a:srgbClr val="00A896"/>
          </a:solidFill>
          <a:ln/>
        </p:spPr>
      </p:sp>
      <p:sp>
        <p:nvSpPr>
          <p:cNvPr id="7" name="Text 5"/>
          <p:cNvSpPr txBox="1"/>
          <p:nvPr/>
        </p:nvSpPr>
        <p:spPr>
          <a:xfrm>
            <a:off x="859536" y="2532888"/>
            <a:ext cx="5385816" cy="713232"/>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allOf finishes when every range has finished; thenApply turns that into the completed file.</a:t>
            </a:r>
            <a:endParaRPr lang="en-US" sz="1350" dirty="0"/>
          </a:p>
        </p:txBody>
      </p:sp>
      <p:sp>
        <p:nvSpPr>
          <p:cNvPr id="8" name="Shape 6"/>
          <p:cNvSpPr/>
          <p:nvPr/>
        </p:nvSpPr>
        <p:spPr>
          <a:xfrm>
            <a:off x="621792" y="3401568"/>
            <a:ext cx="82296" cy="82296"/>
          </a:xfrm>
          <a:prstGeom prst="ellipse">
            <a:avLst/>
          </a:prstGeom>
          <a:solidFill>
            <a:srgbClr val="00A896"/>
          </a:solidFill>
          <a:ln/>
        </p:spPr>
      </p:sp>
      <p:sp>
        <p:nvSpPr>
          <p:cNvPr id="9" name="Text 7"/>
          <p:cNvSpPr txBox="1"/>
          <p:nvPr/>
        </p:nvSpPr>
        <p:spPr>
          <a:xfrm>
            <a:off x="859536" y="3282696"/>
            <a:ext cx="5385816" cy="713232"/>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The ranges never overlap and the file is allocated up front, so each one writes to its own place and nothing needs a lock.</a:t>
            </a:r>
            <a:endParaRPr lang="en-US" sz="1350" dirty="0"/>
          </a:p>
        </p:txBody>
      </p:sp>
      <p:sp>
        <p:nvSpPr>
          <p:cNvPr id="10" name="Shape 8"/>
          <p:cNvSpPr/>
          <p:nvPr/>
        </p:nvSpPr>
        <p:spPr>
          <a:xfrm>
            <a:off x="621792" y="4206240"/>
            <a:ext cx="2697480" cy="1371600"/>
          </a:xfrm>
          <a:prstGeom prst="roundRect">
            <a:avLst>
              <a:gd name="adj" fmla="val 4000"/>
            </a:avLst>
          </a:prstGeom>
          <a:solidFill>
            <a:srgbClr val="F1F5F8"/>
          </a:solidFill>
          <a:ln w="12700">
            <a:solidFill>
              <a:srgbClr val="F1F5F8"/>
            </a:solidFill>
            <a:prstDash val="solid"/>
          </a:ln>
        </p:spPr>
      </p:sp>
      <p:sp>
        <p:nvSpPr>
          <p:cNvPr id="11" name="Text 9"/>
          <p:cNvSpPr txBox="1"/>
          <p:nvPr/>
        </p:nvSpPr>
        <p:spPr>
          <a:xfrm>
            <a:off x="804672" y="4343400"/>
            <a:ext cx="2377440" cy="274320"/>
          </a:xfrm>
          <a:prstGeom prst="rect">
            <a:avLst/>
          </a:prstGeom>
          <a:noFill/>
          <a:ln/>
        </p:spPr>
        <p:txBody>
          <a:bodyPr wrap="square" lIns="0" tIns="0" rIns="0" bIns="0" rtlCol="0" anchor="ctr"/>
          <a:lstStyle/>
          <a:p>
            <a:pPr indent="0" marL="0">
              <a:buNone/>
            </a:pPr>
            <a:r>
              <a:rPr lang="en-US" sz="1250" dirty="0">
                <a:solidFill>
                  <a:srgbClr val="7C8FA0"/>
                </a:solidFill>
                <a:latin typeface="Calibri" pitchFamily="34" charset="0"/>
                <a:ea typeface="Calibri" pitchFamily="34" charset="-122"/>
                <a:cs typeface="Calibri" pitchFamily="34" charset="-120"/>
              </a:rPr>
              <a:t>one connection</a:t>
            </a:r>
            <a:endParaRPr lang="en-US" sz="1250" dirty="0"/>
          </a:p>
        </p:txBody>
      </p:sp>
      <p:sp>
        <p:nvSpPr>
          <p:cNvPr id="12" name="Text 10"/>
          <p:cNvSpPr txBox="1"/>
          <p:nvPr/>
        </p:nvSpPr>
        <p:spPr>
          <a:xfrm>
            <a:off x="804672" y="4617720"/>
            <a:ext cx="2377440" cy="777240"/>
          </a:xfrm>
          <a:prstGeom prst="rect">
            <a:avLst/>
          </a:prstGeom>
          <a:noFill/>
          <a:ln/>
        </p:spPr>
        <p:txBody>
          <a:bodyPr wrap="square" lIns="0" tIns="0" rIns="0" bIns="0" rtlCol="0" anchor="ctr"/>
          <a:lstStyle/>
          <a:p>
            <a:pPr indent="0" marL="0">
              <a:buNone/>
            </a:pPr>
            <a:r>
              <a:rPr lang="en-US" sz="4000" b="1" dirty="0">
                <a:solidFill>
                  <a:srgbClr val="6B7C8C"/>
                </a:solidFill>
                <a:latin typeface="Cambria" pitchFamily="34" charset="0"/>
                <a:ea typeface="Cambria" pitchFamily="34" charset="-122"/>
                <a:cs typeface="Cambria" pitchFamily="34" charset="-120"/>
              </a:rPr>
              <a:t>21.32 s</a:t>
            </a:r>
            <a:endParaRPr lang="en-US" sz="4000" dirty="0"/>
          </a:p>
        </p:txBody>
      </p:sp>
      <p:sp>
        <p:nvSpPr>
          <p:cNvPr id="13" name="Shape 11"/>
          <p:cNvSpPr/>
          <p:nvPr/>
        </p:nvSpPr>
        <p:spPr>
          <a:xfrm>
            <a:off x="3547872" y="4206240"/>
            <a:ext cx="2697480" cy="1371600"/>
          </a:xfrm>
          <a:prstGeom prst="roundRect">
            <a:avLst>
              <a:gd name="adj" fmla="val 4000"/>
            </a:avLst>
          </a:prstGeom>
          <a:solidFill>
            <a:srgbClr val="EAF7F5"/>
          </a:solidFill>
          <a:ln w="12700">
            <a:solidFill>
              <a:srgbClr val="EAF7F5"/>
            </a:solidFill>
            <a:prstDash val="solid"/>
          </a:ln>
        </p:spPr>
      </p:sp>
      <p:sp>
        <p:nvSpPr>
          <p:cNvPr id="14" name="Text 12"/>
          <p:cNvSpPr txBox="1"/>
          <p:nvPr/>
        </p:nvSpPr>
        <p:spPr>
          <a:xfrm>
            <a:off x="3730752" y="4343400"/>
            <a:ext cx="2377440" cy="274320"/>
          </a:xfrm>
          <a:prstGeom prst="rect">
            <a:avLst/>
          </a:prstGeom>
          <a:noFill/>
          <a:ln/>
        </p:spPr>
        <p:txBody>
          <a:bodyPr wrap="square" lIns="0" tIns="0" rIns="0" bIns="0" rtlCol="0" anchor="ctr"/>
          <a:lstStyle/>
          <a:p>
            <a:pPr indent="0" marL="0">
              <a:buNone/>
            </a:pPr>
            <a:r>
              <a:rPr lang="en-US" sz="1250" dirty="0">
                <a:solidFill>
                  <a:srgbClr val="7C8FA0"/>
                </a:solidFill>
                <a:latin typeface="Calibri" pitchFamily="34" charset="0"/>
                <a:ea typeface="Calibri" pitchFamily="34" charset="-122"/>
                <a:cs typeface="Calibri" pitchFamily="34" charset="-120"/>
              </a:rPr>
              <a:t>eight connections</a:t>
            </a:r>
            <a:endParaRPr lang="en-US" sz="1250" dirty="0"/>
          </a:p>
        </p:txBody>
      </p:sp>
      <p:sp>
        <p:nvSpPr>
          <p:cNvPr id="15" name="Text 13"/>
          <p:cNvSpPr txBox="1"/>
          <p:nvPr/>
        </p:nvSpPr>
        <p:spPr>
          <a:xfrm>
            <a:off x="3730752" y="4617720"/>
            <a:ext cx="2377440" cy="777240"/>
          </a:xfrm>
          <a:prstGeom prst="rect">
            <a:avLst/>
          </a:prstGeom>
          <a:noFill/>
          <a:ln/>
        </p:spPr>
        <p:txBody>
          <a:bodyPr wrap="square" lIns="0" tIns="0" rIns="0" bIns="0" rtlCol="0" anchor="ctr"/>
          <a:lstStyle/>
          <a:p>
            <a:pPr indent="0" marL="0">
              <a:buNone/>
            </a:pPr>
            <a:r>
              <a:rPr lang="en-US" sz="4000" b="1" dirty="0">
                <a:solidFill>
                  <a:srgbClr val="00A896"/>
                </a:solidFill>
                <a:latin typeface="Cambria" pitchFamily="34" charset="0"/>
                <a:ea typeface="Cambria" pitchFamily="34" charset="-122"/>
                <a:cs typeface="Cambria" pitchFamily="34" charset="-120"/>
              </a:rPr>
              <a:t>2.61 s</a:t>
            </a:r>
            <a:endParaRPr lang="en-US" sz="4000" dirty="0"/>
          </a:p>
        </p:txBody>
      </p:sp>
      <p:graphicFrame>
        <p:nvGraphicFramePr>
          <p:cNvPr id="16" name="Chart 0" descr=""/>
          <p:cNvGraphicFramePr/>
          <p:nvPr/>
        </p:nvGraphicFramePr>
        <p:xfrm>
          <a:off x="6492240" y="178308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6492240" y="5074920"/>
            <a:ext cx="5029200" cy="73152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Linear to eight, then flat. Past that the limit is total bandwidth, and further connections cost threads and sockets while buying nothing.</a:t>
            </a:r>
            <a:endParaRPr lang="en-US" sz="1250" dirty="0"/>
          </a:p>
        </p:txBody>
      </p:sp>
      <p:sp>
        <p:nvSpPr>
          <p:cNvPr id="18" name="Text 15"/>
          <p:cNvSpPr txBox="1"/>
          <p:nvPr/>
        </p:nvSpPr>
        <p:spPr>
          <a:xfrm>
            <a:off x="621792" y="5989320"/>
            <a:ext cx="10927080" cy="457200"/>
          </a:xfrm>
          <a:prstGeom prst="rect">
            <a:avLst/>
          </a:prstGeom>
          <a:noFill/>
          <a:ln/>
        </p:spPr>
        <p:txBody>
          <a:bodyPr wrap="square" lIns="0" tIns="0" rIns="0" bIns="0" rtlCol="0" anchor="ctr"/>
          <a:lstStyle/>
          <a:p>
            <a:pPr indent="0" marL="0">
              <a:buNone/>
            </a:pPr>
            <a:r>
              <a:rPr lang="en-US" sz="2000" b="1" dirty="0">
                <a:solidFill>
                  <a:srgbClr val="00A896"/>
                </a:solidFill>
                <a:latin typeface="Calibri" pitchFamily="34" charset="0"/>
                <a:ea typeface="Calibri" pitchFamily="34" charset="-122"/>
                <a:cs typeface="Calibri" pitchFamily="34" charset="-120"/>
              </a:rPr>
              <a:t>8.2× faster</a:t>
            </a:r>
            <a:pPr indent="0" marL="0">
              <a:buNone/>
            </a:pPr>
            <a:r>
              <a:rPr lang="en-US" sz="1450" dirty="0">
                <a:solidFill>
                  <a:srgbClr val="16232E"/>
                </a:solidFill>
                <a:latin typeface="Calibri" pitchFamily="34" charset="0"/>
                <a:ea typeface="Calibri" pitchFamily="34" charset="-122"/>
                <a:cs typeface="Calibri" pitchFamily="34" charset="-120"/>
              </a:rPr>
              <a:t>   and both files have the same SHA-256, so not one byte landed in the wrong place.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Two ways to join work, and one question that picks between them</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Ask: does the next step need the answer from the one before it?</a:t>
            </a:r>
            <a:endParaRPr lang="en-US" sz="1500" dirty="0"/>
          </a:p>
        </p:txBody>
      </p:sp>
      <p:sp>
        <p:nvSpPr>
          <p:cNvPr id="4" name="Text 2"/>
          <p:cNvSpPr txBox="1"/>
          <p:nvPr/>
        </p:nvSpPr>
        <p:spPr>
          <a:xfrm>
            <a:off x="621792" y="1783080"/>
            <a:ext cx="5349240" cy="320040"/>
          </a:xfrm>
          <a:prstGeom prst="rect">
            <a:avLst/>
          </a:prstGeom>
          <a:noFill/>
          <a:ln/>
        </p:spPr>
        <p:txBody>
          <a:bodyPr wrap="square" lIns="0" tIns="0" rIns="0" bIns="0" rtlCol="0" anchor="ctr"/>
          <a:lstStyle/>
          <a:p>
            <a:pPr indent="0" marL="0">
              <a:buNone/>
            </a:pPr>
            <a:r>
              <a:rPr lang="en-US" sz="1600" b="1" dirty="0">
                <a:solidFill>
                  <a:srgbClr val="00A896"/>
                </a:solidFill>
                <a:latin typeface="Calibri" pitchFamily="34" charset="0"/>
                <a:ea typeface="Calibri" pitchFamily="34" charset="-122"/>
                <a:cs typeface="Calibri" pitchFamily="34" charset="-120"/>
              </a:rPr>
              <a:t>Yes  →  thenCompose</a:t>
            </a:r>
            <a:endParaRPr lang="en-US" sz="1600" dirty="0"/>
          </a:p>
        </p:txBody>
      </p:sp>
      <p:sp>
        <p:nvSpPr>
          <p:cNvPr id="5" name="Shape 3"/>
          <p:cNvSpPr/>
          <p:nvPr/>
        </p:nvSpPr>
        <p:spPr>
          <a:xfrm>
            <a:off x="621792" y="2157984"/>
            <a:ext cx="5349240" cy="1371600"/>
          </a:xfrm>
          <a:prstGeom prst="roundRect">
            <a:avLst>
              <a:gd name="adj" fmla="val 4000"/>
            </a:avLst>
          </a:prstGeom>
          <a:solidFill>
            <a:srgbClr val="0D1F31"/>
          </a:solidFill>
          <a:ln w="12700">
            <a:solidFill>
              <a:srgbClr val="0D1F31"/>
            </a:solidFill>
            <a:prstDash val="solid"/>
          </a:ln>
        </p:spPr>
      </p:sp>
      <p:sp>
        <p:nvSpPr>
          <p:cNvPr id="6" name="Text 4"/>
          <p:cNvSpPr txBox="1"/>
          <p:nvPr/>
        </p:nvSpPr>
        <p:spPr>
          <a:xfrm>
            <a:off x="822960" y="2304288"/>
            <a:ext cx="4946904" cy="107899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grind</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(beans)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(g -&gt; brew(g))</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(s -&gt; steam(s))</a:t>
            </a:r>
            <a:endParaRPr lang="en-US" sz="1250" dirty="0"/>
          </a:p>
        </p:txBody>
      </p:sp>
      <p:sp>
        <p:nvSpPr>
          <p:cNvPr id="7" name="Shape 5"/>
          <p:cNvSpPr/>
          <p:nvPr/>
        </p:nvSpPr>
        <p:spPr>
          <a:xfrm>
            <a:off x="621792" y="3776472"/>
            <a:ext cx="82296" cy="82296"/>
          </a:xfrm>
          <a:prstGeom prst="ellipse">
            <a:avLst/>
          </a:prstGeom>
          <a:solidFill>
            <a:srgbClr val="00A896"/>
          </a:solidFill>
          <a:ln/>
        </p:spPr>
      </p:sp>
      <p:sp>
        <p:nvSpPr>
          <p:cNvPr id="8" name="Text 6"/>
          <p:cNvSpPr txBox="1"/>
          <p:nvPr/>
        </p:nvSpPr>
        <p:spPr>
          <a:xfrm>
            <a:off x="859536" y="3657600"/>
            <a:ext cx="5111496" cy="621792"/>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You cannot brew before you grind, so these must happen in order.</a:t>
            </a:r>
            <a:endParaRPr lang="en-US" sz="1300" dirty="0"/>
          </a:p>
        </p:txBody>
      </p:sp>
      <p:sp>
        <p:nvSpPr>
          <p:cNvPr id="9" name="Shape 7"/>
          <p:cNvSpPr/>
          <p:nvPr/>
        </p:nvSpPr>
        <p:spPr>
          <a:xfrm>
            <a:off x="621792" y="4434840"/>
            <a:ext cx="82296" cy="82296"/>
          </a:xfrm>
          <a:prstGeom prst="ellipse">
            <a:avLst/>
          </a:prstGeom>
          <a:solidFill>
            <a:srgbClr val="00A896"/>
          </a:solidFill>
          <a:ln/>
        </p:spPr>
      </p:sp>
      <p:sp>
        <p:nvSpPr>
          <p:cNvPr id="10" name="Text 8"/>
          <p:cNvSpPr txBox="1"/>
          <p:nvPr/>
        </p:nvSpPr>
        <p:spPr>
          <a:xfrm>
            <a:off x="859536" y="4315968"/>
            <a:ext cx="5111496" cy="621792"/>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Each step hands back its own box, and thenCompose flattens them into one chain.</a:t>
            </a:r>
            <a:endParaRPr lang="en-US" sz="1300" dirty="0"/>
          </a:p>
        </p:txBody>
      </p:sp>
      <p:sp>
        <p:nvSpPr>
          <p:cNvPr id="11" name="Shape 9"/>
          <p:cNvSpPr/>
          <p:nvPr/>
        </p:nvSpPr>
        <p:spPr>
          <a:xfrm>
            <a:off x="621792" y="5074920"/>
            <a:ext cx="4206240" cy="219456"/>
          </a:xfrm>
          <a:prstGeom prst="rect">
            <a:avLst/>
          </a:prstGeom>
          <a:solidFill>
            <a:srgbClr val="6B7C8C"/>
          </a:solidFill>
          <a:ln/>
        </p:spPr>
      </p:sp>
      <p:sp>
        <p:nvSpPr>
          <p:cNvPr id="12" name="Text 10"/>
          <p:cNvSpPr txBox="1"/>
          <p:nvPr/>
        </p:nvSpPr>
        <p:spPr>
          <a:xfrm>
            <a:off x="621792" y="5376672"/>
            <a:ext cx="5349240" cy="292608"/>
          </a:xfrm>
          <a:prstGeom prst="rect">
            <a:avLst/>
          </a:prstGeom>
          <a:noFill/>
          <a:ln/>
        </p:spPr>
        <p:txBody>
          <a:bodyPr wrap="square" lIns="0" tIns="0" rIns="0" bIns="0" rtlCol="0" anchor="ctr"/>
          <a:lstStyle/>
          <a:p>
            <a:pPr indent="0" marL="0">
              <a:buNone/>
            </a:pPr>
            <a:r>
              <a:rPr lang="en-US" sz="1250" b="1" dirty="0">
                <a:solidFill>
                  <a:srgbClr val="6B7C8C"/>
                </a:solidFill>
                <a:latin typeface="Calibri" pitchFamily="34" charset="0"/>
                <a:ea typeface="Calibri" pitchFamily="34" charset="-122"/>
                <a:cs typeface="Calibri" pitchFamily="34" charset="-120"/>
              </a:rPr>
              <a:t>2.5 s — in order, because it has to be</a:t>
            </a:r>
            <a:endParaRPr lang="en-US" sz="1250" dirty="0"/>
          </a:p>
        </p:txBody>
      </p:sp>
      <p:sp>
        <p:nvSpPr>
          <p:cNvPr id="13" name="Text 11"/>
          <p:cNvSpPr txBox="1"/>
          <p:nvPr/>
        </p:nvSpPr>
        <p:spPr>
          <a:xfrm>
            <a:off x="6199632" y="1783080"/>
            <a:ext cx="5349240" cy="320040"/>
          </a:xfrm>
          <a:prstGeom prst="rect">
            <a:avLst/>
          </a:prstGeom>
          <a:noFill/>
          <a:ln/>
        </p:spPr>
        <p:txBody>
          <a:bodyPr wrap="square" lIns="0" tIns="0" rIns="0" bIns="0" rtlCol="0" anchor="ctr"/>
          <a:lstStyle/>
          <a:p>
            <a:pPr indent="0" marL="0">
              <a:buNone/>
            </a:pPr>
            <a:r>
              <a:rPr lang="en-US" sz="1600" b="1" dirty="0">
                <a:solidFill>
                  <a:srgbClr val="F2A65A"/>
                </a:solidFill>
                <a:latin typeface="Calibri" pitchFamily="34" charset="0"/>
                <a:ea typeface="Calibri" pitchFamily="34" charset="-122"/>
                <a:cs typeface="Calibri" pitchFamily="34" charset="-120"/>
              </a:rPr>
              <a:t>No  →  thenCombine</a:t>
            </a:r>
            <a:endParaRPr lang="en-US" sz="1600" dirty="0"/>
          </a:p>
        </p:txBody>
      </p:sp>
      <p:sp>
        <p:nvSpPr>
          <p:cNvPr id="14" name="Shape 12"/>
          <p:cNvSpPr/>
          <p:nvPr/>
        </p:nvSpPr>
        <p:spPr>
          <a:xfrm>
            <a:off x="6199632" y="2157984"/>
            <a:ext cx="5349240" cy="1371600"/>
          </a:xfrm>
          <a:prstGeom prst="roundRect">
            <a:avLst>
              <a:gd name="adj" fmla="val 4000"/>
            </a:avLst>
          </a:prstGeom>
          <a:solidFill>
            <a:srgbClr val="0D1F31"/>
          </a:solidFill>
          <a:ln w="12700">
            <a:solidFill>
              <a:srgbClr val="0D1F31"/>
            </a:solidFill>
            <a:prstDash val="solid"/>
          </a:ln>
        </p:spPr>
      </p:sp>
      <p:sp>
        <p:nvSpPr>
          <p:cNvPr id="15" name="Text 13"/>
          <p:cNvSpPr txBox="1"/>
          <p:nvPr/>
        </p:nvSpPr>
        <p:spPr>
          <a:xfrm>
            <a:off x="6400800" y="2304288"/>
            <a:ext cx="4946904" cy="107899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drink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(pastry,</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(d, p) -&gt; serve(d, p))</a:t>
            </a:r>
            <a:endParaRPr lang="en-US" sz="1250" dirty="0"/>
          </a:p>
        </p:txBody>
      </p:sp>
      <p:sp>
        <p:nvSpPr>
          <p:cNvPr id="16" name="Shape 14"/>
          <p:cNvSpPr/>
          <p:nvPr/>
        </p:nvSpPr>
        <p:spPr>
          <a:xfrm>
            <a:off x="6199632" y="3776472"/>
            <a:ext cx="82296" cy="82296"/>
          </a:xfrm>
          <a:prstGeom prst="ellipse">
            <a:avLst/>
          </a:prstGeom>
          <a:solidFill>
            <a:srgbClr val="00A896"/>
          </a:solidFill>
          <a:ln/>
        </p:spPr>
      </p:sp>
      <p:sp>
        <p:nvSpPr>
          <p:cNvPr id="17" name="Text 15"/>
          <p:cNvSpPr txBox="1"/>
          <p:nvPr/>
        </p:nvSpPr>
        <p:spPr>
          <a:xfrm>
            <a:off x="6437376" y="3657600"/>
            <a:ext cx="5111496" cy="621792"/>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The pastry never needed the coffee, so both were already running side by side.</a:t>
            </a:r>
            <a:endParaRPr lang="en-US" sz="1300" dirty="0"/>
          </a:p>
        </p:txBody>
      </p:sp>
      <p:sp>
        <p:nvSpPr>
          <p:cNvPr id="18" name="Shape 16"/>
          <p:cNvSpPr/>
          <p:nvPr/>
        </p:nvSpPr>
        <p:spPr>
          <a:xfrm>
            <a:off x="6199632" y="4434840"/>
            <a:ext cx="82296" cy="82296"/>
          </a:xfrm>
          <a:prstGeom prst="ellipse">
            <a:avLst/>
          </a:prstGeom>
          <a:solidFill>
            <a:srgbClr val="00A896"/>
          </a:solidFill>
          <a:ln/>
        </p:spPr>
      </p:sp>
      <p:sp>
        <p:nvSpPr>
          <p:cNvPr id="19" name="Text 17"/>
          <p:cNvSpPr txBox="1"/>
          <p:nvPr/>
        </p:nvSpPr>
        <p:spPr>
          <a:xfrm>
            <a:off x="6437376" y="4315968"/>
            <a:ext cx="5111496" cy="621792"/>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The pair costs the slower of the two, not the two added together.</a:t>
            </a:r>
            <a:endParaRPr lang="en-US" sz="1300" dirty="0"/>
          </a:p>
        </p:txBody>
      </p:sp>
      <p:sp>
        <p:nvSpPr>
          <p:cNvPr id="20" name="Shape 18"/>
          <p:cNvSpPr/>
          <p:nvPr/>
        </p:nvSpPr>
        <p:spPr>
          <a:xfrm>
            <a:off x="6199632" y="5074920"/>
            <a:ext cx="2651760" cy="219456"/>
          </a:xfrm>
          <a:prstGeom prst="rect">
            <a:avLst/>
          </a:prstGeom>
          <a:solidFill>
            <a:srgbClr val="00A896"/>
          </a:solidFill>
          <a:ln/>
        </p:spPr>
      </p:sp>
      <p:sp>
        <p:nvSpPr>
          <p:cNvPr id="21" name="Shape 19"/>
          <p:cNvSpPr/>
          <p:nvPr/>
        </p:nvSpPr>
        <p:spPr>
          <a:xfrm>
            <a:off x="6199632" y="5349240"/>
            <a:ext cx="1600200" cy="219456"/>
          </a:xfrm>
          <a:prstGeom prst="rect">
            <a:avLst/>
          </a:prstGeom>
          <a:solidFill>
            <a:srgbClr val="F2A65A"/>
          </a:solidFill>
          <a:ln/>
        </p:spPr>
      </p:sp>
      <p:sp>
        <p:nvSpPr>
          <p:cNvPr id="22" name="Text 20"/>
          <p:cNvSpPr txBox="1"/>
          <p:nvPr/>
        </p:nvSpPr>
        <p:spPr>
          <a:xfrm>
            <a:off x="6199632" y="5650992"/>
            <a:ext cx="5349240" cy="292608"/>
          </a:xfrm>
          <a:prstGeom prst="rect">
            <a:avLst/>
          </a:prstGeom>
          <a:noFill/>
          <a:ln/>
        </p:spPr>
        <p:txBody>
          <a:bodyPr wrap="square" lIns="0" tIns="0" rIns="0" bIns="0" rtlCol="0" anchor="ctr"/>
          <a:lstStyle/>
          <a:p>
            <a:pPr indent="0" marL="0">
              <a:buNone/>
            </a:pPr>
            <a:r>
              <a:rPr lang="en-US" sz="1250" b="1" dirty="0">
                <a:solidFill>
                  <a:srgbClr val="00776B"/>
                </a:solidFill>
                <a:latin typeface="Calibri" pitchFamily="34" charset="0"/>
                <a:ea typeface="Calibri" pitchFamily="34" charset="-122"/>
                <a:cs typeface="Calibri" pitchFamily="34" charset="-120"/>
              </a:rPr>
              <a:t>2.5 s together, not 4.0 s — they overlap</a:t>
            </a:r>
            <a:endParaRPr lang="en-US" sz="1250" dirty="0"/>
          </a:p>
        </p:txBody>
      </p:sp>
      <p:sp>
        <p:nvSpPr>
          <p:cNvPr id="23" name="Text 21"/>
          <p:cNvSpPr txBox="1"/>
          <p:nvPr/>
        </p:nvSpPr>
        <p:spPr>
          <a:xfrm>
            <a:off x="621792" y="6144768"/>
            <a:ext cx="10927080" cy="41148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Needs the answer? Compose. Never needed it? Combine.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384048"/>
            <a:ext cx="10972800" cy="749808"/>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Work fails in two different ways, and they need two different tools</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One of them a try/catch cannot see at all.</a:t>
            </a:r>
            <a:endParaRPr lang="en-US" sz="1500" dirty="0"/>
          </a:p>
        </p:txBody>
      </p:sp>
      <p:sp>
        <p:nvSpPr>
          <p:cNvPr id="4" name="Shape 2"/>
          <p:cNvSpPr/>
          <p:nvPr/>
        </p:nvSpPr>
        <p:spPr>
          <a:xfrm>
            <a:off x="621792" y="1783080"/>
            <a:ext cx="10927080" cy="1133856"/>
          </a:xfrm>
          <a:prstGeom prst="roundRect">
            <a:avLst>
              <a:gd name="adj" fmla="val 4839"/>
            </a:avLst>
          </a:prstGeom>
          <a:solidFill>
            <a:srgbClr val="F1F5F8"/>
          </a:solidFill>
          <a:ln w="12700">
            <a:solidFill>
              <a:srgbClr val="F1F5F8"/>
            </a:solidFill>
            <a:prstDash val="solid"/>
          </a:ln>
        </p:spPr>
      </p:sp>
      <p:sp>
        <p:nvSpPr>
          <p:cNvPr id="5" name="Text 3"/>
          <p:cNvSpPr txBox="1"/>
          <p:nvPr/>
        </p:nvSpPr>
        <p:spPr>
          <a:xfrm>
            <a:off x="914400" y="1947672"/>
            <a:ext cx="26517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It throws an error</a:t>
            </a:r>
            <a:endParaRPr lang="en-US" sz="1550" dirty="0"/>
          </a:p>
        </p:txBody>
      </p:sp>
      <p:sp>
        <p:nvSpPr>
          <p:cNvPr id="6" name="Text 4"/>
          <p:cNvSpPr txBox="1"/>
          <p:nvPr/>
        </p:nvSpPr>
        <p:spPr>
          <a:xfrm>
            <a:off x="914400" y="2313432"/>
            <a:ext cx="2651760" cy="310896"/>
          </a:xfrm>
          <a:prstGeom prst="rect">
            <a:avLst/>
          </a:prstGeom>
          <a:noFill/>
          <a:ln/>
        </p:spPr>
        <p:txBody>
          <a:bodyPr wrap="square" lIns="0" tIns="0" rIns="0" bIns="0" rtlCol="0" anchor="ctr"/>
          <a:lstStyle/>
          <a:p>
            <a:pPr indent="0" marL="0">
              <a:buNone/>
            </a:pPr>
            <a:r>
              <a:rPr lang="en-US" sz="1350" b="1" dirty="0">
                <a:solidFill>
                  <a:srgbClr val="F2A65A"/>
                </a:solidFill>
                <a:latin typeface="Courier New" pitchFamily="34" charset="0"/>
                <a:ea typeface="Courier New" pitchFamily="34" charset="-122"/>
                <a:cs typeface="Courier New" pitchFamily="34" charset="-120"/>
              </a:rPr>
              <a:t>exceptionally</a:t>
            </a:r>
            <a:endParaRPr lang="en-US" sz="1350" dirty="0"/>
          </a:p>
        </p:txBody>
      </p:sp>
      <p:sp>
        <p:nvSpPr>
          <p:cNvPr id="7" name="Text 5"/>
          <p:cNvSpPr txBox="1"/>
          <p:nvPr/>
        </p:nvSpPr>
        <p:spPr>
          <a:xfrm>
            <a:off x="3886200" y="1965960"/>
            <a:ext cx="7406640" cy="804672"/>
          </a:xfrm>
          <a:prstGeom prst="rect">
            <a:avLst/>
          </a:prstGeom>
          <a:noFill/>
          <a:ln/>
        </p:spPr>
        <p:txBody>
          <a:bodyPr wrap="square" lIns="0" tIns="0" rIns="0" bIns="0" rtlCol="0" anchor="ctr"/>
          <a:lstStyle/>
          <a:p>
            <a:pPr indent="0" marL="0">
              <a:buNone/>
            </a:pPr>
            <a:r>
              <a:rPr lang="en-US" sz="1300" dirty="0">
                <a:solidFill>
                  <a:srgbClr val="16232E"/>
                </a:solidFill>
                <a:latin typeface="Calibri" pitchFamily="34" charset="0"/>
                <a:ea typeface="Calibri" pitchFamily="34" charset="-122"/>
                <a:cs typeface="Calibri" pitchFamily="34" charset="-120"/>
              </a:rPr>
              <a:t>The normal case. Something fails, and exceptionally supplies a replacement value so the rest of the chain carries on instead of collapsing.</a:t>
            </a:r>
            <a:endParaRPr lang="en-US" sz="1300" dirty="0"/>
          </a:p>
        </p:txBody>
      </p:sp>
      <p:sp>
        <p:nvSpPr>
          <p:cNvPr id="8" name="Shape 6"/>
          <p:cNvSpPr/>
          <p:nvPr/>
        </p:nvSpPr>
        <p:spPr>
          <a:xfrm>
            <a:off x="621792" y="3081528"/>
            <a:ext cx="10927080" cy="1133856"/>
          </a:xfrm>
          <a:prstGeom prst="roundRect">
            <a:avLst>
              <a:gd name="adj" fmla="val 4839"/>
            </a:avLst>
          </a:prstGeom>
          <a:solidFill>
            <a:srgbClr val="F1F5F8"/>
          </a:solidFill>
          <a:ln w="12700">
            <a:solidFill>
              <a:srgbClr val="F1F5F8"/>
            </a:solidFill>
            <a:prstDash val="solid"/>
          </a:ln>
        </p:spPr>
      </p:sp>
      <p:sp>
        <p:nvSpPr>
          <p:cNvPr id="9" name="Text 7"/>
          <p:cNvSpPr txBox="1"/>
          <p:nvPr/>
        </p:nvSpPr>
        <p:spPr>
          <a:xfrm>
            <a:off x="914400" y="3246120"/>
            <a:ext cx="26517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It never finishes</a:t>
            </a:r>
            <a:endParaRPr lang="en-US" sz="1550" dirty="0"/>
          </a:p>
        </p:txBody>
      </p:sp>
      <p:sp>
        <p:nvSpPr>
          <p:cNvPr id="10" name="Text 8"/>
          <p:cNvSpPr txBox="1"/>
          <p:nvPr/>
        </p:nvSpPr>
        <p:spPr>
          <a:xfrm>
            <a:off x="914400" y="3611880"/>
            <a:ext cx="2651760" cy="310896"/>
          </a:xfrm>
          <a:prstGeom prst="rect">
            <a:avLst/>
          </a:prstGeom>
          <a:noFill/>
          <a:ln/>
        </p:spPr>
        <p:txBody>
          <a:bodyPr wrap="square" lIns="0" tIns="0" rIns="0" bIns="0" rtlCol="0" anchor="ctr"/>
          <a:lstStyle/>
          <a:p>
            <a:pPr indent="0" marL="0">
              <a:buNone/>
            </a:pPr>
            <a:r>
              <a:rPr lang="en-US" sz="1350" b="1" dirty="0">
                <a:solidFill>
                  <a:srgbClr val="D9534F"/>
                </a:solidFill>
                <a:latin typeface="Courier New" pitchFamily="34" charset="0"/>
                <a:ea typeface="Courier New" pitchFamily="34" charset="-122"/>
                <a:cs typeface="Courier New" pitchFamily="34" charset="-120"/>
              </a:rPr>
              <a:t>orTimeout</a:t>
            </a:r>
            <a:endParaRPr lang="en-US" sz="1350" dirty="0"/>
          </a:p>
        </p:txBody>
      </p:sp>
      <p:sp>
        <p:nvSpPr>
          <p:cNvPr id="11" name="Text 9"/>
          <p:cNvSpPr txBox="1"/>
          <p:nvPr/>
        </p:nvSpPr>
        <p:spPr>
          <a:xfrm>
            <a:off x="3886200" y="3264408"/>
            <a:ext cx="7406640" cy="804672"/>
          </a:xfrm>
          <a:prstGeom prst="rect">
            <a:avLst/>
          </a:prstGeom>
          <a:noFill/>
          <a:ln/>
        </p:spPr>
        <p:txBody>
          <a:bodyPr wrap="square" lIns="0" tIns="0" rIns="0" bIns="0" rtlCol="0" anchor="ctr"/>
          <a:lstStyle/>
          <a:p>
            <a:pPr indent="0" marL="0">
              <a:buNone/>
            </a:pPr>
            <a:r>
              <a:rPr lang="en-US" sz="1300" dirty="0">
                <a:solidFill>
                  <a:srgbClr val="16232E"/>
                </a:solidFill>
                <a:latin typeface="Calibri" pitchFamily="34" charset="0"/>
                <a:ea typeface="Calibri" pitchFamily="34" charset="-122"/>
                <a:cs typeface="Calibri" pitchFamily="34" charset="-120"/>
              </a:rPr>
              <a:t>Nothing is thrown, so there is nothing to catch, and a try/catch would sit there forever. orTimeout turns that silence into a TimeoutException you can act on.</a:t>
            </a:r>
            <a:endParaRPr lang="en-US" sz="1300" dirty="0"/>
          </a:p>
        </p:txBody>
      </p:sp>
      <p:sp>
        <p:nvSpPr>
          <p:cNvPr id="12" name="Shape 10"/>
          <p:cNvSpPr/>
          <p:nvPr/>
        </p:nvSpPr>
        <p:spPr>
          <a:xfrm>
            <a:off x="621792" y="4379976"/>
            <a:ext cx="10927080" cy="1133856"/>
          </a:xfrm>
          <a:prstGeom prst="roundRect">
            <a:avLst>
              <a:gd name="adj" fmla="val 4839"/>
            </a:avLst>
          </a:prstGeom>
          <a:solidFill>
            <a:srgbClr val="F1F5F8"/>
          </a:solidFill>
          <a:ln w="12700">
            <a:solidFill>
              <a:srgbClr val="F1F5F8"/>
            </a:solidFill>
            <a:prstDash val="solid"/>
          </a:ln>
        </p:spPr>
      </p:sp>
      <p:sp>
        <p:nvSpPr>
          <p:cNvPr id="13" name="Text 11"/>
          <p:cNvSpPr txBox="1"/>
          <p:nvPr/>
        </p:nvSpPr>
        <p:spPr>
          <a:xfrm>
            <a:off x="914400" y="4544568"/>
            <a:ext cx="26517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Either way</a:t>
            </a:r>
            <a:endParaRPr lang="en-US" sz="1550" dirty="0"/>
          </a:p>
        </p:txBody>
      </p:sp>
      <p:sp>
        <p:nvSpPr>
          <p:cNvPr id="14" name="Text 12"/>
          <p:cNvSpPr txBox="1"/>
          <p:nvPr/>
        </p:nvSpPr>
        <p:spPr>
          <a:xfrm>
            <a:off x="914400" y="4910328"/>
            <a:ext cx="2651760" cy="310896"/>
          </a:xfrm>
          <a:prstGeom prst="rect">
            <a:avLst/>
          </a:prstGeom>
          <a:noFill/>
          <a:ln/>
        </p:spPr>
        <p:txBody>
          <a:bodyPr wrap="square" lIns="0" tIns="0" rIns="0" bIns="0" rtlCol="0" anchor="ctr"/>
          <a:lstStyle/>
          <a:p>
            <a:pPr indent="0" marL="0">
              <a:buNone/>
            </a:pPr>
            <a:r>
              <a:rPr lang="en-US" sz="1350" b="1" dirty="0">
                <a:solidFill>
                  <a:srgbClr val="00A896"/>
                </a:solidFill>
                <a:latin typeface="Courier New" pitchFamily="34" charset="0"/>
                <a:ea typeface="Courier New" pitchFamily="34" charset="-122"/>
                <a:cs typeface="Courier New" pitchFamily="34" charset="-120"/>
              </a:rPr>
              <a:t>handle</a:t>
            </a:r>
            <a:endParaRPr lang="en-US" sz="1350" dirty="0"/>
          </a:p>
        </p:txBody>
      </p:sp>
      <p:sp>
        <p:nvSpPr>
          <p:cNvPr id="15" name="Text 13"/>
          <p:cNvSpPr txBox="1"/>
          <p:nvPr/>
        </p:nvSpPr>
        <p:spPr>
          <a:xfrm>
            <a:off x="3886200" y="4562856"/>
            <a:ext cx="7406640" cy="804672"/>
          </a:xfrm>
          <a:prstGeom prst="rect">
            <a:avLst/>
          </a:prstGeom>
          <a:noFill/>
          <a:ln/>
        </p:spPr>
        <p:txBody>
          <a:bodyPr wrap="square" lIns="0" tIns="0" rIns="0" bIns="0" rtlCol="0" anchor="ctr"/>
          <a:lstStyle/>
          <a:p>
            <a:pPr indent="0" marL="0">
              <a:buNone/>
            </a:pPr>
            <a:r>
              <a:rPr lang="en-US" sz="1300" dirty="0">
                <a:solidFill>
                  <a:srgbClr val="16232E"/>
                </a:solidFill>
                <a:latin typeface="Calibri" pitchFamily="34" charset="0"/>
                <a:ea typeface="Calibri" pitchFamily="34" charset="-122"/>
                <a:cs typeface="Calibri" pitchFamily="34" charset="-120"/>
              </a:rPr>
              <a:t>Runs on success and on failure both, so the final tidying-up is written once rather than twice.</a:t>
            </a:r>
            <a:endParaRPr lang="en-US" sz="1300" dirty="0"/>
          </a:p>
        </p:txBody>
      </p:sp>
      <p:sp>
        <p:nvSpPr>
          <p:cNvPr id="16" name="Shape 14"/>
          <p:cNvSpPr/>
          <p:nvPr/>
        </p:nvSpPr>
        <p:spPr>
          <a:xfrm>
            <a:off x="621792" y="5705856"/>
            <a:ext cx="10927080" cy="868680"/>
          </a:xfrm>
          <a:prstGeom prst="roundRect">
            <a:avLst>
              <a:gd name="adj" fmla="val 6316"/>
            </a:avLst>
          </a:prstGeom>
          <a:solidFill>
            <a:srgbClr val="16293D"/>
          </a:solidFill>
          <a:ln w="12700">
            <a:solidFill>
              <a:srgbClr val="16293D"/>
            </a:solidFill>
            <a:prstDash val="solid"/>
          </a:ln>
        </p:spPr>
      </p:sp>
      <p:sp>
        <p:nvSpPr>
          <p:cNvPr id="17" name="Text 15"/>
          <p:cNvSpPr txBox="1"/>
          <p:nvPr/>
        </p:nvSpPr>
        <p:spPr>
          <a:xfrm>
            <a:off x="914400" y="5815584"/>
            <a:ext cx="4572000" cy="274320"/>
          </a:xfrm>
          <a:prstGeom prst="rect">
            <a:avLst/>
          </a:prstGeom>
          <a:noFill/>
          <a:ln/>
        </p:spPr>
        <p:txBody>
          <a:bodyPr wrap="square" lIns="0" tIns="0" rIns="0" bIns="0" rtlCol="0" anchor="ctr"/>
          <a:lstStyle/>
          <a:p>
            <a:pPr indent="0" marL="0">
              <a:buNone/>
            </a:pPr>
            <a:r>
              <a:rPr lang="en-US" sz="1300" b="1" dirty="0">
                <a:solidFill>
                  <a:srgbClr val="F2A65A"/>
                </a:solidFill>
                <a:latin typeface="Calibri" pitchFamily="34" charset="0"/>
                <a:ea typeface="Calibri" pitchFamily="34" charset="-122"/>
                <a:cs typeface="Calibri" pitchFamily="34" charset="-120"/>
              </a:rPr>
              <a:t>And the trap nobody mentions</a:t>
            </a:r>
            <a:endParaRPr lang="en-US" sz="1300" dirty="0"/>
          </a:p>
        </p:txBody>
      </p:sp>
      <p:sp>
        <p:nvSpPr>
          <p:cNvPr id="18" name="Text 16"/>
          <p:cNvSpPr txBox="1"/>
          <p:nvPr/>
        </p:nvSpPr>
        <p:spPr>
          <a:xfrm>
            <a:off x="914400" y="6089904"/>
            <a:ext cx="10332720" cy="457200"/>
          </a:xfrm>
          <a:prstGeom prst="rect">
            <a:avLst/>
          </a:prstGeom>
          <a:noFill/>
          <a:ln/>
        </p:spPr>
        <p:txBody>
          <a:bodyPr wrap="square" lIns="0" tIns="0" rIns="0" bIns="0" rtlCol="0" anchor="t"/>
          <a:lstStyle/>
          <a:p>
            <a:pPr indent="0" marL="0">
              <a:buNone/>
            </a:pPr>
            <a:r>
              <a:rPr lang="en-US" sz="1250" dirty="0">
                <a:solidFill>
                  <a:srgbClr val="C9D6E0"/>
                </a:solidFill>
                <a:latin typeface="Calibri" pitchFamily="34" charset="0"/>
                <a:ea typeface="Calibri" pitchFamily="34" charset="-122"/>
                <a:cs typeface="Calibri" pitchFamily="34" charset="-120"/>
              </a:rPr>
              <a:t>supplyAsync without an executor does not make you a thread. It borrows the one pool the whole JVM shares, which is built for short calculations. Block it and you stall unrelated parts of your own program. Always pass your own pool.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685800"/>
            <a:ext cx="822960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Four things to take away</a:t>
            </a:r>
            <a:endParaRPr lang="en-US" sz="3400" dirty="0"/>
          </a:p>
        </p:txBody>
      </p:sp>
      <p:sp>
        <p:nvSpPr>
          <p:cNvPr id="3" name="Shape 1"/>
          <p:cNvSpPr/>
          <p:nvPr/>
        </p:nvSpPr>
        <p:spPr>
          <a:xfrm>
            <a:off x="822960" y="1645920"/>
            <a:ext cx="384048" cy="41148"/>
          </a:xfrm>
          <a:prstGeom prst="rect">
            <a:avLst/>
          </a:prstGeom>
          <a:solidFill>
            <a:srgbClr val="00A896"/>
          </a:solidFill>
          <a:ln/>
        </p:spPr>
      </p:sp>
      <p:sp>
        <p:nvSpPr>
          <p:cNvPr id="4" name="Text 2"/>
          <p:cNvSpPr txBox="1"/>
          <p:nvPr/>
        </p:nvSpPr>
        <p:spPr>
          <a:xfrm>
            <a:off x="822960" y="1847088"/>
            <a:ext cx="5029200" cy="384048"/>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It buys waiting, not speed</a:t>
            </a:r>
            <a:endParaRPr lang="en-US" sz="1750" dirty="0"/>
          </a:p>
        </p:txBody>
      </p:sp>
      <p:sp>
        <p:nvSpPr>
          <p:cNvPr id="5" name="Text 3"/>
          <p:cNvSpPr txBox="1"/>
          <p:nvPr/>
        </p:nvSpPr>
        <p:spPr>
          <a:xfrm>
            <a:off x="822960" y="224942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It wins exactly where threads sit blocked on input and output. It will never make your processor faster.</a:t>
            </a:r>
            <a:endParaRPr lang="en-US" sz="1250" dirty="0"/>
          </a:p>
        </p:txBody>
      </p:sp>
      <p:sp>
        <p:nvSpPr>
          <p:cNvPr id="6" name="Shape 4"/>
          <p:cNvSpPr/>
          <p:nvPr/>
        </p:nvSpPr>
        <p:spPr>
          <a:xfrm>
            <a:off x="6355080" y="1645920"/>
            <a:ext cx="384048" cy="41148"/>
          </a:xfrm>
          <a:prstGeom prst="rect">
            <a:avLst/>
          </a:prstGeom>
          <a:solidFill>
            <a:srgbClr val="00A896"/>
          </a:solidFill>
          <a:ln/>
        </p:spPr>
      </p:sp>
      <p:sp>
        <p:nvSpPr>
          <p:cNvPr id="7" name="Text 5"/>
          <p:cNvSpPr txBox="1"/>
          <p:nvPr/>
        </p:nvSpPr>
        <p:spPr>
          <a:xfrm>
            <a:off x="6355080" y="1847088"/>
            <a:ext cx="5029200" cy="384048"/>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Split the work and you need no locks</a:t>
            </a:r>
            <a:endParaRPr lang="en-US" sz="1750" dirty="0"/>
          </a:p>
        </p:txBody>
      </p:sp>
      <p:sp>
        <p:nvSpPr>
          <p:cNvPr id="8" name="Text 6"/>
          <p:cNvSpPr txBox="1"/>
          <p:nvPr/>
        </p:nvSpPr>
        <p:spPr>
          <a:xfrm>
            <a:off x="6355080" y="224942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Eight threads, eight separate places to write, one matching checksum. Design it so they cannot collide.</a:t>
            </a:r>
            <a:endParaRPr lang="en-US" sz="1250" dirty="0"/>
          </a:p>
        </p:txBody>
      </p:sp>
      <p:sp>
        <p:nvSpPr>
          <p:cNvPr id="9" name="Shape 7"/>
          <p:cNvSpPr/>
          <p:nvPr/>
        </p:nvSpPr>
        <p:spPr>
          <a:xfrm>
            <a:off x="822960" y="3218688"/>
            <a:ext cx="384048" cy="41148"/>
          </a:xfrm>
          <a:prstGeom prst="rect">
            <a:avLst/>
          </a:prstGeom>
          <a:solidFill>
            <a:srgbClr val="F2A65A"/>
          </a:solidFill>
          <a:ln/>
        </p:spPr>
      </p:sp>
      <p:sp>
        <p:nvSpPr>
          <p:cNvPr id="10" name="Text 8"/>
          <p:cNvSpPr txBox="1"/>
          <p:nvPr/>
        </p:nvSpPr>
        <p:spPr>
          <a:xfrm>
            <a:off x="822960" y="3419856"/>
            <a:ext cx="5029200" cy="384048"/>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Own every thread pool you use</a:t>
            </a:r>
            <a:endParaRPr lang="en-US" sz="1750" dirty="0"/>
          </a:p>
        </p:txBody>
      </p:sp>
      <p:sp>
        <p:nvSpPr>
          <p:cNvPr id="11" name="Text 9"/>
          <p:cNvSpPr txBox="1"/>
          <p:nvPr/>
        </p:nvSpPr>
        <p:spPr>
          <a:xfrm>
            <a:off x="822960" y="382219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Never put blocking work on the shared pool. Name your threads, size the pool to the job, shut it down afterwards.</a:t>
            </a:r>
            <a:endParaRPr lang="en-US" sz="1250" dirty="0"/>
          </a:p>
        </p:txBody>
      </p:sp>
      <p:sp>
        <p:nvSpPr>
          <p:cNvPr id="12" name="Shape 10"/>
          <p:cNvSpPr/>
          <p:nvPr/>
        </p:nvSpPr>
        <p:spPr>
          <a:xfrm>
            <a:off x="6355080" y="3218688"/>
            <a:ext cx="384048" cy="41148"/>
          </a:xfrm>
          <a:prstGeom prst="rect">
            <a:avLst/>
          </a:prstGeom>
          <a:solidFill>
            <a:srgbClr val="00A896"/>
          </a:solidFill>
          <a:ln/>
        </p:spPr>
      </p:sp>
      <p:sp>
        <p:nvSpPr>
          <p:cNvPr id="13" name="Text 11"/>
          <p:cNvSpPr txBox="1"/>
          <p:nvPr/>
        </p:nvSpPr>
        <p:spPr>
          <a:xfrm>
            <a:off x="6355080" y="3419856"/>
            <a:ext cx="5029200" cy="384048"/>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Describe first, wait once, at the end</a:t>
            </a:r>
            <a:endParaRPr lang="en-US" sz="1750" dirty="0"/>
          </a:p>
        </p:txBody>
      </p:sp>
      <p:sp>
        <p:nvSpPr>
          <p:cNvPr id="14" name="Text 12"/>
          <p:cNvSpPr txBox="1"/>
          <p:nvPr/>
        </p:nvSpPr>
        <p:spPr>
          <a:xfrm>
            <a:off x="6355080" y="382219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Chain the steps together, say how failure is handled, and only then ask for the answer.</a:t>
            </a:r>
            <a:endParaRPr lang="en-US" sz="1250" dirty="0"/>
          </a:p>
        </p:txBody>
      </p:sp>
      <p:sp>
        <p:nvSpPr>
          <p:cNvPr id="15" name="Shape 13"/>
          <p:cNvSpPr/>
          <p:nvPr/>
        </p:nvSpPr>
        <p:spPr>
          <a:xfrm>
            <a:off x="9857232" y="4736592"/>
            <a:ext cx="1783080" cy="1783080"/>
          </a:xfrm>
          <a:prstGeom prst="roundRect">
            <a:avLst>
              <a:gd name="adj" fmla="val 3077"/>
            </a:avLst>
          </a:prstGeom>
          <a:solidFill>
            <a:srgbClr val="FFFFFF"/>
          </a:solidFill>
          <a:ln w="12700">
            <a:solidFill>
              <a:srgbClr val="FFFFFF"/>
            </a:solidFill>
            <a:prstDash val="solid"/>
          </a:ln>
        </p:spPr>
      </p:sp>
      <p:pic>
        <p:nvPicPr>
          <p:cNvPr id="16" name="Image 0" descr="qr.png">    </p:cNvPr>
          <p:cNvPicPr>
            <a:picLocks noChangeAspect="1"/>
          </p:cNvPicPr>
          <p:nvPr/>
        </p:nvPicPr>
        <p:blipFill>
          <a:blip r:embed="rId1"/>
          <a:stretch>
            <a:fillRect/>
          </a:stretch>
        </p:blipFill>
        <p:spPr>
          <a:xfrm>
            <a:off x="9966960" y="4846320"/>
            <a:ext cx="1563624" cy="1563624"/>
          </a:xfrm>
          <a:prstGeom prst="rect">
            <a:avLst/>
          </a:prstGeom>
        </p:spPr>
      </p:pic>
      <p:sp>
        <p:nvSpPr>
          <p:cNvPr id="17" name="Text 14"/>
          <p:cNvSpPr txBox="1"/>
          <p:nvPr/>
        </p:nvSpPr>
        <p:spPr>
          <a:xfrm>
            <a:off x="841248" y="4892040"/>
            <a:ext cx="4572000" cy="457200"/>
          </a:xfrm>
          <a:prstGeom prst="rect">
            <a:avLst/>
          </a:prstGeom>
          <a:noFill/>
          <a:ln/>
        </p:spPr>
        <p:txBody>
          <a:bodyPr wrap="square" lIns="0" tIns="0" rIns="0" bIns="0" rtlCol="0" anchor="ctr"/>
          <a:lstStyle/>
          <a:p>
            <a:pPr indent="0" marL="0">
              <a:buNone/>
            </a:pPr>
            <a:r>
              <a:rPr lang="en-US" sz="2400" b="1" dirty="0">
                <a:solidFill>
                  <a:srgbClr val="00A896"/>
                </a:solidFill>
                <a:latin typeface="Cambria" pitchFamily="34" charset="0"/>
                <a:ea typeface="Cambria" pitchFamily="34" charset="-122"/>
                <a:cs typeface="Cambria" pitchFamily="34" charset="-120"/>
              </a:rPr>
              <a:t>Questions?</a:t>
            </a:r>
            <a:endParaRPr lang="en-US" sz="2400" dirty="0"/>
          </a:p>
        </p:txBody>
      </p:sp>
      <p:sp>
        <p:nvSpPr>
          <p:cNvPr id="18" name="Text 15"/>
          <p:cNvSpPr txBox="1"/>
          <p:nvPr/>
        </p:nvSpPr>
        <p:spPr>
          <a:xfrm>
            <a:off x="841248" y="5440680"/>
            <a:ext cx="8229600" cy="3200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Scan it and download a file yourself</a:t>
            </a:r>
            <a:endParaRPr lang="en-US" sz="1500" dirty="0"/>
          </a:p>
        </p:txBody>
      </p:sp>
      <p:sp>
        <p:nvSpPr>
          <p:cNvPr id="19" name="Text 16"/>
          <p:cNvSpPr txBox="1"/>
          <p:nvPr/>
        </p:nvSpPr>
        <p:spPr>
          <a:xfrm>
            <a:off x="841248" y="5742432"/>
            <a:ext cx="8229600" cy="292608"/>
          </a:xfrm>
          <a:prstGeom prst="rect">
            <a:avLst/>
          </a:prstGeom>
          <a:noFill/>
          <a:ln/>
        </p:spPr>
        <p:txBody>
          <a:bodyPr wrap="square" lIns="0" tIns="0" rIns="0" bIns="0" rtlCol="0" anchor="ctr"/>
          <a:lstStyle/>
          <a:p>
            <a:pPr indent="0" marL="0">
              <a:buNone/>
            </a:pPr>
            <a:r>
              <a:rPr lang="en-US" sz="1300" dirty="0">
                <a:solidFill>
                  <a:srgbClr val="00A896"/>
                </a:solidFill>
                <a:latin typeface="Courier New" pitchFamily="34" charset="0"/>
                <a:ea typeface="Courier New" pitchFamily="34" charset="-122"/>
                <a:cs typeface="Courier New" pitchFamily="34" charset="-120"/>
              </a:rPr>
              <a:t>concurrency-demo.onrender.com</a:t>
            </a:r>
            <a:endParaRPr lang="en-US" sz="1300" dirty="0"/>
          </a:p>
        </p:txBody>
      </p:sp>
      <p:sp>
        <p:nvSpPr>
          <p:cNvPr id="20" name="Text 17"/>
          <p:cNvSpPr txBox="1"/>
          <p:nvPr/>
        </p:nvSpPr>
        <p:spPr>
          <a:xfrm>
            <a:off x="841248" y="6053328"/>
            <a:ext cx="8229600" cy="292608"/>
          </a:xfrm>
          <a:prstGeom prst="rect">
            <a:avLst/>
          </a:prstGeom>
          <a:noFill/>
          <a:ln/>
        </p:spPr>
        <p:txBody>
          <a:bodyPr wrap="square" lIns="0" tIns="0" rIns="0" bIns="0" rtlCol="0" anchor="ctr"/>
          <a:lstStyle/>
          <a:p>
            <a:pPr indent="0" marL="0">
              <a:buNone/>
            </a:pPr>
            <a:r>
              <a:rPr lang="en-US" sz="1200" dirty="0">
                <a:solidFill>
                  <a:srgbClr val="7C8FA0"/>
                </a:solidFill>
                <a:latin typeface="Courier New" pitchFamily="34" charset="0"/>
                <a:ea typeface="Courier New" pitchFamily="34" charset="-122"/>
                <a:cs typeface="Courier New" pitchFamily="34" charset="-120"/>
              </a:rPr>
              <a:t>github.com/techadnank9/completablefuture-demo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Concurrency with CompletableFuture</dc:title>
  <dc:subject>PptxGenJS Presentation</dc:subject>
  <dc:creator>Mohammed Adnan</dc:creator>
  <cp:lastModifiedBy>Mohammed Adnan</cp:lastModifiedBy>
  <cp:revision>1</cp:revision>
  <dcterms:created xsi:type="dcterms:W3CDTF">2026-09-28T13:18:36Z</dcterms:created>
  <dcterms:modified xsi:type="dcterms:W3CDTF">2026-09-28T13:18:36Z</dcterms:modified>
</cp:coreProperties>
</file>