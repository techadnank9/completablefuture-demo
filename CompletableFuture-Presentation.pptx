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Throughput vs number of connections</a:t>
            </a:r>
          </a:p>
        </c:rich>
      </c:tx>
      <c:layout/>
      <c:overlay val="0"/>
    </c:title>
    <c:autoTitleDeleted val="0"/>
    <c:plotArea>
      <c:layout/>
      <c:lineChart>
        <c:varyColors val="0"/>
        <c:ser>
          <c:idx val="0"/>
          <c:order val="0"/>
          <c:tx>
            <c:strRef>
              <c:f>Sheet1!$B$1</c:f>
              <c:strCache>
                <c:ptCount val="1"/>
                <c:pt idx="0">
                  <c:v>MB/s</c:v>
                </c:pt>
              </c:strCache>
            </c:strRef>
          </c:tx>
          <c:spPr>
            <a:solidFill>
              <a:srgbClr val="00A896"/>
            </a:solidFill>
            <a:ln w="50800" cap="flat">
              <a:solidFill>
                <a:srgbClr val="00A896"/>
              </a:solidFill>
              <a:prstDash val="solid"/>
              <a:round/>
            </a:ln>
            <a:effectLst/>
          </c:spPr>
          <c:invertIfNegative val="0"/>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c:symbol val="circle"/>
            <c:size val="9"/>
            <c:spPr>
              <a:solidFill>
                <a:srgbClr val="00A896"/>
              </a:solidFill>
              <a:ln w="9525" cap="flat">
                <a:solidFill>
                  <a:srgbClr val="00A896"/>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3</c:v>
                </c:pt>
                <c:pt idx="1">
                  <c:v>6.1</c:v>
                </c:pt>
                <c:pt idx="2">
                  <c:v>12.4</c:v>
                </c:pt>
                <c:pt idx="3">
                  <c:v>25.8</c:v>
                </c:pt>
                <c:pt idx="4">
                  <c:v>25.5</c:v>
                </c:pt>
                <c:pt idx="5">
                  <c:v>25.6</c:v>
                </c:pt>
              </c:numCache>
            </c:numRef>
          </c:val>
          <c:smooth val="0"/>
        </c:ser>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2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live demos, but every number is on these slides, so nothing depends on the wifi. The subtitle is the thesis: async is not about computing faster, it is about waiting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the 0%. Everyone assumes "slow" means "needs more power". Here the machine is idle. That reframes what the fix has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go slowly on. Everything after it is mechanism. Say the two phrasings out loud and let the contrast land: "wait here, then do this" versus "when this lands, do this". If anyone is lost later, it is because this slide went too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"why does this API have forty methods". Because Future had two, and everything else had to be written by hand, badly, in every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no-lock point is the one worth dwelling on. Concurrency is safe here by design, not by synchronisation — the data was partitioned so collisions are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measured numbers against the deployed server. The live page offers a small library - two photographs and a video - so you can let the room pick which file to race. If the live demo runs, they will differ slightly — say so, that is honest and it proves the numbers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"I used threads" from "I found the bottleneck". The curve is measured,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confusion with this API. If they remember one API slide, make it this one. The two little bars on the right are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row is the interesting one. A try/catch cannot see a task that simply never returns — it would wait forever. Only a timeout converts silence into something you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you actually built something rather than read a tutorial. The allOf example is from this project — a real 48-second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first and third: those are judgement, not syntax. Then put this slide up and leave it up - people can scan the code and run the comparison on their own phones while you take questions, which is a far better closing image than a bulleted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1965960"/>
            <a:ext cx="8229600" cy="640080"/>
          </a:xfrm>
          <a:prstGeom prst="rect">
            <a:avLst/>
          </a:prstGeom>
          <a:noFill/>
          <a:ln/>
        </p:spPr>
        <p:txBody>
          <a:bodyPr wrap="square" lIns="0" tIns="0" rIns="0" bIns="0" rtlCol="0" anchor="ctr"/>
          <a:lstStyle/>
          <a:p>
            <a:pPr indent="0" marL="0">
              <a:buNone/>
            </a:pPr>
            <a:r>
              <a:rPr lang="en-US" sz="3800" dirty="0">
                <a:solidFill>
                  <a:srgbClr val="7C8FA0"/>
                </a:solidFill>
                <a:latin typeface="Cambria" pitchFamily="34" charset="0"/>
                <a:ea typeface="Cambria" pitchFamily="34" charset="-122"/>
                <a:cs typeface="Cambria" pitchFamily="34" charset="-120"/>
              </a:rPr>
              <a:t>Concurrency with</a:t>
            </a:r>
            <a:endParaRPr lang="en-US" sz="3800" dirty="0"/>
          </a:p>
        </p:txBody>
      </p:sp>
      <p:sp>
        <p:nvSpPr>
          <p:cNvPr id="3" name="Text 1"/>
          <p:cNvSpPr txBox="1"/>
          <p:nvPr/>
        </p:nvSpPr>
        <p:spPr>
          <a:xfrm>
            <a:off x="822960" y="2560320"/>
            <a:ext cx="10607040" cy="109728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CompletableFuture</a:t>
            </a:r>
            <a:endParaRPr lang="en-US" sz="5800" dirty="0"/>
          </a:p>
        </p:txBody>
      </p:sp>
      <p:sp>
        <p:nvSpPr>
          <p:cNvPr id="4" name="Text 2"/>
          <p:cNvSpPr txBox="1"/>
          <p:nvPr/>
        </p:nvSpPr>
        <p:spPr>
          <a:xfrm>
            <a:off x="841248" y="3749040"/>
            <a:ext cx="9144000" cy="411480"/>
          </a:xfrm>
          <a:prstGeom prst="rect">
            <a:avLst/>
          </a:prstGeom>
          <a:noFill/>
          <a:ln/>
        </p:spPr>
        <p:txBody>
          <a:bodyPr wrap="square" lIns="0" tIns="0" rIns="0" bIns="0" rtlCol="0" anchor="ctr"/>
          <a:lstStyle/>
          <a:p>
            <a:pPr indent="0" marL="0">
              <a:buNone/>
            </a:pPr>
            <a:r>
              <a:rPr lang="en-US" sz="1800" dirty="0">
                <a:solidFill>
                  <a:srgbClr val="00A896"/>
                </a:solidFill>
                <a:latin typeface="Calibri" pitchFamily="34" charset="0"/>
                <a:ea typeface="Calibri" pitchFamily="34" charset="-122"/>
                <a:cs typeface="Calibri" pitchFamily="34" charset="-120"/>
              </a:rPr>
              <a:t>Doing the waiting in parallel</a:t>
            </a:r>
            <a:endParaRPr lang="en-US" sz="1800" dirty="0"/>
          </a:p>
        </p:txBody>
      </p:sp>
      <p:sp>
        <p:nvSpPr>
          <p:cNvPr id="5" name="Text 3"/>
          <p:cNvSpPr txBox="1"/>
          <p:nvPr/>
        </p:nvSpPr>
        <p:spPr>
          <a:xfrm>
            <a:off x="841248" y="52578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Mohammed Adnan</a:t>
            </a:r>
            <a:pPr indent="0" marL="0">
              <a:buNone/>
            </a:pPr>
            <a:r>
              <a:rPr lang="en-US" sz="1400" dirty="0">
                <a:solidFill>
                  <a:srgbClr val="7C8FA0"/>
                </a:solidFill>
                <a:latin typeface="Calibri" pitchFamily="34" charset="0"/>
                <a:ea typeface="Calibri" pitchFamily="34" charset="-122"/>
                <a:cs typeface="Calibri" pitchFamily="34" charset="-120"/>
              </a:rPr>
              <a:t>   ·   Trine University   ·   Java</a:t>
            </a:r>
            <a:endParaRPr lang="en-US" sz="1400" dirty="0"/>
          </a:p>
        </p:txBody>
      </p:sp>
      <p:sp>
        <p:nvSpPr>
          <p:cNvPr id="6" name="Shape 4"/>
          <p:cNvSpPr/>
          <p:nvPr/>
        </p:nvSpPr>
        <p:spPr>
          <a:xfrm>
            <a:off x="841248" y="5897880"/>
            <a:ext cx="2377440" cy="118872"/>
          </a:xfrm>
          <a:prstGeom prst="rect">
            <a:avLst/>
          </a:prstGeom>
          <a:solidFill>
            <a:srgbClr val="6B7C8C"/>
          </a:solidFill>
          <a:ln/>
        </p:spPr>
      </p:sp>
      <p:sp>
        <p:nvSpPr>
          <p:cNvPr id="7" name="Shape 5"/>
          <p:cNvSpPr/>
          <p:nvPr/>
        </p:nvSpPr>
        <p:spPr>
          <a:xfrm>
            <a:off x="841248" y="6172200"/>
            <a:ext cx="237744" cy="118872"/>
          </a:xfrm>
          <a:prstGeom prst="rect">
            <a:avLst/>
          </a:prstGeom>
          <a:solidFill>
            <a:srgbClr val="00A896"/>
          </a:solidFill>
          <a:ln/>
        </p:spPr>
      </p:sp>
      <p:sp>
        <p:nvSpPr>
          <p:cNvPr id="8" name="Shape 6"/>
          <p:cNvSpPr/>
          <p:nvPr/>
        </p:nvSpPr>
        <p:spPr>
          <a:xfrm>
            <a:off x="1152144" y="6172200"/>
            <a:ext cx="237744" cy="118872"/>
          </a:xfrm>
          <a:prstGeom prst="rect">
            <a:avLst/>
          </a:prstGeom>
          <a:solidFill>
            <a:srgbClr val="00A896"/>
          </a:solidFill>
          <a:ln/>
        </p:spPr>
      </p:sp>
      <p:sp>
        <p:nvSpPr>
          <p:cNvPr id="9" name="Shape 7"/>
          <p:cNvSpPr/>
          <p:nvPr/>
        </p:nvSpPr>
        <p:spPr>
          <a:xfrm>
            <a:off x="1463040" y="6172200"/>
            <a:ext cx="237744" cy="118872"/>
          </a:xfrm>
          <a:prstGeom prst="rect">
            <a:avLst/>
          </a:prstGeom>
          <a:solidFill>
            <a:srgbClr val="00A896"/>
          </a:solidFill>
          <a:ln/>
        </p:spPr>
      </p:sp>
      <p:sp>
        <p:nvSpPr>
          <p:cNvPr id="10" name="Shape 8"/>
          <p:cNvSpPr/>
          <p:nvPr/>
        </p:nvSpPr>
        <p:spPr>
          <a:xfrm>
            <a:off x="1773936" y="6172200"/>
            <a:ext cx="237744" cy="118872"/>
          </a:xfrm>
          <a:prstGeom prst="rect">
            <a:avLst/>
          </a:prstGeom>
          <a:solidFill>
            <a:srgbClr val="00A896"/>
          </a:solidFill>
          <a:ln/>
        </p:spPr>
      </p:sp>
      <p:sp>
        <p:nvSpPr>
          <p:cNvPr id="11" name="Shape 9"/>
          <p:cNvSpPr/>
          <p:nvPr/>
        </p:nvSpPr>
        <p:spPr>
          <a:xfrm>
            <a:off x="2084832" y="6172200"/>
            <a:ext cx="237744" cy="118872"/>
          </a:xfrm>
          <a:prstGeom prst="rect">
            <a:avLst/>
          </a:prstGeom>
          <a:solidFill>
            <a:srgbClr val="00A896"/>
          </a:solidFill>
          <a:ln/>
        </p:spPr>
      </p:sp>
      <p:sp>
        <p:nvSpPr>
          <p:cNvPr id="12" name="Shape 10"/>
          <p:cNvSpPr/>
          <p:nvPr/>
        </p:nvSpPr>
        <p:spPr>
          <a:xfrm>
            <a:off x="2395728" y="6172200"/>
            <a:ext cx="237744" cy="118872"/>
          </a:xfrm>
          <a:prstGeom prst="rect">
            <a:avLst/>
          </a:prstGeom>
          <a:solidFill>
            <a:srgbClr val="00A896"/>
          </a:solidFill>
          <a:ln/>
        </p:spPr>
      </p:sp>
      <p:sp>
        <p:nvSpPr>
          <p:cNvPr id="13" name="Shape 11"/>
          <p:cNvSpPr/>
          <p:nvPr/>
        </p:nvSpPr>
        <p:spPr>
          <a:xfrm>
            <a:off x="2706624" y="6172200"/>
            <a:ext cx="237744" cy="118872"/>
          </a:xfrm>
          <a:prstGeom prst="rect">
            <a:avLst/>
          </a:prstGeom>
          <a:solidFill>
            <a:srgbClr val="00A896"/>
          </a:solidFill>
          <a:ln/>
        </p:spPr>
      </p:sp>
      <p:sp>
        <p:nvSpPr>
          <p:cNvPr id="14" name="Shape 12"/>
          <p:cNvSpPr/>
          <p:nvPr/>
        </p:nvSpPr>
        <p:spPr>
          <a:xfrm>
            <a:off x="3017520" y="6172200"/>
            <a:ext cx="237744" cy="118872"/>
          </a:xfrm>
          <a:prstGeom prst="rect">
            <a:avLst/>
          </a:prstGeom>
          <a:solidFill>
            <a:srgbClr val="00A89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A blocked thread is not slow. It is asleep.</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Downloading an 8 MB file over one connection, from a server that limits each connection to 0.4 MB/s:</a:t>
            </a:r>
            <a:endParaRPr lang="en-US" sz="1500" dirty="0"/>
          </a:p>
        </p:txBody>
      </p:sp>
      <p:sp>
        <p:nvSpPr>
          <p:cNvPr id="4" name="Shape 2"/>
          <p:cNvSpPr/>
          <p:nvPr/>
        </p:nvSpPr>
        <p:spPr>
          <a:xfrm>
            <a:off x="621792" y="1965960"/>
            <a:ext cx="10927080" cy="1371600"/>
          </a:xfrm>
          <a:prstGeom prst="roundRect">
            <a:avLst>
              <a:gd name="adj" fmla="val 4000"/>
            </a:avLst>
          </a:prstGeom>
          <a:solidFill>
            <a:srgbClr val="F1F5F8"/>
          </a:solidFill>
          <a:ln w="12700">
            <a:solidFill>
              <a:srgbClr val="F1F5F8"/>
            </a:solidFill>
            <a:prstDash val="solid"/>
          </a:ln>
        </p:spPr>
      </p:sp>
      <p:sp>
        <p:nvSpPr>
          <p:cNvPr id="5" name="Shape 3"/>
          <p:cNvSpPr/>
          <p:nvPr/>
        </p:nvSpPr>
        <p:spPr>
          <a:xfrm>
            <a:off x="868680" y="2331720"/>
            <a:ext cx="10424160" cy="640080"/>
          </a:xfrm>
          <a:prstGeom prst="roundRect">
            <a:avLst>
              <a:gd name="adj" fmla="val 10000"/>
            </a:avLst>
          </a:prstGeom>
          <a:solidFill>
            <a:srgbClr val="6B7C8C"/>
          </a:solidFill>
          <a:ln w="12700">
            <a:solidFill>
              <a:srgbClr val="6B7C8C"/>
            </a:solidFill>
            <a:prstDash val="solid"/>
          </a:ln>
        </p:spPr>
      </p:sp>
      <p:sp>
        <p:nvSpPr>
          <p:cNvPr id="6" name="Text 4"/>
          <p:cNvSpPr txBox="1"/>
          <p:nvPr/>
        </p:nvSpPr>
        <p:spPr>
          <a:xfrm>
            <a:off x="868680" y="2331720"/>
            <a:ext cx="104241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main  —  parked in read()  —  20.3 seconds</a:t>
            </a:r>
            <a:endParaRPr lang="en-US" sz="1400" dirty="0"/>
          </a:p>
        </p:txBody>
      </p:sp>
      <p:sp>
        <p:nvSpPr>
          <p:cNvPr id="7" name="Text 5"/>
          <p:cNvSpPr txBox="1"/>
          <p:nvPr/>
        </p:nvSpPr>
        <p:spPr>
          <a:xfrm>
            <a:off x="62179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0%</a:t>
            </a:r>
            <a:endParaRPr lang="en-US" sz="5400" dirty="0"/>
          </a:p>
        </p:txBody>
      </p:sp>
      <p:sp>
        <p:nvSpPr>
          <p:cNvPr id="8" name="Text 6"/>
          <p:cNvSpPr txBox="1"/>
          <p:nvPr/>
        </p:nvSpPr>
        <p:spPr>
          <a:xfrm>
            <a:off x="62179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CPU used while it waits</a:t>
            </a:r>
            <a:endParaRPr lang="en-US" sz="1400" dirty="0"/>
          </a:p>
        </p:txBody>
      </p:sp>
      <p:sp>
        <p:nvSpPr>
          <p:cNvPr id="9" name="Text 7"/>
          <p:cNvSpPr txBox="1"/>
          <p:nvPr/>
        </p:nvSpPr>
        <p:spPr>
          <a:xfrm>
            <a:off x="437083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~1 MB</a:t>
            </a:r>
            <a:endParaRPr lang="en-US" sz="5400" dirty="0"/>
          </a:p>
        </p:txBody>
      </p:sp>
      <p:sp>
        <p:nvSpPr>
          <p:cNvPr id="10" name="Text 8"/>
          <p:cNvSpPr txBox="1"/>
          <p:nvPr/>
        </p:nvSpPr>
        <p:spPr>
          <a:xfrm>
            <a:off x="437083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stack held the whole time</a:t>
            </a:r>
            <a:endParaRPr lang="en-US" sz="1400" dirty="0"/>
          </a:p>
        </p:txBody>
      </p:sp>
      <p:sp>
        <p:nvSpPr>
          <p:cNvPr id="11" name="Text 9"/>
          <p:cNvSpPr txBox="1"/>
          <p:nvPr/>
        </p:nvSpPr>
        <p:spPr>
          <a:xfrm>
            <a:off x="8119872" y="3794760"/>
            <a:ext cx="3474720" cy="914400"/>
          </a:xfrm>
          <a:prstGeom prst="rect">
            <a:avLst/>
          </a:prstGeom>
          <a:noFill/>
          <a:ln/>
        </p:spPr>
        <p:txBody>
          <a:bodyPr wrap="square" lIns="0" tIns="0" rIns="0" bIns="0" rtlCol="0" anchor="ctr"/>
          <a:lstStyle/>
          <a:p>
            <a:pPr indent="0" marL="0">
              <a:buNone/>
            </a:pPr>
            <a:r>
              <a:rPr lang="en-US" sz="5400" b="1" dirty="0">
                <a:solidFill>
                  <a:srgbClr val="D9534F"/>
                </a:solidFill>
                <a:latin typeface="Cambria" pitchFamily="34" charset="0"/>
                <a:ea typeface="Cambria" pitchFamily="34" charset="-122"/>
                <a:cs typeface="Cambria" pitchFamily="34" charset="-120"/>
              </a:rPr>
              <a:t>20.3 s</a:t>
            </a:r>
            <a:endParaRPr lang="en-US" sz="5400" dirty="0"/>
          </a:p>
        </p:txBody>
      </p:sp>
      <p:sp>
        <p:nvSpPr>
          <p:cNvPr id="12" name="Text 10"/>
          <p:cNvSpPr txBox="1"/>
          <p:nvPr/>
        </p:nvSpPr>
        <p:spPr>
          <a:xfrm>
            <a:off x="811987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doing precisely nothing</a:t>
            </a:r>
            <a:endParaRPr lang="en-US" sz="1400" dirty="0"/>
          </a:p>
        </p:txBody>
      </p:sp>
      <p:sp>
        <p:nvSpPr>
          <p:cNvPr id="13" name="Shape 11"/>
          <p:cNvSpPr/>
          <p:nvPr/>
        </p:nvSpPr>
        <p:spPr>
          <a:xfrm>
            <a:off x="621792" y="5257800"/>
            <a:ext cx="82296" cy="82296"/>
          </a:xfrm>
          <a:prstGeom prst="ellipse">
            <a:avLst/>
          </a:prstGeom>
          <a:solidFill>
            <a:srgbClr val="00A896"/>
          </a:solidFill>
          <a:ln/>
        </p:spPr>
      </p:sp>
      <p:sp>
        <p:nvSpPr>
          <p:cNvPr id="14" name="Text 12"/>
          <p:cNvSpPr txBox="1"/>
          <p:nvPr/>
        </p:nvSpPr>
        <p:spPr>
          <a:xfrm>
            <a:off x="859536" y="5138928"/>
            <a:ext cx="1064361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The thread is not slow. It is parked in a system call, waiting for bytes, doing nothing at all.</a:t>
            </a:r>
            <a:endParaRPr lang="en-US" sz="1400" dirty="0"/>
          </a:p>
        </p:txBody>
      </p:sp>
      <p:sp>
        <p:nvSpPr>
          <p:cNvPr id="15" name="Shape 13"/>
          <p:cNvSpPr/>
          <p:nvPr/>
        </p:nvSpPr>
        <p:spPr>
          <a:xfrm>
            <a:off x="621792" y="5824728"/>
            <a:ext cx="82296" cy="82296"/>
          </a:xfrm>
          <a:prstGeom prst="ellipse">
            <a:avLst/>
          </a:prstGeom>
          <a:solidFill>
            <a:srgbClr val="00A896"/>
          </a:solidFill>
          <a:ln/>
        </p:spPr>
      </p:sp>
      <p:sp>
        <p:nvSpPr>
          <p:cNvPr id="16" name="Text 14"/>
          <p:cNvSpPr txBox="1"/>
          <p:nvPr/>
        </p:nvSpPr>
        <p:spPr>
          <a:xfrm>
            <a:off x="859536" y="5705856"/>
            <a:ext cx="1064361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A faster processor changes none of this, because no processing is happening in the first place.</a:t>
            </a:r>
            <a:endParaRPr lang="en-US" sz="1400" dirty="0"/>
          </a:p>
        </p:txBody>
      </p:sp>
      <p:sp>
        <p:nvSpPr>
          <p:cNvPr id="17" name="Text 15"/>
          <p:cNvSpPr txBox="1"/>
          <p:nvPr/>
        </p:nvSpPr>
        <p:spPr>
          <a:xfrm>
            <a:off x="621792" y="6272784"/>
            <a:ext cx="10881360" cy="411480"/>
          </a:xfrm>
          <a:prstGeom prst="rect">
            <a:avLst/>
          </a:prstGeom>
          <a:noFill/>
          <a:ln/>
        </p:spPr>
        <p:txBody>
          <a:bodyPr wrap="square" lIns="0" tIns="0" rIns="0" bIns="0" rtlCol="0" anchor="ctr"/>
          <a:lstStyle/>
          <a:p>
            <a:pPr indent="0" marL="0">
              <a:buNone/>
            </a:pPr>
            <a:r>
              <a:rPr lang="en-US" sz="1900" b="1" i="1" dirty="0">
                <a:solidFill>
                  <a:srgbClr val="00776B"/>
                </a:solidFill>
                <a:latin typeface="Cambria" pitchFamily="34" charset="0"/>
                <a:ea typeface="Cambria" pitchFamily="34" charset="-122"/>
                <a:cs typeface="Cambria" pitchFamily="34" charset="-120"/>
              </a:rPr>
              <a:t>This was never a CPU problem, so it cannot have a CPU answer.</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A CompletableFuture is a value that has not arrived yet</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And, more usefully, a written plan for what should happen the moment it does.</a:t>
            </a:r>
            <a:endParaRPr lang="en-US" sz="1500" dirty="0"/>
          </a:p>
        </p:txBody>
      </p:sp>
      <p:sp>
        <p:nvSpPr>
          <p:cNvPr id="4" name="Shape 2"/>
          <p:cNvSpPr/>
          <p:nvPr/>
        </p:nvSpPr>
        <p:spPr>
          <a:xfrm>
            <a:off x="621792" y="1947672"/>
            <a:ext cx="82296" cy="82296"/>
          </a:xfrm>
          <a:prstGeom prst="ellipse">
            <a:avLst/>
          </a:prstGeom>
          <a:solidFill>
            <a:srgbClr val="00A896"/>
          </a:solidFill>
          <a:ln/>
        </p:spPr>
      </p:sp>
      <p:sp>
        <p:nvSpPr>
          <p:cNvPr id="5" name="Text 3"/>
          <p:cNvSpPr txBox="1"/>
          <p:nvPr/>
        </p:nvSpPr>
        <p:spPr>
          <a:xfrm>
            <a:off x="859536" y="1828800"/>
            <a:ext cx="534009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Ordinary code asks for a value and stops until it is handed one. That stopping is the waste we just measured.</a:t>
            </a:r>
            <a:endParaRPr lang="en-US" sz="1400" dirty="0"/>
          </a:p>
        </p:txBody>
      </p:sp>
      <p:sp>
        <p:nvSpPr>
          <p:cNvPr id="6" name="Shape 4"/>
          <p:cNvSpPr/>
          <p:nvPr/>
        </p:nvSpPr>
        <p:spPr>
          <a:xfrm>
            <a:off x="621792" y="2514600"/>
            <a:ext cx="82296" cy="82296"/>
          </a:xfrm>
          <a:prstGeom prst="ellipse">
            <a:avLst/>
          </a:prstGeom>
          <a:solidFill>
            <a:srgbClr val="00A896"/>
          </a:solidFill>
          <a:ln/>
        </p:spPr>
      </p:sp>
      <p:sp>
        <p:nvSpPr>
          <p:cNvPr id="7" name="Text 5"/>
          <p:cNvSpPr txBox="1"/>
          <p:nvPr/>
        </p:nvSpPr>
        <p:spPr>
          <a:xfrm>
            <a:off x="859536" y="2395728"/>
            <a:ext cx="534009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A CompletableFuture hands you the box immediately, empty, while the work continues somewhere else.</a:t>
            </a:r>
            <a:endParaRPr lang="en-US" sz="1400" dirty="0"/>
          </a:p>
        </p:txBody>
      </p:sp>
      <p:sp>
        <p:nvSpPr>
          <p:cNvPr id="8" name="Shape 6"/>
          <p:cNvSpPr/>
          <p:nvPr/>
        </p:nvSpPr>
        <p:spPr>
          <a:xfrm>
            <a:off x="621792" y="3081528"/>
            <a:ext cx="82296" cy="82296"/>
          </a:xfrm>
          <a:prstGeom prst="ellipse">
            <a:avLst/>
          </a:prstGeom>
          <a:solidFill>
            <a:srgbClr val="00A896"/>
          </a:solidFill>
          <a:ln/>
        </p:spPr>
      </p:sp>
      <p:sp>
        <p:nvSpPr>
          <p:cNvPr id="9" name="Text 7"/>
          <p:cNvSpPr txBox="1"/>
          <p:nvPr/>
        </p:nvSpPr>
        <p:spPr>
          <a:xfrm>
            <a:off x="859536" y="2962656"/>
            <a:ext cx="534009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You then describe the rest of the job on that box: transform it, combine it with another, recover if it fails.</a:t>
            </a:r>
            <a:endParaRPr lang="en-US" sz="1400" dirty="0"/>
          </a:p>
        </p:txBody>
      </p:sp>
      <p:sp>
        <p:nvSpPr>
          <p:cNvPr id="10" name="Shape 8"/>
          <p:cNvSpPr/>
          <p:nvPr/>
        </p:nvSpPr>
        <p:spPr>
          <a:xfrm>
            <a:off x="621792" y="3648456"/>
            <a:ext cx="82296" cy="82296"/>
          </a:xfrm>
          <a:prstGeom prst="ellipse">
            <a:avLst/>
          </a:prstGeom>
          <a:solidFill>
            <a:srgbClr val="00A896"/>
          </a:solidFill>
          <a:ln/>
        </p:spPr>
      </p:sp>
      <p:sp>
        <p:nvSpPr>
          <p:cNvPr id="11" name="Text 9"/>
          <p:cNvSpPr txBox="1"/>
          <p:nvPr/>
        </p:nvSpPr>
        <p:spPr>
          <a:xfrm>
            <a:off x="859536" y="3529584"/>
            <a:ext cx="534009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None of that description runs yet. You are writing instructions for a value you do not have.</a:t>
            </a:r>
            <a:endParaRPr lang="en-US" sz="1400" dirty="0"/>
          </a:p>
        </p:txBody>
      </p:sp>
      <p:sp>
        <p:nvSpPr>
          <p:cNvPr id="12" name="Shape 10"/>
          <p:cNvSpPr/>
          <p:nvPr/>
        </p:nvSpPr>
        <p:spPr>
          <a:xfrm>
            <a:off x="621792" y="4215384"/>
            <a:ext cx="82296" cy="82296"/>
          </a:xfrm>
          <a:prstGeom prst="ellipse">
            <a:avLst/>
          </a:prstGeom>
          <a:solidFill>
            <a:srgbClr val="00A896"/>
          </a:solidFill>
          <a:ln/>
        </p:spPr>
      </p:sp>
      <p:sp>
        <p:nvSpPr>
          <p:cNvPr id="13" name="Text 11"/>
          <p:cNvSpPr txBox="1"/>
          <p:nvPr/>
        </p:nvSpPr>
        <p:spPr>
          <a:xfrm>
            <a:off x="859536" y="4096512"/>
            <a:ext cx="5340096" cy="530352"/>
          </a:xfrm>
          <a:prstGeom prst="rect">
            <a:avLst/>
          </a:prstGeom>
          <a:noFill/>
          <a:ln/>
        </p:spPr>
        <p:txBody>
          <a:bodyPr wrap="square" lIns="0" tIns="0" rIns="0" bIns="0" rtlCol="0" anchor="t"/>
          <a:lstStyle/>
          <a:p>
            <a:pPr indent="0" marL="0">
              <a:buNone/>
            </a:pPr>
            <a:r>
              <a:rPr lang="en-US" sz="1400" dirty="0">
                <a:solidFill>
                  <a:srgbClr val="16232E"/>
                </a:solidFill>
                <a:latin typeface="Calibri" pitchFamily="34" charset="0"/>
                <a:ea typeface="Calibri" pitchFamily="34" charset="-122"/>
                <a:cs typeface="Calibri" pitchFamily="34" charset="-120"/>
              </a:rPr>
              <a:t>Only at the very end do you ask for the result, and by then it is usually already there.</a:t>
            </a:r>
            <a:endParaRPr lang="en-US" sz="1400" dirty="0"/>
          </a:p>
        </p:txBody>
      </p:sp>
      <p:sp>
        <p:nvSpPr>
          <p:cNvPr id="14" name="Shape 12"/>
          <p:cNvSpPr/>
          <p:nvPr/>
        </p:nvSpPr>
        <p:spPr>
          <a:xfrm>
            <a:off x="6492240" y="1828800"/>
            <a:ext cx="5056632" cy="2148840"/>
          </a:xfrm>
          <a:prstGeom prst="roundRect">
            <a:avLst>
              <a:gd name="adj" fmla="val 2553"/>
            </a:avLst>
          </a:prstGeom>
          <a:solidFill>
            <a:srgbClr val="0D1F31"/>
          </a:solidFill>
          <a:ln w="12700">
            <a:solidFill>
              <a:srgbClr val="0D1F31"/>
            </a:solidFill>
            <a:prstDash val="solid"/>
          </a:ln>
        </p:spPr>
      </p:sp>
      <p:sp>
        <p:nvSpPr>
          <p:cNvPr id="15" name="Text 13"/>
          <p:cNvSpPr txBox="1"/>
          <p:nvPr/>
        </p:nvSpPr>
        <p:spPr>
          <a:xfrm>
            <a:off x="6693408" y="1975104"/>
            <a:ext cx="4654296" cy="1856232"/>
          </a:xfrm>
          <a:prstGeom prst="rect">
            <a:avLst/>
          </a:prstGeom>
          <a:noFill/>
          <a:ln/>
        </p:spPr>
        <p:txBody>
          <a:bodyPr wrap="square" lIns="0" tIns="0" rIns="0" bIns="0" rtlCol="0" anchor="t"/>
          <a:lstStyle/>
          <a:p>
            <a:pPr indent="0" marL="0">
              <a:lnSpc>
                <a:spcPct val="118000"/>
              </a:lnSpc>
              <a:buNone/>
            </a:pPr>
            <a:r>
              <a:rPr lang="en-US" sz="1300" dirty="0">
                <a:solidFill>
                  <a:srgbClr val="6B8199"/>
                </a:solidFill>
                <a:latin typeface="Courier New" pitchFamily="34" charset="0"/>
                <a:ea typeface="Courier New" pitchFamily="34" charset="-122"/>
                <a:cs typeface="Courier New" pitchFamily="34" charset="-120"/>
              </a:rPr>
              <a:t>// hand me the box now</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var f = </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supplyAsync</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(this::fetch, pool);</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 </a:t>
            </a:r>
            <a:endParaRPr lang="en-US" sz="1300" dirty="0"/>
          </a:p>
          <a:p>
            <a:pPr indent="0" marL="0">
              <a:lnSpc>
                <a:spcPct val="118000"/>
              </a:lnSpc>
              <a:buNone/>
            </a:pPr>
            <a:r>
              <a:rPr lang="en-US" sz="1300" dirty="0">
                <a:solidFill>
                  <a:srgbClr val="6B8199"/>
                </a:solidFill>
                <a:latin typeface="Courier New" pitchFamily="34" charset="0"/>
                <a:ea typeface="Courier New" pitchFamily="34" charset="-122"/>
                <a:cs typeface="Courier New" pitchFamily="34" charset="-120"/>
              </a:rPr>
              <a:t>// what to do when it fills</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f.</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thenApply</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(this::decode)</a:t>
            </a:r>
            <a:endParaRPr lang="en-US" sz="1300" dirty="0"/>
          </a:p>
          <a:p>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300" dirty="0">
                <a:solidFill>
                  <a:srgbClr val="00A896"/>
                </a:solidFill>
                <a:latin typeface="Courier New" pitchFamily="34" charset="0"/>
                <a:ea typeface="Courier New" pitchFamily="34" charset="-122"/>
                <a:cs typeface="Courier New" pitchFamily="34" charset="-120"/>
              </a:rPr>
              <a:t>thenAccept</a:t>
            </a:r>
            <a:pPr indent="0" marL="0">
              <a:lnSpc>
                <a:spcPct val="118000"/>
              </a:lnSpc>
              <a:buNone/>
            </a:pPr>
            <a:r>
              <a:rPr lang="en-US" sz="1300" dirty="0">
                <a:solidFill>
                  <a:srgbClr val="C9D6E0"/>
                </a:solidFill>
                <a:latin typeface="Courier New" pitchFamily="34" charset="0"/>
                <a:ea typeface="Courier New" pitchFamily="34" charset="-122"/>
                <a:cs typeface="Courier New" pitchFamily="34" charset="-120"/>
              </a:rPr>
              <a:t>(this::show);</a:t>
            </a:r>
            <a:endParaRPr lang="en-US" sz="1300" dirty="0"/>
          </a:p>
        </p:txBody>
      </p:sp>
      <p:sp>
        <p:nvSpPr>
          <p:cNvPr id="16" name="Shape 14"/>
          <p:cNvSpPr/>
          <p:nvPr/>
        </p:nvSpPr>
        <p:spPr>
          <a:xfrm>
            <a:off x="6492240" y="4224528"/>
            <a:ext cx="5056632" cy="1600200"/>
          </a:xfrm>
          <a:prstGeom prst="roundRect">
            <a:avLst>
              <a:gd name="adj" fmla="val 3429"/>
            </a:avLst>
          </a:prstGeom>
          <a:solidFill>
            <a:srgbClr val="F1F5F8"/>
          </a:solidFill>
          <a:ln w="12700">
            <a:solidFill>
              <a:srgbClr val="F1F5F8"/>
            </a:solidFill>
            <a:prstDash val="solid"/>
          </a:ln>
        </p:spPr>
      </p:sp>
      <p:sp>
        <p:nvSpPr>
          <p:cNvPr id="17" name="Text 15"/>
          <p:cNvSpPr txBox="1"/>
          <p:nvPr/>
        </p:nvSpPr>
        <p:spPr>
          <a:xfrm>
            <a:off x="6766560" y="4389120"/>
            <a:ext cx="4480560" cy="292608"/>
          </a:xfrm>
          <a:prstGeom prst="rect">
            <a:avLst/>
          </a:prstGeom>
          <a:noFill/>
          <a:ln/>
        </p:spPr>
        <p:txBody>
          <a:bodyPr wrap="square" lIns="0" tIns="0" rIns="0" bIns="0" rtlCol="0" anchor="ctr"/>
          <a:lstStyle/>
          <a:p>
            <a:pPr indent="0" marL="0">
              <a:buNone/>
            </a:pPr>
            <a:r>
              <a:rPr lang="en-US" sz="1300" b="1" dirty="0">
                <a:solidFill>
                  <a:srgbClr val="16232E"/>
                </a:solidFill>
                <a:latin typeface="Calibri" pitchFamily="34" charset="0"/>
                <a:ea typeface="Calibri" pitchFamily="34" charset="-122"/>
                <a:cs typeface="Calibri" pitchFamily="34" charset="-120"/>
              </a:rPr>
              <a:t>The shift in thinking</a:t>
            </a:r>
            <a:endParaRPr lang="en-US" sz="1300" dirty="0"/>
          </a:p>
        </p:txBody>
      </p:sp>
      <p:sp>
        <p:nvSpPr>
          <p:cNvPr id="18" name="Text 16"/>
          <p:cNvSpPr txBox="1"/>
          <p:nvPr/>
        </p:nvSpPr>
        <p:spPr>
          <a:xfrm>
            <a:off x="6766560" y="4700016"/>
            <a:ext cx="4526280" cy="1005840"/>
          </a:xfrm>
          <a:prstGeom prst="rect">
            <a:avLst/>
          </a:prstGeom>
          <a:noFill/>
          <a:ln/>
        </p:spPr>
        <p:txBody>
          <a:bodyPr wrap="square" lIns="0" tIns="0" rIns="0" bIns="0" rtlCol="0" anchor="t"/>
          <a:lstStyle/>
          <a:p>
            <a:pPr indent="0" marL="0">
              <a:buNone/>
            </a:pPr>
            <a:r>
              <a:rPr lang="en-US" sz="1300" dirty="0">
                <a:solidFill>
                  <a:srgbClr val="16232E"/>
                </a:solidFill>
                <a:latin typeface="Calibri" pitchFamily="34" charset="0"/>
                <a:ea typeface="Calibri" pitchFamily="34" charset="-122"/>
                <a:cs typeface="Calibri" pitchFamily="34" charset="-120"/>
              </a:rPr>
              <a:t>You stop writing "wait here, then do this" and start writing "when this lands, do this". The thread is free the whole time, so it can be given somebody else’s work.</a:t>
            </a:r>
            <a:endParaRPr lang="en-US" sz="1300" dirty="0"/>
          </a:p>
        </p:txBody>
      </p:sp>
      <p:sp>
        <p:nvSpPr>
          <p:cNvPr id="19" name="Text 17"/>
          <p:cNvSpPr txBox="1"/>
          <p:nvPr/>
        </p:nvSpPr>
        <p:spPr>
          <a:xfrm>
            <a:off x="621792" y="5989320"/>
            <a:ext cx="10927080" cy="45720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One thread can now supervise many jobs, because supervising costs nothing while waiting does.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Future had exactly one move: block</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It could start work and hand you a receipt. It could not describe what happens next — and ten years of that is why CompletableFuture exists.</a:t>
            </a:r>
            <a:endParaRPr lang="en-US" sz="1500" dirty="0"/>
          </a:p>
        </p:txBody>
      </p:sp>
      <p:sp>
        <p:nvSpPr>
          <p:cNvPr id="4" name="Text 2"/>
          <p:cNvSpPr txBox="1"/>
          <p:nvPr/>
        </p:nvSpPr>
        <p:spPr>
          <a:xfrm>
            <a:off x="621792" y="1874520"/>
            <a:ext cx="5120640" cy="274320"/>
          </a:xfrm>
          <a:prstGeom prst="rect">
            <a:avLst/>
          </a:prstGeom>
          <a:noFill/>
          <a:ln/>
        </p:spPr>
        <p:txBody>
          <a:bodyPr wrap="square" lIns="0" tIns="0" rIns="0" bIns="0" rtlCol="0" anchor="ctr"/>
          <a:lstStyle/>
          <a:p>
            <a:pPr indent="0" marL="0">
              <a:buNone/>
            </a:pPr>
            <a:r>
              <a:rPr lang="en-US" sz="1300" b="1" dirty="0">
                <a:solidFill>
                  <a:srgbClr val="6B7C8C"/>
                </a:solidFill>
                <a:latin typeface="Calibri" pitchFamily="34" charset="0"/>
                <a:ea typeface="Calibri" pitchFamily="34" charset="-122"/>
                <a:cs typeface="Calibri" pitchFamily="34" charset="-120"/>
              </a:rPr>
              <a:t>Future  ·  the only move is to block</a:t>
            </a:r>
            <a:endParaRPr lang="en-US" sz="1300" dirty="0"/>
          </a:p>
        </p:txBody>
      </p:sp>
      <p:sp>
        <p:nvSpPr>
          <p:cNvPr id="5" name="Shape 3"/>
          <p:cNvSpPr/>
          <p:nvPr/>
        </p:nvSpPr>
        <p:spPr>
          <a:xfrm>
            <a:off x="621792" y="2212848"/>
            <a:ext cx="5212080" cy="2286000"/>
          </a:xfrm>
          <a:prstGeom prst="roundRect">
            <a:avLst>
              <a:gd name="adj" fmla="val 2400"/>
            </a:avLst>
          </a:prstGeom>
          <a:solidFill>
            <a:srgbClr val="0D1F31"/>
          </a:solidFill>
          <a:ln w="12700">
            <a:solidFill>
              <a:srgbClr val="0D1F31"/>
            </a:solidFill>
            <a:prstDash val="solid"/>
          </a:ln>
        </p:spPr>
      </p:sp>
      <p:sp>
        <p:nvSpPr>
          <p:cNvPr id="6" name="Text 4"/>
          <p:cNvSpPr txBox="1"/>
          <p:nvPr/>
        </p:nvSpPr>
        <p:spPr>
          <a:xfrm>
            <a:off x="822960" y="2359152"/>
            <a:ext cx="4809744" cy="199339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Future&lt;byte[]&gt; f = pool.submit(task);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byte[] data = f.</a:t>
            </a:r>
            <a:pPr indent="0" marL="0">
              <a:lnSpc>
                <a:spcPct val="118000"/>
              </a:lnSpc>
              <a:buNone/>
            </a:pPr>
            <a:r>
              <a:rPr lang="en-US" sz="1250" dirty="0">
                <a:solidFill>
                  <a:srgbClr val="D9534F"/>
                </a:solidFill>
                <a:latin typeface="Courier New" pitchFamily="34" charset="0"/>
                <a:ea typeface="Courier New" pitchFamily="34" charset="-122"/>
                <a:cs typeface="Courier New" pitchFamily="34" charset="-120"/>
              </a:rPr>
              <a:t>get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a:t>
            </a:r>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 blocks. that is it.</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want to chain? transform?</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recover? combine two?</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write it yourself.</a:t>
            </a:r>
            <a:endParaRPr lang="en-US" sz="1250" dirty="0"/>
          </a:p>
        </p:txBody>
      </p:sp>
      <p:sp>
        <p:nvSpPr>
          <p:cNvPr id="7" name="Text 5"/>
          <p:cNvSpPr txBox="1"/>
          <p:nvPr/>
        </p:nvSpPr>
        <p:spPr>
          <a:xfrm>
            <a:off x="621792" y="4617720"/>
            <a:ext cx="5212080" cy="457200"/>
          </a:xfrm>
          <a:prstGeom prst="rect">
            <a:avLst/>
          </a:prstGeom>
          <a:noFill/>
          <a:ln/>
        </p:spPr>
        <p:txBody>
          <a:bodyPr wrap="square" lIns="0" tIns="0" rIns="0" bIns="0" rtlCol="0" anchor="t"/>
          <a:lstStyle/>
          <a:p>
            <a:pPr indent="0" marL="0">
              <a:buNone/>
            </a:pPr>
            <a:r>
              <a:rPr lang="en-US" sz="1250" i="1" dirty="0">
                <a:solidFill>
                  <a:srgbClr val="7C8FA0"/>
                </a:solidFill>
                <a:latin typeface="Calibri" pitchFamily="34" charset="0"/>
                <a:ea typeface="Calibri" pitchFamily="34" charset="-122"/>
                <a:cs typeface="Calibri" pitchFamily="34" charset="-120"/>
              </a:rPr>
              <a:t>isDone() and get() — a handle on work, with no way to say what happens when it lands.</a:t>
            </a:r>
            <a:endParaRPr lang="en-US" sz="1250" dirty="0"/>
          </a:p>
        </p:txBody>
      </p:sp>
      <p:sp>
        <p:nvSpPr>
          <p:cNvPr id="8" name="Text 6"/>
          <p:cNvSpPr txBox="1"/>
          <p:nvPr/>
        </p:nvSpPr>
        <p:spPr>
          <a:xfrm>
            <a:off x="6355080"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CompletableFuture  ·  describe the whole pipeline</a:t>
            </a:r>
            <a:endParaRPr lang="en-US" sz="1300" dirty="0"/>
          </a:p>
        </p:txBody>
      </p:sp>
      <p:sp>
        <p:nvSpPr>
          <p:cNvPr id="9" name="Shape 7"/>
          <p:cNvSpPr/>
          <p:nvPr/>
        </p:nvSpPr>
        <p:spPr>
          <a:xfrm>
            <a:off x="6355080" y="2212848"/>
            <a:ext cx="5193792" cy="2286000"/>
          </a:xfrm>
          <a:prstGeom prst="roundRect">
            <a:avLst>
              <a:gd name="adj" fmla="val 2400"/>
            </a:avLst>
          </a:prstGeom>
          <a:solidFill>
            <a:srgbClr val="0D1F31"/>
          </a:solidFill>
          <a:ln w="12700">
            <a:solidFill>
              <a:srgbClr val="0D1F31"/>
            </a:solidFill>
            <a:prstDash val="solid"/>
          </a:ln>
        </p:spPr>
      </p:sp>
      <p:sp>
        <p:nvSpPr>
          <p:cNvPr id="10" name="Text 8"/>
          <p:cNvSpPr txBox="1"/>
          <p:nvPr/>
        </p:nvSpPr>
        <p:spPr>
          <a:xfrm>
            <a:off x="6556248" y="2359152"/>
            <a:ext cx="4791456" cy="199339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supplyAsync</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(task, pool)</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thenApply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(this::decode)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(other, Pair::of)</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exceptionally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(e -&gt; fallback)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orTimeout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(3, SECONDS);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nothing has blocked yet.</a:t>
            </a:r>
            <a:endParaRPr lang="en-US" sz="1250" dirty="0"/>
          </a:p>
        </p:txBody>
      </p:sp>
      <p:sp>
        <p:nvSpPr>
          <p:cNvPr id="11" name="Text 9"/>
          <p:cNvSpPr txBox="1"/>
          <p:nvPr/>
        </p:nvSpPr>
        <p:spPr>
          <a:xfrm>
            <a:off x="6355080" y="4617720"/>
            <a:ext cx="5193792" cy="457200"/>
          </a:xfrm>
          <a:prstGeom prst="rect">
            <a:avLst/>
          </a:prstGeom>
          <a:noFill/>
          <a:ln/>
        </p:spPr>
        <p:txBody>
          <a:bodyPr wrap="square" lIns="0" tIns="0" rIns="0" bIns="0" rtlCol="0" anchor="t"/>
          <a:lstStyle/>
          <a:p>
            <a:pPr indent="0" marL="0">
              <a:buNone/>
            </a:pPr>
            <a:r>
              <a:rPr lang="en-US" sz="1250" i="1" dirty="0">
                <a:solidFill>
                  <a:srgbClr val="00776B"/>
                </a:solidFill>
                <a:latin typeface="Calibri" pitchFamily="34" charset="0"/>
                <a:ea typeface="Calibri" pitchFamily="34" charset="-122"/>
                <a:cs typeface="Calibri" pitchFamily="34" charset="-120"/>
              </a:rPr>
              <a:t>A plan, written before the data exists. You block once, at the very end — if at all.</a:t>
            </a:r>
            <a:endParaRPr lang="en-US" sz="1250" dirty="0"/>
          </a:p>
        </p:txBody>
      </p:sp>
      <p:sp>
        <p:nvSpPr>
          <p:cNvPr id="12" name="Text 10"/>
          <p:cNvSpPr txBox="1"/>
          <p:nvPr/>
        </p:nvSpPr>
        <p:spPr>
          <a:xfrm>
            <a:off x="621792" y="5715000"/>
            <a:ext cx="10927080" cy="45720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Every method on the right exists because somebody had to hand-write it on the left, in every project, usually wrong.</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Fan out, then fan in</a:t>
            </a:r>
            <a:endParaRPr lang="en-US" sz="3300" dirty="0"/>
          </a:p>
        </p:txBody>
      </p:sp>
      <p:sp>
        <p:nvSpPr>
          <p:cNvPr id="3" name="Shape 1"/>
          <p:cNvSpPr/>
          <p:nvPr/>
        </p:nvSpPr>
        <p:spPr>
          <a:xfrm>
            <a:off x="621792" y="2606040"/>
            <a:ext cx="2286000" cy="1371600"/>
          </a:xfrm>
          <a:prstGeom prst="roundRect">
            <a:avLst>
              <a:gd name="adj" fmla="val 4000"/>
            </a:avLst>
          </a:prstGeom>
          <a:solidFill>
            <a:srgbClr val="16293D"/>
          </a:solidFill>
          <a:ln w="12700">
            <a:solidFill>
              <a:srgbClr val="16293D"/>
            </a:solidFill>
            <a:prstDash val="solid"/>
          </a:ln>
        </p:spPr>
      </p:sp>
      <p:sp>
        <p:nvSpPr>
          <p:cNvPr id="4" name="Text 2"/>
          <p:cNvSpPr txBox="1"/>
          <p:nvPr/>
        </p:nvSpPr>
        <p:spPr>
          <a:xfrm>
            <a:off x="621792" y="2606040"/>
            <a:ext cx="2286000"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8 MB file</a:t>
            </a:r>
            <a:endParaRPr lang="en-US" sz="1400" dirty="0"/>
          </a:p>
        </p:txBody>
      </p:sp>
      <p:sp>
        <p:nvSpPr>
          <p:cNvPr id="5" name="Text 3"/>
          <p:cNvSpPr txBox="1"/>
          <p:nvPr/>
        </p:nvSpPr>
        <p:spPr>
          <a:xfrm>
            <a:off x="301752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6" name="Text 4"/>
          <p:cNvSpPr txBox="1"/>
          <p:nvPr/>
        </p:nvSpPr>
        <p:spPr>
          <a:xfrm>
            <a:off x="2697480" y="3675888"/>
            <a:ext cx="146304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supplyAsync</a:t>
            </a:r>
            <a:endParaRPr lang="en-US" sz="1100" dirty="0"/>
          </a:p>
        </p:txBody>
      </p:sp>
      <p:sp>
        <p:nvSpPr>
          <p:cNvPr id="7" name="Shape 5"/>
          <p:cNvSpPr/>
          <p:nvPr/>
        </p:nvSpPr>
        <p:spPr>
          <a:xfrm>
            <a:off x="4114800" y="1572768"/>
            <a:ext cx="3291840" cy="347472"/>
          </a:xfrm>
          <a:prstGeom prst="roundRect">
            <a:avLst>
              <a:gd name="adj" fmla="val 13158"/>
            </a:avLst>
          </a:prstGeom>
          <a:solidFill>
            <a:srgbClr val="00A896"/>
          </a:solidFill>
          <a:ln w="12700">
            <a:solidFill>
              <a:srgbClr val="00A896"/>
            </a:solidFill>
            <a:prstDash val="solid"/>
          </a:ln>
        </p:spPr>
      </p:sp>
      <p:sp>
        <p:nvSpPr>
          <p:cNvPr id="8" name="Text 6"/>
          <p:cNvSpPr txBox="1"/>
          <p:nvPr/>
        </p:nvSpPr>
        <p:spPr>
          <a:xfrm>
            <a:off x="4114800" y="1572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0–1048575</a:t>
            </a:r>
            <a:endParaRPr lang="en-US" sz="1000" dirty="0"/>
          </a:p>
        </p:txBody>
      </p:sp>
      <p:sp>
        <p:nvSpPr>
          <p:cNvPr id="9" name="Shape 7"/>
          <p:cNvSpPr/>
          <p:nvPr/>
        </p:nvSpPr>
        <p:spPr>
          <a:xfrm>
            <a:off x="4114800" y="2029968"/>
            <a:ext cx="3291840" cy="347472"/>
          </a:xfrm>
          <a:prstGeom prst="roundRect">
            <a:avLst>
              <a:gd name="adj" fmla="val 13158"/>
            </a:avLst>
          </a:prstGeom>
          <a:solidFill>
            <a:srgbClr val="00A896"/>
          </a:solidFill>
          <a:ln w="12700">
            <a:solidFill>
              <a:srgbClr val="00A896"/>
            </a:solidFill>
            <a:prstDash val="solid"/>
          </a:ln>
        </p:spPr>
      </p:sp>
      <p:sp>
        <p:nvSpPr>
          <p:cNvPr id="10" name="Text 8"/>
          <p:cNvSpPr txBox="1"/>
          <p:nvPr/>
        </p:nvSpPr>
        <p:spPr>
          <a:xfrm>
            <a:off x="4114800" y="2029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1048576–2097151</a:t>
            </a:r>
            <a:endParaRPr lang="en-US" sz="1000" dirty="0"/>
          </a:p>
        </p:txBody>
      </p:sp>
      <p:sp>
        <p:nvSpPr>
          <p:cNvPr id="11" name="Shape 9"/>
          <p:cNvSpPr/>
          <p:nvPr/>
        </p:nvSpPr>
        <p:spPr>
          <a:xfrm>
            <a:off x="4114800" y="2487168"/>
            <a:ext cx="3291840" cy="347472"/>
          </a:xfrm>
          <a:prstGeom prst="roundRect">
            <a:avLst>
              <a:gd name="adj" fmla="val 13158"/>
            </a:avLst>
          </a:prstGeom>
          <a:solidFill>
            <a:srgbClr val="00A896"/>
          </a:solidFill>
          <a:ln w="12700">
            <a:solidFill>
              <a:srgbClr val="00A896"/>
            </a:solidFill>
            <a:prstDash val="solid"/>
          </a:ln>
        </p:spPr>
      </p:sp>
      <p:sp>
        <p:nvSpPr>
          <p:cNvPr id="12" name="Text 10"/>
          <p:cNvSpPr txBox="1"/>
          <p:nvPr/>
        </p:nvSpPr>
        <p:spPr>
          <a:xfrm>
            <a:off x="4114800" y="2487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2097152–3145727</a:t>
            </a:r>
            <a:endParaRPr lang="en-US" sz="1000" dirty="0"/>
          </a:p>
        </p:txBody>
      </p:sp>
      <p:sp>
        <p:nvSpPr>
          <p:cNvPr id="13" name="Shape 11"/>
          <p:cNvSpPr/>
          <p:nvPr/>
        </p:nvSpPr>
        <p:spPr>
          <a:xfrm>
            <a:off x="4114800" y="2944368"/>
            <a:ext cx="3291840" cy="347472"/>
          </a:xfrm>
          <a:prstGeom prst="roundRect">
            <a:avLst>
              <a:gd name="adj" fmla="val 13158"/>
            </a:avLst>
          </a:prstGeom>
          <a:solidFill>
            <a:srgbClr val="00A896"/>
          </a:solidFill>
          <a:ln w="12700">
            <a:solidFill>
              <a:srgbClr val="00A896"/>
            </a:solidFill>
            <a:prstDash val="solid"/>
          </a:ln>
        </p:spPr>
      </p:sp>
      <p:sp>
        <p:nvSpPr>
          <p:cNvPr id="14" name="Text 12"/>
          <p:cNvSpPr txBox="1"/>
          <p:nvPr/>
        </p:nvSpPr>
        <p:spPr>
          <a:xfrm>
            <a:off x="4114800" y="29443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3145728–4194303</a:t>
            </a:r>
            <a:endParaRPr lang="en-US" sz="1000" dirty="0"/>
          </a:p>
        </p:txBody>
      </p:sp>
      <p:sp>
        <p:nvSpPr>
          <p:cNvPr id="15" name="Shape 13"/>
          <p:cNvSpPr/>
          <p:nvPr/>
        </p:nvSpPr>
        <p:spPr>
          <a:xfrm>
            <a:off x="4114800" y="3401568"/>
            <a:ext cx="3291840" cy="347472"/>
          </a:xfrm>
          <a:prstGeom prst="roundRect">
            <a:avLst>
              <a:gd name="adj" fmla="val 13158"/>
            </a:avLst>
          </a:prstGeom>
          <a:solidFill>
            <a:srgbClr val="00A896"/>
          </a:solidFill>
          <a:ln w="12700">
            <a:solidFill>
              <a:srgbClr val="00A896"/>
            </a:solidFill>
            <a:prstDash val="solid"/>
          </a:ln>
        </p:spPr>
      </p:sp>
      <p:sp>
        <p:nvSpPr>
          <p:cNvPr id="16" name="Text 14"/>
          <p:cNvSpPr txBox="1"/>
          <p:nvPr/>
        </p:nvSpPr>
        <p:spPr>
          <a:xfrm>
            <a:off x="4114800" y="34015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4194304–5242879</a:t>
            </a:r>
            <a:endParaRPr lang="en-US" sz="1000" dirty="0"/>
          </a:p>
        </p:txBody>
      </p:sp>
      <p:sp>
        <p:nvSpPr>
          <p:cNvPr id="17" name="Shape 15"/>
          <p:cNvSpPr/>
          <p:nvPr/>
        </p:nvSpPr>
        <p:spPr>
          <a:xfrm>
            <a:off x="4114800" y="3858768"/>
            <a:ext cx="3291840" cy="347472"/>
          </a:xfrm>
          <a:prstGeom prst="roundRect">
            <a:avLst>
              <a:gd name="adj" fmla="val 13158"/>
            </a:avLst>
          </a:prstGeom>
          <a:solidFill>
            <a:srgbClr val="00A896"/>
          </a:solidFill>
          <a:ln w="12700">
            <a:solidFill>
              <a:srgbClr val="00A896"/>
            </a:solidFill>
            <a:prstDash val="solid"/>
          </a:ln>
        </p:spPr>
      </p:sp>
      <p:sp>
        <p:nvSpPr>
          <p:cNvPr id="18" name="Text 16"/>
          <p:cNvSpPr txBox="1"/>
          <p:nvPr/>
        </p:nvSpPr>
        <p:spPr>
          <a:xfrm>
            <a:off x="4114800" y="3858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5242880–6291455</a:t>
            </a:r>
            <a:endParaRPr lang="en-US" sz="1000" dirty="0"/>
          </a:p>
        </p:txBody>
      </p:sp>
      <p:sp>
        <p:nvSpPr>
          <p:cNvPr id="19" name="Shape 17"/>
          <p:cNvSpPr/>
          <p:nvPr/>
        </p:nvSpPr>
        <p:spPr>
          <a:xfrm>
            <a:off x="4114800" y="4315968"/>
            <a:ext cx="3291840" cy="347472"/>
          </a:xfrm>
          <a:prstGeom prst="roundRect">
            <a:avLst>
              <a:gd name="adj" fmla="val 13158"/>
            </a:avLst>
          </a:prstGeom>
          <a:solidFill>
            <a:srgbClr val="00A896"/>
          </a:solidFill>
          <a:ln w="12700">
            <a:solidFill>
              <a:srgbClr val="00A896"/>
            </a:solidFill>
            <a:prstDash val="solid"/>
          </a:ln>
        </p:spPr>
      </p:sp>
      <p:sp>
        <p:nvSpPr>
          <p:cNvPr id="20" name="Text 18"/>
          <p:cNvSpPr txBox="1"/>
          <p:nvPr/>
        </p:nvSpPr>
        <p:spPr>
          <a:xfrm>
            <a:off x="4114800" y="4315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6291456–7340031</a:t>
            </a:r>
            <a:endParaRPr lang="en-US" sz="1000" dirty="0"/>
          </a:p>
        </p:txBody>
      </p:sp>
      <p:sp>
        <p:nvSpPr>
          <p:cNvPr id="21" name="Shape 19"/>
          <p:cNvSpPr/>
          <p:nvPr/>
        </p:nvSpPr>
        <p:spPr>
          <a:xfrm>
            <a:off x="4114800" y="4773168"/>
            <a:ext cx="3291840" cy="347472"/>
          </a:xfrm>
          <a:prstGeom prst="roundRect">
            <a:avLst>
              <a:gd name="adj" fmla="val 13158"/>
            </a:avLst>
          </a:prstGeom>
          <a:solidFill>
            <a:srgbClr val="00A896"/>
          </a:solidFill>
          <a:ln w="12700">
            <a:solidFill>
              <a:srgbClr val="00A896"/>
            </a:solidFill>
            <a:prstDash val="solid"/>
          </a:ln>
        </p:spPr>
      </p:sp>
      <p:sp>
        <p:nvSpPr>
          <p:cNvPr id="22" name="Text 20"/>
          <p:cNvSpPr txBox="1"/>
          <p:nvPr/>
        </p:nvSpPr>
        <p:spPr>
          <a:xfrm>
            <a:off x="4114800" y="4773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7340032–8388607</a:t>
            </a:r>
            <a:endParaRPr lang="en-US" sz="1000" dirty="0"/>
          </a:p>
        </p:txBody>
      </p:sp>
      <p:sp>
        <p:nvSpPr>
          <p:cNvPr id="23" name="Text 21"/>
          <p:cNvSpPr txBox="1"/>
          <p:nvPr/>
        </p:nvSpPr>
        <p:spPr>
          <a:xfrm>
            <a:off x="4114800" y="5285232"/>
            <a:ext cx="3291840" cy="274320"/>
          </a:xfrm>
          <a:prstGeom prst="rect">
            <a:avLst/>
          </a:prstGeom>
          <a:noFill/>
          <a:ln/>
        </p:spPr>
        <p:txBody>
          <a:bodyPr wrap="square" lIns="0" tIns="0" rIns="0" bIns="0" rtlCol="0" anchor="ctr"/>
          <a:lstStyle/>
          <a:p>
            <a:pPr algn="ctr" indent="0" marL="0">
              <a:buNone/>
            </a:pPr>
            <a:r>
              <a:rPr lang="en-US" sz="1150" dirty="0">
                <a:solidFill>
                  <a:srgbClr val="7C8FA0"/>
                </a:solidFill>
                <a:latin typeface="Calibri" pitchFamily="34" charset="0"/>
                <a:ea typeface="Calibri" pitchFamily="34" charset="-122"/>
                <a:cs typeface="Calibri" pitchFamily="34" charset="-120"/>
              </a:rPr>
              <a:t>8 range requests, all in flight at once</a:t>
            </a:r>
            <a:endParaRPr lang="en-US" sz="1150" dirty="0"/>
          </a:p>
        </p:txBody>
      </p:sp>
      <p:sp>
        <p:nvSpPr>
          <p:cNvPr id="24" name="Text 22"/>
          <p:cNvSpPr txBox="1"/>
          <p:nvPr/>
        </p:nvSpPr>
        <p:spPr>
          <a:xfrm>
            <a:off x="754380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25" name="Text 23"/>
          <p:cNvSpPr txBox="1"/>
          <p:nvPr/>
        </p:nvSpPr>
        <p:spPr>
          <a:xfrm>
            <a:off x="7223760" y="3675888"/>
            <a:ext cx="155448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allOf + thenApply</a:t>
            </a:r>
            <a:endParaRPr lang="en-US" sz="1100" dirty="0"/>
          </a:p>
        </p:txBody>
      </p:sp>
      <p:sp>
        <p:nvSpPr>
          <p:cNvPr id="26" name="Shape 24"/>
          <p:cNvSpPr/>
          <p:nvPr/>
        </p:nvSpPr>
        <p:spPr>
          <a:xfrm>
            <a:off x="8823960" y="2606040"/>
            <a:ext cx="2724912" cy="1371600"/>
          </a:xfrm>
          <a:prstGeom prst="roundRect">
            <a:avLst>
              <a:gd name="adj" fmla="val 4000"/>
            </a:avLst>
          </a:prstGeom>
          <a:solidFill>
            <a:srgbClr val="16293D"/>
          </a:solidFill>
          <a:ln w="12700">
            <a:solidFill>
              <a:srgbClr val="16293D"/>
            </a:solidFill>
            <a:prstDash val="solid"/>
          </a:ln>
        </p:spPr>
      </p:sp>
      <p:sp>
        <p:nvSpPr>
          <p:cNvPr id="27" name="Text 25"/>
          <p:cNvSpPr txBox="1"/>
          <p:nvPr/>
        </p:nvSpPr>
        <p:spPr>
          <a:xfrm>
            <a:off x="8823960" y="2606040"/>
            <a:ext cx="2724912"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file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SHA-256 matches</a:t>
            </a:r>
            <a:endParaRPr lang="en-US" sz="1400" dirty="0"/>
          </a:p>
        </p:txBody>
      </p:sp>
      <p:sp>
        <p:nvSpPr>
          <p:cNvPr id="28" name="Shape 26"/>
          <p:cNvSpPr/>
          <p:nvPr/>
        </p:nvSpPr>
        <p:spPr>
          <a:xfrm>
            <a:off x="621792" y="5788152"/>
            <a:ext cx="82296" cy="82296"/>
          </a:xfrm>
          <a:prstGeom prst="ellipse">
            <a:avLst/>
          </a:prstGeom>
          <a:solidFill>
            <a:srgbClr val="00A896"/>
          </a:solidFill>
          <a:ln/>
        </p:spPr>
      </p:sp>
      <p:sp>
        <p:nvSpPr>
          <p:cNvPr id="29" name="Text 27"/>
          <p:cNvSpPr txBox="1"/>
          <p:nvPr/>
        </p:nvSpPr>
        <p:spPr>
          <a:xfrm>
            <a:off x="859536" y="5669280"/>
            <a:ext cx="10689336" cy="530352"/>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The file is cut into ranges that never overlap, and every range is requested at the same moment.</a:t>
            </a:r>
            <a:endParaRPr lang="en-US" sz="1350" dirty="0"/>
          </a:p>
        </p:txBody>
      </p:sp>
      <p:sp>
        <p:nvSpPr>
          <p:cNvPr id="30" name="Shape 28"/>
          <p:cNvSpPr/>
          <p:nvPr/>
        </p:nvSpPr>
        <p:spPr>
          <a:xfrm>
            <a:off x="621792" y="6355080"/>
            <a:ext cx="82296" cy="82296"/>
          </a:xfrm>
          <a:prstGeom prst="ellipse">
            <a:avLst/>
          </a:prstGeom>
          <a:solidFill>
            <a:srgbClr val="00A896"/>
          </a:solidFill>
          <a:ln/>
        </p:spPr>
      </p:sp>
      <p:sp>
        <p:nvSpPr>
          <p:cNvPr id="31" name="Text 29"/>
          <p:cNvSpPr txBox="1"/>
          <p:nvPr/>
        </p:nvSpPr>
        <p:spPr>
          <a:xfrm>
            <a:off x="859536" y="6236208"/>
            <a:ext cx="10689336" cy="530352"/>
          </a:xfrm>
          <a:prstGeom prst="rect">
            <a:avLst/>
          </a:prstGeom>
          <a:noFill/>
          <a:ln/>
        </p:spPr>
        <p:txBody>
          <a:bodyPr wrap="square" lIns="0" tIns="0" rIns="0" bIns="0" rtlCol="0" anchor="t"/>
          <a:lstStyle/>
          <a:p>
            <a:pPr indent="0" marL="0">
              <a:buNone/>
            </a:pPr>
            <a:r>
              <a:rPr lang="en-US" sz="1350" dirty="0">
                <a:solidFill>
                  <a:srgbClr val="16232E"/>
                </a:solidFill>
                <a:latin typeface="Calibri" pitchFamily="34" charset="0"/>
                <a:ea typeface="Calibri" pitchFamily="34" charset="-122"/>
                <a:cs typeface="Calibri" pitchFamily="34" charset="-120"/>
              </a:rPr>
              <a:t>Each one writes straight into its own offset of a file that was allocated up front, so nothing needs a lock, and that is exactly why the two hashes come out identical.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Same bytes. Same hash. Eight times faster.</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One 8.97 MB photograph from the demo library, fetched by both sides at the same instant, against the same server, over the same connection.</a:t>
            </a:r>
            <a:endParaRPr lang="en-US" sz="1500" dirty="0"/>
          </a:p>
        </p:txBody>
      </p:sp>
      <p:sp>
        <p:nvSpPr>
          <p:cNvPr id="4" name="Shape 2"/>
          <p:cNvSpPr/>
          <p:nvPr/>
        </p:nvSpPr>
        <p:spPr>
          <a:xfrm>
            <a:off x="621792" y="1920240"/>
            <a:ext cx="5212080" cy="3017520"/>
          </a:xfrm>
          <a:prstGeom prst="roundRect">
            <a:avLst>
              <a:gd name="adj" fmla="val 1818"/>
            </a:avLst>
          </a:prstGeom>
          <a:solidFill>
            <a:srgbClr val="F1F5F8"/>
          </a:solidFill>
          <a:ln w="12700">
            <a:solidFill>
              <a:srgbClr val="F1F5F8"/>
            </a:solidFill>
            <a:prstDash val="solid"/>
          </a:ln>
        </p:spPr>
      </p:sp>
      <p:sp>
        <p:nvSpPr>
          <p:cNvPr id="5" name="Text 3"/>
          <p:cNvSpPr txBox="1"/>
          <p:nvPr/>
        </p:nvSpPr>
        <p:spPr>
          <a:xfrm>
            <a:off x="896112" y="2148840"/>
            <a:ext cx="4572000" cy="274320"/>
          </a:xfrm>
          <a:prstGeom prst="rect">
            <a:avLst/>
          </a:prstGeom>
          <a:noFill/>
          <a:ln/>
        </p:spPr>
        <p:txBody>
          <a:bodyPr wrap="square" lIns="0" tIns="0" rIns="0" bIns="0" rtlCol="0" anchor="ctr"/>
          <a:lstStyle/>
          <a:p>
            <a:pPr indent="0" marL="0">
              <a:buNone/>
            </a:pPr>
            <a:r>
              <a:rPr lang="en-US" sz="1200" b="1" dirty="0">
                <a:solidFill>
                  <a:srgbClr val="6B7C8C"/>
                </a:solidFill>
                <a:latin typeface="Calibri" pitchFamily="34" charset="0"/>
                <a:ea typeface="Calibri" pitchFamily="34" charset="-122"/>
                <a:cs typeface="Calibri" pitchFamily="34" charset="-120"/>
              </a:rPr>
              <a:t>WITHOUT CONCURRENCY</a:t>
            </a:r>
            <a:endParaRPr lang="en-US" sz="1200" dirty="0"/>
          </a:p>
        </p:txBody>
      </p:sp>
      <p:sp>
        <p:nvSpPr>
          <p:cNvPr id="6" name="Text 4"/>
          <p:cNvSpPr txBox="1"/>
          <p:nvPr/>
        </p:nvSpPr>
        <p:spPr>
          <a:xfrm>
            <a:off x="896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1 connection</a:t>
            </a:r>
            <a:endParaRPr lang="en-US" sz="1100" dirty="0"/>
          </a:p>
        </p:txBody>
      </p:sp>
      <p:sp>
        <p:nvSpPr>
          <p:cNvPr id="7" name="Text 5"/>
          <p:cNvSpPr txBox="1"/>
          <p:nvPr/>
        </p:nvSpPr>
        <p:spPr>
          <a:xfrm>
            <a:off x="896112" y="2743200"/>
            <a:ext cx="4572000" cy="914400"/>
          </a:xfrm>
          <a:prstGeom prst="rect">
            <a:avLst/>
          </a:prstGeom>
          <a:noFill/>
          <a:ln/>
        </p:spPr>
        <p:txBody>
          <a:bodyPr wrap="square" lIns="0" tIns="0" rIns="0" bIns="0" rtlCol="0" anchor="ctr"/>
          <a:lstStyle/>
          <a:p>
            <a:pPr indent="0" marL="0">
              <a:buNone/>
            </a:pPr>
            <a:r>
              <a:rPr lang="en-US" sz="5000" b="1" dirty="0">
                <a:solidFill>
                  <a:srgbClr val="6B7C8C"/>
                </a:solidFill>
                <a:latin typeface="Cambria" pitchFamily="34" charset="0"/>
                <a:ea typeface="Cambria" pitchFamily="34" charset="-122"/>
                <a:cs typeface="Cambria" pitchFamily="34" charset="-120"/>
              </a:rPr>
              <a:t>21.32 s</a:t>
            </a:r>
            <a:endParaRPr lang="en-US" sz="5000" dirty="0"/>
          </a:p>
        </p:txBody>
      </p:sp>
      <p:sp>
        <p:nvSpPr>
          <p:cNvPr id="8" name="Text 6"/>
          <p:cNvSpPr txBox="1"/>
          <p:nvPr/>
        </p:nvSpPr>
        <p:spPr>
          <a:xfrm>
            <a:off x="896112" y="3703320"/>
            <a:ext cx="4572000" cy="320040"/>
          </a:xfrm>
          <a:prstGeom prst="rect">
            <a:avLst/>
          </a:prstGeom>
          <a:noFill/>
          <a:ln/>
        </p:spPr>
        <p:txBody>
          <a:bodyPr wrap="square" lIns="0" tIns="0" rIns="0" bIns="0" rtlCol="0" anchor="ctr"/>
          <a:lstStyle/>
          <a:p>
            <a:pPr indent="0" marL="0">
              <a:buNone/>
            </a:pPr>
            <a:r>
              <a:rPr lang="en-US" sz="1300" dirty="0">
                <a:solidFill>
                  <a:srgbClr val="7C8FA0"/>
                </a:solidFill>
                <a:latin typeface="Courier New" pitchFamily="34" charset="0"/>
                <a:ea typeface="Courier New" pitchFamily="34" charset="-122"/>
                <a:cs typeface="Courier New" pitchFamily="34" charset="-120"/>
              </a:rPr>
              <a:t>0.40 MB/s</a:t>
            </a:r>
            <a:endParaRPr lang="en-US" sz="1300" dirty="0"/>
          </a:p>
        </p:txBody>
      </p:sp>
      <p:sp>
        <p:nvSpPr>
          <p:cNvPr id="9" name="Shape 7"/>
          <p:cNvSpPr/>
          <p:nvPr/>
        </p:nvSpPr>
        <p:spPr>
          <a:xfrm>
            <a:off x="896112" y="4224528"/>
            <a:ext cx="4663440" cy="182880"/>
          </a:xfrm>
          <a:prstGeom prst="rect">
            <a:avLst/>
          </a:prstGeom>
          <a:solidFill>
            <a:srgbClr val="6B7C8C"/>
          </a:solidFill>
          <a:ln/>
        </p:spPr>
      </p:sp>
      <p:sp>
        <p:nvSpPr>
          <p:cNvPr id="10" name="Shape 8"/>
          <p:cNvSpPr/>
          <p:nvPr/>
        </p:nvSpPr>
        <p:spPr>
          <a:xfrm>
            <a:off x="6336792" y="1920240"/>
            <a:ext cx="5212080" cy="3017520"/>
          </a:xfrm>
          <a:prstGeom prst="roundRect">
            <a:avLst>
              <a:gd name="adj" fmla="val 1818"/>
            </a:avLst>
          </a:prstGeom>
          <a:solidFill>
            <a:srgbClr val="EAF7F5"/>
          </a:solidFill>
          <a:ln w="12700">
            <a:solidFill>
              <a:srgbClr val="EAF7F5"/>
            </a:solidFill>
            <a:prstDash val="solid"/>
          </a:ln>
        </p:spPr>
      </p:sp>
      <p:sp>
        <p:nvSpPr>
          <p:cNvPr id="11" name="Text 9"/>
          <p:cNvSpPr txBox="1"/>
          <p:nvPr/>
        </p:nvSpPr>
        <p:spPr>
          <a:xfrm>
            <a:off x="6611112" y="2148840"/>
            <a:ext cx="4572000" cy="274320"/>
          </a:xfrm>
          <a:prstGeom prst="rect">
            <a:avLst/>
          </a:prstGeom>
          <a:noFill/>
          <a:ln/>
        </p:spPr>
        <p:txBody>
          <a:bodyPr wrap="square" lIns="0" tIns="0" rIns="0" bIns="0" rtlCol="0" anchor="ctr"/>
          <a:lstStyle/>
          <a:p>
            <a:pPr indent="0" marL="0">
              <a:buNone/>
            </a:pPr>
            <a:r>
              <a:rPr lang="en-US" sz="1200" b="1" dirty="0">
                <a:solidFill>
                  <a:srgbClr val="00776B"/>
                </a:solidFill>
                <a:latin typeface="Calibri" pitchFamily="34" charset="0"/>
                <a:ea typeface="Calibri" pitchFamily="34" charset="-122"/>
                <a:cs typeface="Calibri" pitchFamily="34" charset="-120"/>
              </a:rPr>
              <a:t>WITH COMPLETABLEFUTURE</a:t>
            </a:r>
            <a:endParaRPr lang="en-US" sz="1200" dirty="0"/>
          </a:p>
        </p:txBody>
      </p:sp>
      <p:sp>
        <p:nvSpPr>
          <p:cNvPr id="12" name="Text 10"/>
          <p:cNvSpPr txBox="1"/>
          <p:nvPr/>
        </p:nvSpPr>
        <p:spPr>
          <a:xfrm>
            <a:off x="6611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8 connections</a:t>
            </a:r>
            <a:endParaRPr lang="en-US" sz="1100" dirty="0"/>
          </a:p>
        </p:txBody>
      </p:sp>
      <p:sp>
        <p:nvSpPr>
          <p:cNvPr id="13" name="Text 11"/>
          <p:cNvSpPr txBox="1"/>
          <p:nvPr/>
        </p:nvSpPr>
        <p:spPr>
          <a:xfrm>
            <a:off x="6611112" y="2743200"/>
            <a:ext cx="4572000" cy="914400"/>
          </a:xfrm>
          <a:prstGeom prst="rect">
            <a:avLst/>
          </a:prstGeom>
          <a:noFill/>
          <a:ln/>
        </p:spPr>
        <p:txBody>
          <a:bodyPr wrap="square" lIns="0" tIns="0" rIns="0" bIns="0" rtlCol="0" anchor="ctr"/>
          <a:lstStyle/>
          <a:p>
            <a:pPr indent="0" marL="0">
              <a:buNone/>
            </a:pPr>
            <a:r>
              <a:rPr lang="en-US" sz="5000" b="1" dirty="0">
                <a:solidFill>
                  <a:srgbClr val="00A896"/>
                </a:solidFill>
                <a:latin typeface="Cambria" pitchFamily="34" charset="0"/>
                <a:ea typeface="Cambria" pitchFamily="34" charset="-122"/>
                <a:cs typeface="Cambria" pitchFamily="34" charset="-120"/>
              </a:rPr>
              <a:t>2.61 s</a:t>
            </a:r>
            <a:endParaRPr lang="en-US" sz="5000" dirty="0"/>
          </a:p>
        </p:txBody>
      </p:sp>
      <p:sp>
        <p:nvSpPr>
          <p:cNvPr id="14" name="Text 12"/>
          <p:cNvSpPr txBox="1"/>
          <p:nvPr/>
        </p:nvSpPr>
        <p:spPr>
          <a:xfrm>
            <a:off x="6611112" y="3703320"/>
            <a:ext cx="4572000" cy="320040"/>
          </a:xfrm>
          <a:prstGeom prst="rect">
            <a:avLst/>
          </a:prstGeom>
          <a:noFill/>
          <a:ln/>
        </p:spPr>
        <p:txBody>
          <a:bodyPr wrap="square" lIns="0" tIns="0" rIns="0" bIns="0" rtlCol="0" anchor="ctr"/>
          <a:lstStyle/>
          <a:p>
            <a:pPr indent="0" marL="0">
              <a:buNone/>
            </a:pPr>
            <a:r>
              <a:rPr lang="en-US" sz="1300" dirty="0">
                <a:solidFill>
                  <a:srgbClr val="00776B"/>
                </a:solidFill>
                <a:latin typeface="Courier New" pitchFamily="34" charset="0"/>
                <a:ea typeface="Courier New" pitchFamily="34" charset="-122"/>
                <a:cs typeface="Courier New" pitchFamily="34" charset="-120"/>
              </a:rPr>
              <a:t>3.30 MB/s</a:t>
            </a:r>
            <a:endParaRPr lang="en-US" sz="1300" dirty="0"/>
          </a:p>
        </p:txBody>
      </p:sp>
      <p:sp>
        <p:nvSpPr>
          <p:cNvPr id="15" name="Shape 13"/>
          <p:cNvSpPr/>
          <p:nvPr/>
        </p:nvSpPr>
        <p:spPr>
          <a:xfrm>
            <a:off x="6611112" y="4224528"/>
            <a:ext cx="512064" cy="182880"/>
          </a:xfrm>
          <a:prstGeom prst="rect">
            <a:avLst/>
          </a:prstGeom>
          <a:solidFill>
            <a:srgbClr val="00A896"/>
          </a:solidFill>
          <a:ln/>
        </p:spPr>
      </p:sp>
      <p:sp>
        <p:nvSpPr>
          <p:cNvPr id="16" name="Shape 14"/>
          <p:cNvSpPr/>
          <p:nvPr/>
        </p:nvSpPr>
        <p:spPr>
          <a:xfrm>
            <a:off x="7196328" y="4224528"/>
            <a:ext cx="512064" cy="182880"/>
          </a:xfrm>
          <a:prstGeom prst="rect">
            <a:avLst/>
          </a:prstGeom>
          <a:solidFill>
            <a:srgbClr val="00A896"/>
          </a:solidFill>
          <a:ln/>
        </p:spPr>
      </p:sp>
      <p:sp>
        <p:nvSpPr>
          <p:cNvPr id="17" name="Shape 15"/>
          <p:cNvSpPr/>
          <p:nvPr/>
        </p:nvSpPr>
        <p:spPr>
          <a:xfrm>
            <a:off x="7781544" y="4224528"/>
            <a:ext cx="512064" cy="182880"/>
          </a:xfrm>
          <a:prstGeom prst="rect">
            <a:avLst/>
          </a:prstGeom>
          <a:solidFill>
            <a:srgbClr val="00A896"/>
          </a:solidFill>
          <a:ln/>
        </p:spPr>
      </p:sp>
      <p:sp>
        <p:nvSpPr>
          <p:cNvPr id="18" name="Shape 16"/>
          <p:cNvSpPr/>
          <p:nvPr/>
        </p:nvSpPr>
        <p:spPr>
          <a:xfrm>
            <a:off x="8366760" y="4224528"/>
            <a:ext cx="512064" cy="182880"/>
          </a:xfrm>
          <a:prstGeom prst="rect">
            <a:avLst/>
          </a:prstGeom>
          <a:solidFill>
            <a:srgbClr val="00A896"/>
          </a:solidFill>
          <a:ln/>
        </p:spPr>
      </p:sp>
      <p:sp>
        <p:nvSpPr>
          <p:cNvPr id="19" name="Shape 17"/>
          <p:cNvSpPr/>
          <p:nvPr/>
        </p:nvSpPr>
        <p:spPr>
          <a:xfrm>
            <a:off x="8951976" y="4224528"/>
            <a:ext cx="512064" cy="182880"/>
          </a:xfrm>
          <a:prstGeom prst="rect">
            <a:avLst/>
          </a:prstGeom>
          <a:solidFill>
            <a:srgbClr val="00A896"/>
          </a:solidFill>
          <a:ln/>
        </p:spPr>
      </p:sp>
      <p:sp>
        <p:nvSpPr>
          <p:cNvPr id="20" name="Shape 18"/>
          <p:cNvSpPr/>
          <p:nvPr/>
        </p:nvSpPr>
        <p:spPr>
          <a:xfrm>
            <a:off x="9537192" y="4224528"/>
            <a:ext cx="512064" cy="182880"/>
          </a:xfrm>
          <a:prstGeom prst="rect">
            <a:avLst/>
          </a:prstGeom>
          <a:solidFill>
            <a:srgbClr val="00A896"/>
          </a:solidFill>
          <a:ln/>
        </p:spPr>
      </p:sp>
      <p:sp>
        <p:nvSpPr>
          <p:cNvPr id="21" name="Shape 19"/>
          <p:cNvSpPr/>
          <p:nvPr/>
        </p:nvSpPr>
        <p:spPr>
          <a:xfrm>
            <a:off x="10122408" y="4224528"/>
            <a:ext cx="512064" cy="182880"/>
          </a:xfrm>
          <a:prstGeom prst="rect">
            <a:avLst/>
          </a:prstGeom>
          <a:solidFill>
            <a:srgbClr val="00A896"/>
          </a:solidFill>
          <a:ln/>
        </p:spPr>
      </p:sp>
      <p:sp>
        <p:nvSpPr>
          <p:cNvPr id="22" name="Shape 20"/>
          <p:cNvSpPr/>
          <p:nvPr/>
        </p:nvSpPr>
        <p:spPr>
          <a:xfrm>
            <a:off x="10707624" y="4224528"/>
            <a:ext cx="512064" cy="182880"/>
          </a:xfrm>
          <a:prstGeom prst="rect">
            <a:avLst/>
          </a:prstGeom>
          <a:solidFill>
            <a:srgbClr val="00A896"/>
          </a:solidFill>
          <a:ln/>
        </p:spPr>
      </p:sp>
      <p:sp>
        <p:nvSpPr>
          <p:cNvPr id="23" name="Text 21"/>
          <p:cNvSpPr txBox="1"/>
          <p:nvPr/>
        </p:nvSpPr>
        <p:spPr>
          <a:xfrm>
            <a:off x="621792" y="5230368"/>
            <a:ext cx="10927080" cy="457200"/>
          </a:xfrm>
          <a:prstGeom prst="rect">
            <a:avLst/>
          </a:prstGeom>
          <a:noFill/>
          <a:ln/>
        </p:spPr>
        <p:txBody>
          <a:bodyPr wrap="square" lIns="0" tIns="0" rIns="0" bIns="0" rtlCol="0" anchor="ctr"/>
          <a:lstStyle/>
          <a:p>
            <a:pPr indent="0" marL="0">
              <a:buNone/>
            </a:pPr>
            <a:r>
              <a:rPr lang="en-US" sz="2200" b="1" dirty="0">
                <a:solidFill>
                  <a:srgbClr val="00A896"/>
                </a:solidFill>
                <a:latin typeface="Calibri" pitchFamily="34" charset="0"/>
                <a:ea typeface="Calibri" pitchFamily="34" charset="-122"/>
                <a:cs typeface="Calibri" pitchFamily="34" charset="-120"/>
              </a:rPr>
              <a:t>8.2× faster</a:t>
            </a:r>
            <a:pPr indent="0" marL="0">
              <a:buNone/>
            </a:pPr>
            <a:r>
              <a:rPr lang="en-US" sz="1500" dirty="0">
                <a:solidFill>
                  <a:srgbClr val="16232E"/>
                </a:solidFill>
                <a:latin typeface="Calibri" pitchFamily="34" charset="0"/>
                <a:ea typeface="Calibri" pitchFamily="34" charset="-122"/>
                <a:cs typeface="Calibri" pitchFamily="34" charset="-120"/>
              </a:rPr>
              <a:t>    SHA-256   bc6f…c055  =  bc6f…c055   identical</a:t>
            </a:r>
            <a:endParaRPr lang="en-US" sz="2200" dirty="0"/>
          </a:p>
        </p:txBody>
      </p:sp>
      <p:sp>
        <p:nvSpPr>
          <p:cNvPr id="24" name="Text 22"/>
          <p:cNvSpPr txBox="1"/>
          <p:nvPr/>
        </p:nvSpPr>
        <p:spPr>
          <a:xfrm>
            <a:off x="621792" y="5760720"/>
            <a:ext cx="10927080" cy="365760"/>
          </a:xfrm>
          <a:prstGeom prst="rect">
            <a:avLst/>
          </a:prstGeom>
          <a:noFill/>
          <a:ln/>
        </p:spPr>
        <p:txBody>
          <a:bodyPr wrap="square" lIns="0" tIns="0" rIns="0" bIns="0" rtlCol="0" anchor="ctr"/>
          <a:lstStyle/>
          <a:p>
            <a:pPr indent="0" marL="0">
              <a:buNone/>
            </a:pPr>
            <a:r>
              <a:rPr lang="en-US" sz="1400" dirty="0">
                <a:solidFill>
                  <a:srgbClr val="7C8FA0"/>
                </a:solidFill>
                <a:latin typeface="Calibri" pitchFamily="34" charset="0"/>
                <a:ea typeface="Calibri" pitchFamily="34" charset="-122"/>
                <a:cs typeface="Calibri" pitchFamily="34" charset="-120"/>
              </a:rPr>
              <a:t>Eight threads wrote into one file at eight offsets. Not one byte landed in the wrong place.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More threads is not a strategy</a:t>
            </a:r>
            <a:endParaRPr lang="en-US" sz="3300" dirty="0"/>
          </a:p>
        </p:txBody>
      </p:sp>
      <p:graphicFrame>
        <p:nvGraphicFramePr>
          <p:cNvPr id="3" name="Chart 0" descr=""/>
          <p:cNvGraphicFramePr/>
          <p:nvPr/>
        </p:nvGraphicFramePr>
        <p:xfrm>
          <a:off x="548640" y="160020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783080"/>
            <a:ext cx="4069080" cy="1115568"/>
          </a:xfrm>
          <a:prstGeom prst="roundRect">
            <a:avLst>
              <a:gd name="adj" fmla="val 4918"/>
            </a:avLst>
          </a:prstGeom>
          <a:solidFill>
            <a:srgbClr val="F1F5F8"/>
          </a:solidFill>
          <a:ln w="12700">
            <a:solidFill>
              <a:srgbClr val="F1F5F8"/>
            </a:solidFill>
            <a:prstDash val="solid"/>
          </a:ln>
        </p:spPr>
      </p:sp>
      <p:sp>
        <p:nvSpPr>
          <p:cNvPr id="5" name="Text 2"/>
          <p:cNvSpPr txBox="1"/>
          <p:nvPr/>
        </p:nvSpPr>
        <p:spPr>
          <a:xfrm>
            <a:off x="7754112" y="1911096"/>
            <a:ext cx="3566160" cy="274320"/>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1 → 8</a:t>
            </a:r>
            <a:endParaRPr lang="en-US" sz="1500" dirty="0"/>
          </a:p>
        </p:txBody>
      </p:sp>
      <p:sp>
        <p:nvSpPr>
          <p:cNvPr id="6" name="Text 3"/>
          <p:cNvSpPr txBox="1"/>
          <p:nvPr/>
        </p:nvSpPr>
        <p:spPr>
          <a:xfrm>
            <a:off x="7754112" y="2212848"/>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Each new connection buys real bandwidth, because the server limits each one on its own.</a:t>
            </a:r>
            <a:endParaRPr lang="en-US" sz="1200" dirty="0"/>
          </a:p>
        </p:txBody>
      </p:sp>
      <p:sp>
        <p:nvSpPr>
          <p:cNvPr id="7" name="Shape 4"/>
          <p:cNvSpPr/>
          <p:nvPr/>
        </p:nvSpPr>
        <p:spPr>
          <a:xfrm>
            <a:off x="7498080" y="3081528"/>
            <a:ext cx="4069080" cy="1115568"/>
          </a:xfrm>
          <a:prstGeom prst="roundRect">
            <a:avLst>
              <a:gd name="adj" fmla="val 4918"/>
            </a:avLst>
          </a:prstGeom>
          <a:solidFill>
            <a:srgbClr val="F1F5F8"/>
          </a:solidFill>
          <a:ln w="12700">
            <a:solidFill>
              <a:srgbClr val="F1F5F8"/>
            </a:solidFill>
            <a:prstDash val="solid"/>
          </a:ln>
        </p:spPr>
      </p:sp>
      <p:sp>
        <p:nvSpPr>
          <p:cNvPr id="8" name="Text 5"/>
          <p:cNvSpPr txBox="1"/>
          <p:nvPr/>
        </p:nvSpPr>
        <p:spPr>
          <a:xfrm>
            <a:off x="7754112" y="3209544"/>
            <a:ext cx="3566160" cy="274320"/>
          </a:xfrm>
          <a:prstGeom prst="rect">
            <a:avLst/>
          </a:prstGeom>
          <a:noFill/>
          <a:ln/>
        </p:spPr>
        <p:txBody>
          <a:bodyPr wrap="square" lIns="0" tIns="0" rIns="0" bIns="0" rtlCol="0" anchor="ctr"/>
          <a:lstStyle/>
          <a:p>
            <a:pPr indent="0" marL="0">
              <a:buNone/>
            </a:pPr>
            <a:r>
              <a:rPr lang="en-US" sz="1500" b="1" dirty="0">
                <a:solidFill>
                  <a:srgbClr val="F2A65A"/>
                </a:solidFill>
                <a:latin typeface="Calibri" pitchFamily="34" charset="0"/>
                <a:ea typeface="Calibri" pitchFamily="34" charset="-122"/>
                <a:cs typeface="Calibri" pitchFamily="34" charset="-120"/>
              </a:rPr>
              <a:t>8 → 32</a:t>
            </a:r>
            <a:endParaRPr lang="en-US" sz="1500" dirty="0"/>
          </a:p>
        </p:txBody>
      </p:sp>
      <p:sp>
        <p:nvSpPr>
          <p:cNvPr id="9" name="Text 6"/>
          <p:cNvSpPr txBox="1"/>
          <p:nvPr/>
        </p:nvSpPr>
        <p:spPr>
          <a:xfrm>
            <a:off x="7754112" y="3511296"/>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Flat. The bottleneck is now total bandwidth; connections 9 to 32 add nothing at all.</a:t>
            </a:r>
            <a:endParaRPr lang="en-US" sz="1200" dirty="0"/>
          </a:p>
        </p:txBody>
      </p:sp>
      <p:sp>
        <p:nvSpPr>
          <p:cNvPr id="10" name="Shape 7"/>
          <p:cNvSpPr/>
          <p:nvPr/>
        </p:nvSpPr>
        <p:spPr>
          <a:xfrm>
            <a:off x="7498080" y="4379976"/>
            <a:ext cx="4069080" cy="1115568"/>
          </a:xfrm>
          <a:prstGeom prst="roundRect">
            <a:avLst>
              <a:gd name="adj" fmla="val 4918"/>
            </a:avLst>
          </a:prstGeom>
          <a:solidFill>
            <a:srgbClr val="F1F5F8"/>
          </a:solidFill>
          <a:ln w="12700">
            <a:solidFill>
              <a:srgbClr val="F1F5F8"/>
            </a:solidFill>
            <a:prstDash val="solid"/>
          </a:ln>
        </p:spPr>
      </p:sp>
      <p:sp>
        <p:nvSpPr>
          <p:cNvPr id="11" name="Text 8"/>
          <p:cNvSpPr txBox="1"/>
          <p:nvPr/>
        </p:nvSpPr>
        <p:spPr>
          <a:xfrm>
            <a:off x="7754112" y="4507992"/>
            <a:ext cx="3566160" cy="274320"/>
          </a:xfrm>
          <a:prstGeom prst="rect">
            <a:avLst/>
          </a:prstGeom>
          <a:noFill/>
          <a:ln/>
        </p:spPr>
        <p:txBody>
          <a:bodyPr wrap="square" lIns="0" tIns="0" rIns="0" bIns="0" rtlCol="0" anchor="ctr"/>
          <a:lstStyle/>
          <a:p>
            <a:pPr indent="0" marL="0">
              <a:buNone/>
            </a:pPr>
            <a:r>
              <a:rPr lang="en-US" sz="1500" b="1" dirty="0">
                <a:solidFill>
                  <a:srgbClr val="6B7C8C"/>
                </a:solidFill>
                <a:latin typeface="Calibri" pitchFamily="34" charset="0"/>
                <a:ea typeface="Calibri" pitchFamily="34" charset="-122"/>
                <a:cs typeface="Calibri" pitchFamily="34" charset="-120"/>
              </a:rPr>
              <a:t>And they bill you</a:t>
            </a:r>
            <a:endParaRPr lang="en-US" sz="1500" dirty="0"/>
          </a:p>
        </p:txBody>
      </p:sp>
      <p:sp>
        <p:nvSpPr>
          <p:cNvPr id="12" name="Text 9"/>
          <p:cNvSpPr txBox="1"/>
          <p:nvPr/>
        </p:nvSpPr>
        <p:spPr>
          <a:xfrm>
            <a:off x="7754112" y="4809744"/>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Threads, sockets, buffers, context switches. Paid for in full, used for nothing.</a:t>
            </a:r>
            <a:endParaRPr lang="en-US" sz="1200" dirty="0"/>
          </a:p>
        </p:txBody>
      </p:sp>
      <p:sp>
        <p:nvSpPr>
          <p:cNvPr id="13" name="Text 10"/>
          <p:cNvSpPr txBox="1"/>
          <p:nvPr/>
        </p:nvSpPr>
        <p:spPr>
          <a:xfrm>
            <a:off x="621792" y="5852160"/>
            <a:ext cx="10927080" cy="41148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Size the pool to the work — not to the machine, and not to optimism.</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thenCompose or thenCombine?</a:t>
            </a:r>
            <a:endParaRPr lang="en-US" sz="3300" dirty="0"/>
          </a:p>
        </p:txBody>
      </p:sp>
      <p:sp>
        <p:nvSpPr>
          <p:cNvPr id="3" name="Text 1"/>
          <p:cNvSpPr txBox="1"/>
          <p:nvPr/>
        </p:nvSpPr>
        <p:spPr>
          <a:xfrm>
            <a:off x="621792" y="1152144"/>
            <a:ext cx="10881360" cy="457200"/>
          </a:xfrm>
          <a:prstGeom prst="rect">
            <a:avLst/>
          </a:prstGeom>
          <a:noFill/>
          <a:ln/>
        </p:spPr>
        <p:txBody>
          <a:bodyPr wrap="square" lIns="0" tIns="0" rIns="0" bIns="0" rtlCol="0" anchor="t"/>
          <a:lstStyle/>
          <a:p>
            <a:pPr indent="0" marL="0">
              <a:buNone/>
            </a:pPr>
            <a:r>
              <a:rPr lang="en-US" sz="1500" dirty="0">
                <a:solidFill>
                  <a:srgbClr val="7C8FA0"/>
                </a:solidFill>
                <a:latin typeface="Calibri" pitchFamily="34" charset="0"/>
                <a:ea typeface="Calibri" pitchFamily="34" charset="-122"/>
                <a:cs typeface="Calibri" pitchFamily="34" charset="-120"/>
              </a:rPr>
              <a:t>One question settles it: does the next step need the previous step’s answer?</a:t>
            </a:r>
            <a:endParaRPr lang="en-US" sz="1500" dirty="0"/>
          </a:p>
        </p:txBody>
      </p:sp>
      <p:sp>
        <p:nvSpPr>
          <p:cNvPr id="4" name="Text 2"/>
          <p:cNvSpPr txBox="1"/>
          <p:nvPr/>
        </p:nvSpPr>
        <p:spPr>
          <a:xfrm>
            <a:off x="621792"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YES  →  thenCompose</a:t>
            </a:r>
            <a:endParaRPr lang="en-US" sz="1300" dirty="0"/>
          </a:p>
        </p:txBody>
      </p:sp>
      <p:sp>
        <p:nvSpPr>
          <p:cNvPr id="5" name="Shape 3"/>
          <p:cNvSpPr/>
          <p:nvPr/>
        </p:nvSpPr>
        <p:spPr>
          <a:xfrm>
            <a:off x="621792" y="2212848"/>
            <a:ext cx="5212080" cy="1783080"/>
          </a:xfrm>
          <a:prstGeom prst="roundRect">
            <a:avLst>
              <a:gd name="adj" fmla="val 3077"/>
            </a:avLst>
          </a:prstGeom>
          <a:solidFill>
            <a:srgbClr val="0D1F31"/>
          </a:solidFill>
          <a:ln w="12700">
            <a:solidFill>
              <a:srgbClr val="0D1F31"/>
            </a:solidFill>
            <a:prstDash val="solid"/>
          </a:ln>
        </p:spPr>
      </p:sp>
      <p:sp>
        <p:nvSpPr>
          <p:cNvPr id="6" name="Text 4"/>
          <p:cNvSpPr txBox="1"/>
          <p:nvPr/>
        </p:nvSpPr>
        <p:spPr>
          <a:xfrm>
            <a:off x="822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grind</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(order)</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(g -&gt; brew(g))</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(s -&gt; steam(s))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you cannot brew before you grind</a:t>
            </a:r>
            <a:endParaRPr lang="en-US" sz="1250" dirty="0"/>
          </a:p>
        </p:txBody>
      </p:sp>
      <p:sp>
        <p:nvSpPr>
          <p:cNvPr id="7" name="Text 5"/>
          <p:cNvSpPr txBox="1"/>
          <p:nvPr/>
        </p:nvSpPr>
        <p:spPr>
          <a:xfrm>
            <a:off x="621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Each step returns its own future; compose flattens them. thenApply here would hand you a CompletableFuture of a CompletableFuture.</a:t>
            </a:r>
            <a:endParaRPr lang="en-US" sz="1250" dirty="0"/>
          </a:p>
        </p:txBody>
      </p:sp>
      <p:sp>
        <p:nvSpPr>
          <p:cNvPr id="8" name="Shape 6"/>
          <p:cNvSpPr/>
          <p:nvPr/>
        </p:nvSpPr>
        <p:spPr>
          <a:xfrm>
            <a:off x="621792" y="5074920"/>
            <a:ext cx="4206240" cy="237744"/>
          </a:xfrm>
          <a:prstGeom prst="rect">
            <a:avLst/>
          </a:prstGeom>
          <a:solidFill>
            <a:srgbClr val="6B7C8C"/>
          </a:solidFill>
          <a:ln/>
        </p:spPr>
      </p:sp>
      <p:sp>
        <p:nvSpPr>
          <p:cNvPr id="9" name="Text 7"/>
          <p:cNvSpPr txBox="1"/>
          <p:nvPr/>
        </p:nvSpPr>
        <p:spPr>
          <a:xfrm>
            <a:off x="621792" y="5394960"/>
            <a:ext cx="5212080" cy="274320"/>
          </a:xfrm>
          <a:prstGeom prst="rect">
            <a:avLst/>
          </a:prstGeom>
          <a:noFill/>
          <a:ln/>
        </p:spPr>
        <p:txBody>
          <a:bodyPr wrap="square" lIns="0" tIns="0" rIns="0" bIns="0" rtlCol="0" anchor="ctr"/>
          <a:lstStyle/>
          <a:p>
            <a:pPr indent="0" marL="0">
              <a:buNone/>
            </a:pPr>
            <a:r>
              <a:rPr lang="en-US" sz="1250" b="1" dirty="0">
                <a:solidFill>
                  <a:srgbClr val="6B7C8C"/>
                </a:solidFill>
                <a:latin typeface="Calibri" pitchFamily="34" charset="0"/>
                <a:ea typeface="Calibri" pitchFamily="34" charset="-122"/>
                <a:cs typeface="Calibri" pitchFamily="34" charset="-120"/>
              </a:rPr>
              <a:t>2.5 s — sequential by necessity</a:t>
            </a:r>
            <a:endParaRPr lang="en-US" sz="1250" dirty="0"/>
          </a:p>
        </p:txBody>
      </p:sp>
      <p:sp>
        <p:nvSpPr>
          <p:cNvPr id="10" name="Text 8"/>
          <p:cNvSpPr txBox="1"/>
          <p:nvPr/>
        </p:nvSpPr>
        <p:spPr>
          <a:xfrm>
            <a:off x="6336792" y="1874520"/>
            <a:ext cx="5212080" cy="274320"/>
          </a:xfrm>
          <a:prstGeom prst="rect">
            <a:avLst/>
          </a:prstGeom>
          <a:noFill/>
          <a:ln/>
        </p:spPr>
        <p:txBody>
          <a:bodyPr wrap="square" lIns="0" tIns="0" rIns="0" bIns="0" rtlCol="0" anchor="ctr"/>
          <a:lstStyle/>
          <a:p>
            <a:pPr indent="0" marL="0">
              <a:buNone/>
            </a:pPr>
            <a:r>
              <a:rPr lang="en-US" sz="1300" b="1" dirty="0">
                <a:solidFill>
                  <a:srgbClr val="F2A65A"/>
                </a:solidFill>
                <a:latin typeface="Calibri" pitchFamily="34" charset="0"/>
                <a:ea typeface="Calibri" pitchFamily="34" charset="-122"/>
                <a:cs typeface="Calibri" pitchFamily="34" charset="-120"/>
              </a:rPr>
              <a:t>NO  →  thenCombine</a:t>
            </a:r>
            <a:endParaRPr lang="en-US" sz="1300" dirty="0"/>
          </a:p>
        </p:txBody>
      </p:sp>
      <p:sp>
        <p:nvSpPr>
          <p:cNvPr id="11" name="Shape 9"/>
          <p:cNvSpPr/>
          <p:nvPr/>
        </p:nvSpPr>
        <p:spPr>
          <a:xfrm>
            <a:off x="6336792" y="2212848"/>
            <a:ext cx="5212080" cy="1783080"/>
          </a:xfrm>
          <a:prstGeom prst="roundRect">
            <a:avLst>
              <a:gd name="adj" fmla="val 3077"/>
            </a:avLst>
          </a:prstGeom>
          <a:solidFill>
            <a:srgbClr val="0D1F31"/>
          </a:solidFill>
          <a:ln w="12700">
            <a:solidFill>
              <a:srgbClr val="0D1F31"/>
            </a:solidFill>
            <a:prstDash val="solid"/>
          </a:ln>
        </p:spPr>
      </p:sp>
      <p:sp>
        <p:nvSpPr>
          <p:cNvPr id="12" name="Text 10"/>
          <p:cNvSpPr txBox="1"/>
          <p:nvPr/>
        </p:nvSpPr>
        <p:spPr>
          <a:xfrm>
            <a:off x="6537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drinkFuture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(pastryFuture,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(d, p) -&gt; serveTogether(d, p))</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the croissant never needed coffee</a:t>
            </a:r>
            <a:endParaRPr lang="en-US" sz="1250" dirty="0"/>
          </a:p>
        </p:txBody>
      </p:sp>
      <p:sp>
        <p:nvSpPr>
          <p:cNvPr id="13" name="Text 11"/>
          <p:cNvSpPr txBox="1"/>
          <p:nvPr/>
        </p:nvSpPr>
        <p:spPr>
          <a:xfrm>
            <a:off x="6336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Two futures that were never related, already running side by side. The pair costs the slower of the two, not the sum of both.</a:t>
            </a:r>
            <a:endParaRPr lang="en-US" sz="1250" dirty="0"/>
          </a:p>
        </p:txBody>
      </p:sp>
      <p:sp>
        <p:nvSpPr>
          <p:cNvPr id="14" name="Shape 12"/>
          <p:cNvSpPr/>
          <p:nvPr/>
        </p:nvSpPr>
        <p:spPr>
          <a:xfrm>
            <a:off x="6336792" y="5074920"/>
            <a:ext cx="2651760" cy="237744"/>
          </a:xfrm>
          <a:prstGeom prst="rect">
            <a:avLst/>
          </a:prstGeom>
          <a:solidFill>
            <a:srgbClr val="00A896"/>
          </a:solidFill>
          <a:ln/>
        </p:spPr>
      </p:sp>
      <p:sp>
        <p:nvSpPr>
          <p:cNvPr id="15" name="Shape 13"/>
          <p:cNvSpPr/>
          <p:nvPr/>
        </p:nvSpPr>
        <p:spPr>
          <a:xfrm>
            <a:off x="6336792" y="5376672"/>
            <a:ext cx="1600200" cy="237744"/>
          </a:xfrm>
          <a:prstGeom prst="rect">
            <a:avLst/>
          </a:prstGeom>
          <a:solidFill>
            <a:srgbClr val="F2A65A"/>
          </a:solidFill>
          <a:ln/>
        </p:spPr>
      </p:sp>
      <p:sp>
        <p:nvSpPr>
          <p:cNvPr id="16" name="Text 14"/>
          <p:cNvSpPr txBox="1"/>
          <p:nvPr/>
        </p:nvSpPr>
        <p:spPr>
          <a:xfrm>
            <a:off x="6336792" y="5687568"/>
            <a:ext cx="5212080" cy="274320"/>
          </a:xfrm>
          <a:prstGeom prst="rect">
            <a:avLst/>
          </a:prstGeom>
          <a:noFill/>
          <a:ln/>
        </p:spPr>
        <p:txBody>
          <a:bodyPr wrap="square" lIns="0" tIns="0" rIns="0" bIns="0" rtlCol="0" anchor="ctr"/>
          <a:lstStyle/>
          <a:p>
            <a:pPr indent="0" marL="0">
              <a:buNone/>
            </a:pPr>
            <a:r>
              <a:rPr lang="en-US" sz="1250" b="1" dirty="0">
                <a:solidFill>
                  <a:srgbClr val="00776B"/>
                </a:solidFill>
                <a:latin typeface="Calibri" pitchFamily="34" charset="0"/>
                <a:ea typeface="Calibri" pitchFamily="34" charset="-122"/>
                <a:cs typeface="Calibri" pitchFamily="34" charset="-120"/>
              </a:rPr>
              <a:t>2.5 s total, not 4.0 s — they overlap</a:t>
            </a:r>
            <a:endParaRPr lang="en-US" sz="1250" dirty="0"/>
          </a:p>
        </p:txBody>
      </p:sp>
      <p:sp>
        <p:nvSpPr>
          <p:cNvPr id="17" name="Text 15"/>
          <p:cNvSpPr txBox="1"/>
          <p:nvPr/>
        </p:nvSpPr>
        <p:spPr>
          <a:xfrm>
            <a:off x="621792" y="6144768"/>
            <a:ext cx="10927080" cy="411480"/>
          </a:xfrm>
          <a:prstGeom prst="rect">
            <a:avLst/>
          </a:prstGeom>
          <a:noFill/>
          <a:ln/>
        </p:spPr>
        <p:txBody>
          <a:bodyPr wrap="square" lIns="0" tIns="0" rIns="0" bIns="0" rtlCol="0" anchor="ctr"/>
          <a:lstStyle/>
          <a:p>
            <a:pPr indent="0" marL="0">
              <a:buNone/>
            </a:pPr>
            <a:r>
              <a:rPr lang="en-US" sz="1900" b="1" i="1" dirty="0">
                <a:solidFill>
                  <a:srgbClr val="00776B"/>
                </a:solidFill>
                <a:latin typeface="Cambria" pitchFamily="34" charset="0"/>
                <a:ea typeface="Cambria" pitchFamily="34" charset="-122"/>
                <a:cs typeface="Cambria" pitchFamily="34" charset="-120"/>
              </a:rPr>
              <a:t>Need the answer? Compose. Never needed it? Combine.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16232E"/>
                </a:solidFill>
                <a:latin typeface="Cambria" pitchFamily="34" charset="0"/>
                <a:ea typeface="Cambria" pitchFamily="34" charset="-122"/>
                <a:cs typeface="Cambria" pitchFamily="34" charset="-120"/>
              </a:rPr>
              <a:t>Three ways to fail. Three different tools.</a:t>
            </a:r>
            <a:endParaRPr lang="en-US" sz="3300" dirty="0"/>
          </a:p>
        </p:txBody>
      </p:sp>
      <p:sp>
        <p:nvSpPr>
          <p:cNvPr id="3" name="Shape 1"/>
          <p:cNvSpPr/>
          <p:nvPr/>
        </p:nvSpPr>
        <p:spPr>
          <a:xfrm>
            <a:off x="621792" y="1691640"/>
            <a:ext cx="10927080" cy="1234440"/>
          </a:xfrm>
          <a:prstGeom prst="roundRect">
            <a:avLst>
              <a:gd name="adj" fmla="val 4444"/>
            </a:avLst>
          </a:prstGeom>
          <a:solidFill>
            <a:srgbClr val="F1F5F8"/>
          </a:solidFill>
          <a:ln w="12700">
            <a:solidFill>
              <a:srgbClr val="F1F5F8"/>
            </a:solidFill>
            <a:prstDash val="solid"/>
          </a:ln>
        </p:spPr>
      </p:sp>
      <p:sp>
        <p:nvSpPr>
          <p:cNvPr id="4" name="Text 2"/>
          <p:cNvSpPr txBox="1"/>
          <p:nvPr/>
        </p:nvSpPr>
        <p:spPr>
          <a:xfrm>
            <a:off x="914400" y="187452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threw</a:t>
            </a:r>
            <a:endParaRPr lang="en-US" sz="1600" dirty="0"/>
          </a:p>
        </p:txBody>
      </p:sp>
      <p:sp>
        <p:nvSpPr>
          <p:cNvPr id="5" name="Text 3"/>
          <p:cNvSpPr txBox="1"/>
          <p:nvPr/>
        </p:nvSpPr>
        <p:spPr>
          <a:xfrm>
            <a:off x="914400" y="2258568"/>
            <a:ext cx="2377440" cy="320040"/>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exceptionally</a:t>
            </a:r>
            <a:endParaRPr lang="en-US" sz="1400" dirty="0"/>
          </a:p>
        </p:txBody>
      </p:sp>
      <p:sp>
        <p:nvSpPr>
          <p:cNvPr id="6" name="Text 4"/>
          <p:cNvSpPr txBox="1"/>
          <p:nvPr/>
        </p:nvSpPr>
        <p:spPr>
          <a:xfrm>
            <a:off x="3657600" y="189280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Supply a replacement value and let the pipeline carry on. The order still produces a drink.</a:t>
            </a:r>
            <a:endParaRPr lang="en-US" sz="1350" dirty="0"/>
          </a:p>
        </p:txBody>
      </p:sp>
      <p:sp>
        <p:nvSpPr>
          <p:cNvPr id="7" name="Shape 5"/>
          <p:cNvSpPr/>
          <p:nvPr/>
        </p:nvSpPr>
        <p:spPr>
          <a:xfrm>
            <a:off x="621792" y="3108960"/>
            <a:ext cx="10927080" cy="1234440"/>
          </a:xfrm>
          <a:prstGeom prst="roundRect">
            <a:avLst>
              <a:gd name="adj" fmla="val 4444"/>
            </a:avLst>
          </a:prstGeom>
          <a:solidFill>
            <a:srgbClr val="F1F5F8"/>
          </a:solidFill>
          <a:ln w="12700">
            <a:solidFill>
              <a:srgbClr val="F1F5F8"/>
            </a:solidFill>
            <a:prstDash val="solid"/>
          </a:ln>
        </p:spPr>
      </p:sp>
      <p:sp>
        <p:nvSpPr>
          <p:cNvPr id="8" name="Text 6"/>
          <p:cNvSpPr txBox="1"/>
          <p:nvPr/>
        </p:nvSpPr>
        <p:spPr>
          <a:xfrm>
            <a:off x="914400" y="329184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never finished</a:t>
            </a:r>
            <a:endParaRPr lang="en-US" sz="1600" dirty="0"/>
          </a:p>
        </p:txBody>
      </p:sp>
      <p:sp>
        <p:nvSpPr>
          <p:cNvPr id="9" name="Text 7"/>
          <p:cNvSpPr txBox="1"/>
          <p:nvPr/>
        </p:nvSpPr>
        <p:spPr>
          <a:xfrm>
            <a:off x="914400" y="3675888"/>
            <a:ext cx="2377440" cy="320040"/>
          </a:xfrm>
          <a:prstGeom prst="rect">
            <a:avLst/>
          </a:prstGeom>
          <a:noFill/>
          <a:ln/>
        </p:spPr>
        <p:txBody>
          <a:bodyPr wrap="square" lIns="0" tIns="0" rIns="0" bIns="0" rtlCol="0" anchor="ctr"/>
          <a:lstStyle/>
          <a:p>
            <a:pPr indent="0" marL="0">
              <a:buNone/>
            </a:pPr>
            <a:r>
              <a:rPr lang="en-US" sz="1400" b="1" dirty="0">
                <a:solidFill>
                  <a:srgbClr val="D9534F"/>
                </a:solidFill>
                <a:latin typeface="Courier New" pitchFamily="34" charset="0"/>
                <a:ea typeface="Courier New" pitchFamily="34" charset="-122"/>
                <a:cs typeface="Courier New" pitchFamily="34" charset="-120"/>
              </a:rPr>
              <a:t>orTimeout</a:t>
            </a:r>
            <a:endParaRPr lang="en-US" sz="1400" dirty="0"/>
          </a:p>
        </p:txBody>
      </p:sp>
      <p:sp>
        <p:nvSpPr>
          <p:cNvPr id="10" name="Text 8"/>
          <p:cNvSpPr txBox="1"/>
          <p:nvPr/>
        </p:nvSpPr>
        <p:spPr>
          <a:xfrm>
            <a:off x="3657600" y="331012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Nothing throws, so there is nothing to catch — until a timeout turns the silence into a TimeoutException.</a:t>
            </a:r>
            <a:endParaRPr lang="en-US" sz="1350" dirty="0"/>
          </a:p>
        </p:txBody>
      </p:sp>
      <p:sp>
        <p:nvSpPr>
          <p:cNvPr id="11" name="Shape 9"/>
          <p:cNvSpPr/>
          <p:nvPr/>
        </p:nvSpPr>
        <p:spPr>
          <a:xfrm>
            <a:off x="621792" y="4526280"/>
            <a:ext cx="10927080" cy="1234440"/>
          </a:xfrm>
          <a:prstGeom prst="roundRect">
            <a:avLst>
              <a:gd name="adj" fmla="val 4444"/>
            </a:avLst>
          </a:prstGeom>
          <a:solidFill>
            <a:srgbClr val="F1F5F8"/>
          </a:solidFill>
          <a:ln w="12700">
            <a:solidFill>
              <a:srgbClr val="F1F5F8"/>
            </a:solidFill>
            <a:prstDash val="solid"/>
          </a:ln>
        </p:spPr>
      </p:sp>
      <p:sp>
        <p:nvSpPr>
          <p:cNvPr id="12" name="Text 10"/>
          <p:cNvSpPr txBox="1"/>
          <p:nvPr/>
        </p:nvSpPr>
        <p:spPr>
          <a:xfrm>
            <a:off x="914400" y="470916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Either way</a:t>
            </a:r>
            <a:endParaRPr lang="en-US" sz="1600" dirty="0"/>
          </a:p>
        </p:txBody>
      </p:sp>
      <p:sp>
        <p:nvSpPr>
          <p:cNvPr id="13" name="Text 11"/>
          <p:cNvSpPr txBox="1"/>
          <p:nvPr/>
        </p:nvSpPr>
        <p:spPr>
          <a:xfrm>
            <a:off x="914400" y="5093208"/>
            <a:ext cx="2377440" cy="320040"/>
          </a:xfrm>
          <a:prstGeom prst="rect">
            <a:avLst/>
          </a:prstGeom>
          <a:noFill/>
          <a:ln/>
        </p:spPr>
        <p:txBody>
          <a:bodyPr wrap="square" lIns="0" tIns="0" rIns="0" bIns="0" rtlCol="0" anchor="ctr"/>
          <a:lstStyle/>
          <a:p>
            <a:pPr indent="0" marL="0">
              <a:buNone/>
            </a:pPr>
            <a:r>
              <a:rPr lang="en-US" sz="1400" b="1" dirty="0">
                <a:solidFill>
                  <a:srgbClr val="00A896"/>
                </a:solidFill>
                <a:latin typeface="Courier New" pitchFamily="34" charset="0"/>
                <a:ea typeface="Courier New" pitchFamily="34" charset="-122"/>
                <a:cs typeface="Courier New" pitchFamily="34" charset="-120"/>
              </a:rPr>
              <a:t>handle</a:t>
            </a:r>
            <a:endParaRPr lang="en-US" sz="1400" dirty="0"/>
          </a:p>
        </p:txBody>
      </p:sp>
      <p:sp>
        <p:nvSpPr>
          <p:cNvPr id="14" name="Text 12"/>
          <p:cNvSpPr txBox="1"/>
          <p:nvPr/>
        </p:nvSpPr>
        <p:spPr>
          <a:xfrm>
            <a:off x="3657600" y="472744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Runs on success and on failure, so the closing summary is written once instead of twice.</a:t>
            </a:r>
            <a:endParaRPr lang="en-US" sz="1350" dirty="0"/>
          </a:p>
        </p:txBody>
      </p:sp>
      <p:sp>
        <p:nvSpPr>
          <p:cNvPr id="15" name="Text 13"/>
          <p:cNvSpPr txBox="1"/>
          <p:nvPr/>
        </p:nvSpPr>
        <p:spPr>
          <a:xfrm>
            <a:off x="621792" y="6035040"/>
            <a:ext cx="10927080" cy="411480"/>
          </a:xfrm>
          <a:prstGeom prst="rect">
            <a:avLst/>
          </a:prstGeom>
          <a:noFill/>
          <a:ln/>
        </p:spPr>
        <p:txBody>
          <a:bodyPr wrap="square" lIns="0" tIns="0" rIns="0" bIns="0" rtlCol="0" anchor="ctr"/>
          <a:lstStyle/>
          <a:p>
            <a:pPr indent="0" marL="0">
              <a:buNone/>
            </a:pPr>
            <a:r>
              <a:rPr lang="en-US" sz="1800" b="1" i="1" dirty="0">
                <a:solidFill>
                  <a:srgbClr val="00776B"/>
                </a:solidFill>
                <a:latin typeface="Cambria" pitchFamily="34" charset="0"/>
                <a:ea typeface="Cambria" pitchFamily="34" charset="-122"/>
                <a:cs typeface="Cambria" pitchFamily="34" charset="-120"/>
              </a:rPr>
              <a:t>A broken order never takes the others down with it, and the program never crashes.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621792" y="402336"/>
            <a:ext cx="10972800" cy="73152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Four things that will bite you</a:t>
            </a:r>
            <a:endParaRPr lang="en-US" sz="3300" dirty="0"/>
          </a:p>
        </p:txBody>
      </p:sp>
      <p:sp>
        <p:nvSpPr>
          <p:cNvPr id="3" name="Text 1"/>
          <p:cNvSpPr txBox="1"/>
          <p:nvPr/>
        </p:nvSpPr>
        <p:spPr>
          <a:xfrm>
            <a:off x="621792" y="1572768"/>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supplyAsync(task)  with no executor</a:t>
            </a:r>
            <a:endParaRPr lang="en-US" sz="1400" dirty="0"/>
          </a:p>
        </p:txBody>
      </p:sp>
      <p:sp>
        <p:nvSpPr>
          <p:cNvPr id="4" name="Text 2"/>
          <p:cNvSpPr txBox="1"/>
          <p:nvPr/>
        </p:nvSpPr>
        <p:spPr>
          <a:xfrm>
            <a:off x="621792" y="1901952"/>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runs on the shared ForkJoinPool.commonPool() — sized to your cores, shared with every parallel stream in the JVM, and built for short CPU work. Block it and you stall the whole process. Always pass your own pool.</a:t>
            </a:r>
            <a:endParaRPr lang="en-US" sz="1300" dirty="0"/>
          </a:p>
        </p:txBody>
      </p:sp>
      <p:sp>
        <p:nvSpPr>
          <p:cNvPr id="5" name="Shape 3"/>
          <p:cNvSpPr/>
          <p:nvPr/>
        </p:nvSpPr>
        <p:spPr>
          <a:xfrm>
            <a:off x="621792" y="2642616"/>
            <a:ext cx="10927080" cy="10973"/>
          </a:xfrm>
          <a:prstGeom prst="rect">
            <a:avLst/>
          </a:prstGeom>
          <a:solidFill>
            <a:srgbClr val="22405C"/>
          </a:solidFill>
          <a:ln/>
        </p:spPr>
      </p:sp>
      <p:sp>
        <p:nvSpPr>
          <p:cNvPr id="6" name="Text 4"/>
          <p:cNvSpPr txBox="1"/>
          <p:nvPr/>
        </p:nvSpPr>
        <p:spPr>
          <a:xfrm>
            <a:off x="621792" y="2779776"/>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thenApply  does not promise you a thread</a:t>
            </a:r>
            <a:endParaRPr lang="en-US" sz="1400" dirty="0"/>
          </a:p>
        </p:txBody>
      </p:sp>
      <p:sp>
        <p:nvSpPr>
          <p:cNvPr id="7" name="Text 5"/>
          <p:cNvSpPr txBox="1"/>
          <p:nvPr/>
        </p:nvSpPr>
        <p:spPr>
          <a:xfrm>
            <a:off x="621792" y="3108960"/>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runs on whichever thread completed the future — or on your calling thread, if it had already completed. Use the ...Async variants when you need to know.</a:t>
            </a:r>
            <a:endParaRPr lang="en-US" sz="1300" dirty="0"/>
          </a:p>
        </p:txBody>
      </p:sp>
      <p:sp>
        <p:nvSpPr>
          <p:cNvPr id="8" name="Shape 6"/>
          <p:cNvSpPr/>
          <p:nvPr/>
        </p:nvSpPr>
        <p:spPr>
          <a:xfrm>
            <a:off x="621792" y="3849624"/>
            <a:ext cx="10927080" cy="10973"/>
          </a:xfrm>
          <a:prstGeom prst="rect">
            <a:avLst/>
          </a:prstGeom>
          <a:solidFill>
            <a:srgbClr val="22405C"/>
          </a:solidFill>
          <a:ln/>
        </p:spPr>
      </p:sp>
      <p:sp>
        <p:nvSpPr>
          <p:cNvPr id="9" name="Text 7"/>
          <p:cNvSpPr txBox="1"/>
          <p:nvPr/>
        </p:nvSpPr>
        <p:spPr>
          <a:xfrm>
            <a:off x="621792" y="3986784"/>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allOf  waits for all of them, even after one fails</a:t>
            </a:r>
            <a:endParaRPr lang="en-US" sz="1400" dirty="0"/>
          </a:p>
        </p:txBody>
      </p:sp>
      <p:sp>
        <p:nvSpPr>
          <p:cNvPr id="10" name="Text 8"/>
          <p:cNvSpPr txBox="1"/>
          <p:nvPr/>
        </p:nvSpPr>
        <p:spPr>
          <a:xfrm>
            <a:off x="621792" y="4315968"/>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completes exceptionally, but not early. In this project one chunk failed at 62 s and join() still returned at 110 s, because the survivors were left to finish.</a:t>
            </a:r>
            <a:endParaRPr lang="en-US" sz="1300" dirty="0"/>
          </a:p>
        </p:txBody>
      </p:sp>
      <p:sp>
        <p:nvSpPr>
          <p:cNvPr id="11" name="Shape 9"/>
          <p:cNvSpPr/>
          <p:nvPr/>
        </p:nvSpPr>
        <p:spPr>
          <a:xfrm>
            <a:off x="621792" y="5056632"/>
            <a:ext cx="10927080" cy="10973"/>
          </a:xfrm>
          <a:prstGeom prst="rect">
            <a:avLst/>
          </a:prstGeom>
          <a:solidFill>
            <a:srgbClr val="22405C"/>
          </a:solidFill>
          <a:ln/>
        </p:spPr>
      </p:sp>
      <p:sp>
        <p:nvSpPr>
          <p:cNvPr id="12" name="Text 10"/>
          <p:cNvSpPr txBox="1"/>
          <p:nvPr/>
        </p:nvSpPr>
        <p:spPr>
          <a:xfrm>
            <a:off x="621792" y="5193792"/>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orTimeout  gives up, it does not cancel</a:t>
            </a:r>
            <a:endParaRPr lang="en-US" sz="1400" dirty="0"/>
          </a:p>
        </p:txBody>
      </p:sp>
      <p:sp>
        <p:nvSpPr>
          <p:cNvPr id="13" name="Text 11"/>
          <p:cNvSpPr txBox="1"/>
          <p:nvPr/>
        </p:nvSpPr>
        <p:spPr>
          <a:xfrm>
            <a:off x="621792" y="5522976"/>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Your future completes exceptionally; the work underneath carries right on running and holding its thread. The timeout protects the caller, not the server.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731520"/>
            <a:ext cx="82296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Four things to take away</a:t>
            </a:r>
            <a:endParaRPr lang="en-US" sz="3600" dirty="0"/>
          </a:p>
        </p:txBody>
      </p:sp>
      <p:sp>
        <p:nvSpPr>
          <p:cNvPr id="3" name="Shape 1"/>
          <p:cNvSpPr/>
          <p:nvPr/>
        </p:nvSpPr>
        <p:spPr>
          <a:xfrm>
            <a:off x="822960" y="1691640"/>
            <a:ext cx="384048" cy="41148"/>
          </a:xfrm>
          <a:prstGeom prst="rect">
            <a:avLst/>
          </a:prstGeom>
          <a:solidFill>
            <a:srgbClr val="00A896"/>
          </a:solidFill>
          <a:ln/>
        </p:spPr>
      </p:sp>
      <p:sp>
        <p:nvSpPr>
          <p:cNvPr id="4" name="Text 2"/>
          <p:cNvSpPr txBox="1"/>
          <p:nvPr/>
        </p:nvSpPr>
        <p:spPr>
          <a:xfrm>
            <a:off x="822960" y="189280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It buys waiting, not speed</a:t>
            </a:r>
            <a:endParaRPr lang="en-US" sz="1800" dirty="0"/>
          </a:p>
        </p:txBody>
      </p:sp>
      <p:sp>
        <p:nvSpPr>
          <p:cNvPr id="5" name="Text 3"/>
          <p:cNvSpPr txBox="1"/>
          <p:nvPr/>
        </p:nvSpPr>
        <p:spPr>
          <a:xfrm>
            <a:off x="822960" y="229514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CompletableFuture wins exactly where threads sit blocked on I/O. It will never make your CPU faster.</a:t>
            </a:r>
            <a:endParaRPr lang="en-US" sz="1250" dirty="0"/>
          </a:p>
        </p:txBody>
      </p:sp>
      <p:sp>
        <p:nvSpPr>
          <p:cNvPr id="6" name="Shape 4"/>
          <p:cNvSpPr/>
          <p:nvPr/>
        </p:nvSpPr>
        <p:spPr>
          <a:xfrm>
            <a:off x="6355080" y="1691640"/>
            <a:ext cx="384048" cy="41148"/>
          </a:xfrm>
          <a:prstGeom prst="rect">
            <a:avLst/>
          </a:prstGeom>
          <a:solidFill>
            <a:srgbClr val="00A896"/>
          </a:solidFill>
          <a:ln/>
        </p:spPr>
      </p:sp>
      <p:sp>
        <p:nvSpPr>
          <p:cNvPr id="7" name="Text 5"/>
          <p:cNvSpPr txBox="1"/>
          <p:nvPr/>
        </p:nvSpPr>
        <p:spPr>
          <a:xfrm>
            <a:off x="6355080" y="189280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Partition, and you need no locks</a:t>
            </a:r>
            <a:endParaRPr lang="en-US" sz="1800" dirty="0"/>
          </a:p>
        </p:txBody>
      </p:sp>
      <p:sp>
        <p:nvSpPr>
          <p:cNvPr id="8" name="Text 6"/>
          <p:cNvSpPr txBox="1"/>
          <p:nvPr/>
        </p:nvSpPr>
        <p:spPr>
          <a:xfrm>
            <a:off x="6355080" y="2295144"/>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Eight threads, eight offsets, one matching hash. Design so the parallel parts cannot collide.</a:t>
            </a:r>
            <a:endParaRPr lang="en-US" sz="1250" dirty="0"/>
          </a:p>
        </p:txBody>
      </p:sp>
      <p:sp>
        <p:nvSpPr>
          <p:cNvPr id="9" name="Shape 7"/>
          <p:cNvSpPr/>
          <p:nvPr/>
        </p:nvSpPr>
        <p:spPr>
          <a:xfrm>
            <a:off x="822960" y="3264408"/>
            <a:ext cx="384048" cy="41148"/>
          </a:xfrm>
          <a:prstGeom prst="rect">
            <a:avLst/>
          </a:prstGeom>
          <a:solidFill>
            <a:srgbClr val="F2A65A"/>
          </a:solidFill>
          <a:ln/>
        </p:spPr>
      </p:sp>
      <p:sp>
        <p:nvSpPr>
          <p:cNvPr id="10" name="Text 8"/>
          <p:cNvSpPr txBox="1"/>
          <p:nvPr/>
        </p:nvSpPr>
        <p:spPr>
          <a:xfrm>
            <a:off x="822960" y="3465576"/>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Own every executor</a:t>
            </a:r>
            <a:endParaRPr lang="en-US" sz="1800" dirty="0"/>
          </a:p>
        </p:txBody>
      </p:sp>
      <p:sp>
        <p:nvSpPr>
          <p:cNvPr id="11" name="Text 9"/>
          <p:cNvSpPr txBox="1"/>
          <p:nvPr/>
        </p:nvSpPr>
        <p:spPr>
          <a:xfrm>
            <a:off x="822960" y="386791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Never blocking work on the common pool. Name the threads, size the pool to the work, shut it down in a finally.</a:t>
            </a:r>
            <a:endParaRPr lang="en-US" sz="1250" dirty="0"/>
          </a:p>
        </p:txBody>
      </p:sp>
      <p:sp>
        <p:nvSpPr>
          <p:cNvPr id="12" name="Shape 10"/>
          <p:cNvSpPr/>
          <p:nvPr/>
        </p:nvSpPr>
        <p:spPr>
          <a:xfrm>
            <a:off x="6355080" y="3264408"/>
            <a:ext cx="384048" cy="41148"/>
          </a:xfrm>
          <a:prstGeom prst="rect">
            <a:avLst/>
          </a:prstGeom>
          <a:solidFill>
            <a:srgbClr val="00A896"/>
          </a:solidFill>
          <a:ln/>
        </p:spPr>
      </p:sp>
      <p:sp>
        <p:nvSpPr>
          <p:cNvPr id="13" name="Text 11"/>
          <p:cNvSpPr txBox="1"/>
          <p:nvPr/>
        </p:nvSpPr>
        <p:spPr>
          <a:xfrm>
            <a:off x="6355080" y="3465576"/>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Compose; block once, at the end</a:t>
            </a:r>
            <a:endParaRPr lang="en-US" sz="1800" dirty="0"/>
          </a:p>
        </p:txBody>
      </p:sp>
      <p:sp>
        <p:nvSpPr>
          <p:cNvPr id="14" name="Text 12"/>
          <p:cNvSpPr txBox="1"/>
          <p:nvPr/>
        </p:nvSpPr>
        <p:spPr>
          <a:xfrm>
            <a:off x="6355080" y="3867912"/>
            <a:ext cx="5029200" cy="822960"/>
          </a:xfrm>
          <a:prstGeom prst="rect">
            <a:avLst/>
          </a:prstGeom>
          <a:noFill/>
          <a:ln/>
        </p:spPr>
        <p:txBody>
          <a:bodyPr wrap="square" lIns="0" tIns="0" rIns="0" bIns="0" rtlCol="0" anchor="t"/>
          <a:lstStyle/>
          <a:p>
            <a:pPr indent="0" marL="0">
              <a:buNone/>
            </a:pPr>
            <a:r>
              <a:rPr lang="en-US" sz="1250" dirty="0">
                <a:solidFill>
                  <a:srgbClr val="9FB0BF"/>
                </a:solidFill>
                <a:latin typeface="Calibri" pitchFamily="34" charset="0"/>
                <a:ea typeface="Calibri" pitchFamily="34" charset="-122"/>
                <a:cs typeface="Calibri" pitchFamily="34" charset="-120"/>
              </a:rPr>
              <a:t>thenCompose and thenCombine to build it, exceptionally and orTimeout to survive it, one join() to collect it.</a:t>
            </a:r>
            <a:endParaRPr lang="en-US" sz="1250" dirty="0"/>
          </a:p>
        </p:txBody>
      </p:sp>
      <p:sp>
        <p:nvSpPr>
          <p:cNvPr id="15" name="Shape 13"/>
          <p:cNvSpPr/>
          <p:nvPr/>
        </p:nvSpPr>
        <p:spPr>
          <a:xfrm>
            <a:off x="9857232" y="4736592"/>
            <a:ext cx="1783080" cy="1783080"/>
          </a:xfrm>
          <a:prstGeom prst="roundRect">
            <a:avLst>
              <a:gd name="adj" fmla="val 3077"/>
            </a:avLst>
          </a:prstGeom>
          <a:solidFill>
            <a:srgbClr val="FFFFFF"/>
          </a:solidFill>
          <a:ln w="12700">
            <a:solidFill>
              <a:srgbClr val="FFFFFF"/>
            </a:solidFill>
            <a:prstDash val="solid"/>
          </a:ln>
        </p:spPr>
      </p:sp>
      <p:pic>
        <p:nvPicPr>
          <p:cNvPr id="16" name="Image 0" descr="qr.png">    </p:cNvPr>
          <p:cNvPicPr>
            <a:picLocks noChangeAspect="1"/>
          </p:cNvPicPr>
          <p:nvPr/>
        </p:nvPicPr>
        <p:blipFill>
          <a:blip r:embed="rId1"/>
          <a:stretch>
            <a:fillRect/>
          </a:stretch>
        </p:blipFill>
        <p:spPr>
          <a:xfrm>
            <a:off x="9966960" y="4846320"/>
            <a:ext cx="1563624" cy="1563624"/>
          </a:xfrm>
          <a:prstGeom prst="rect">
            <a:avLst/>
          </a:prstGeom>
        </p:spPr>
      </p:pic>
      <p:sp>
        <p:nvSpPr>
          <p:cNvPr id="17" name="Text 14"/>
          <p:cNvSpPr txBox="1"/>
          <p:nvPr/>
        </p:nvSpPr>
        <p:spPr>
          <a:xfrm>
            <a:off x="841248" y="4892040"/>
            <a:ext cx="4572000" cy="457200"/>
          </a:xfrm>
          <a:prstGeom prst="rect">
            <a:avLst/>
          </a:prstGeom>
          <a:noFill/>
          <a:ln/>
        </p:spPr>
        <p:txBody>
          <a:bodyPr wrap="square" lIns="0" tIns="0" rIns="0" bIns="0" rtlCol="0" anchor="ctr"/>
          <a:lstStyle/>
          <a:p>
            <a:pPr indent="0" marL="0">
              <a:buNone/>
            </a:pPr>
            <a:r>
              <a:rPr lang="en-US" sz="2400" b="1" dirty="0">
                <a:solidFill>
                  <a:srgbClr val="00A896"/>
                </a:solidFill>
                <a:latin typeface="Cambria" pitchFamily="34" charset="0"/>
                <a:ea typeface="Cambria" pitchFamily="34" charset="-122"/>
                <a:cs typeface="Cambria" pitchFamily="34" charset="-120"/>
              </a:rPr>
              <a:t>Questions?</a:t>
            </a:r>
            <a:endParaRPr lang="en-US" sz="2400" dirty="0"/>
          </a:p>
        </p:txBody>
      </p:sp>
      <p:sp>
        <p:nvSpPr>
          <p:cNvPr id="18" name="Text 15"/>
          <p:cNvSpPr txBox="1"/>
          <p:nvPr/>
        </p:nvSpPr>
        <p:spPr>
          <a:xfrm>
            <a:off x="841248" y="5440680"/>
            <a:ext cx="8229600" cy="3200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Scan it and race a file yourself</a:t>
            </a:r>
            <a:endParaRPr lang="en-US" sz="1500" dirty="0"/>
          </a:p>
        </p:txBody>
      </p:sp>
      <p:sp>
        <p:nvSpPr>
          <p:cNvPr id="19" name="Text 16"/>
          <p:cNvSpPr txBox="1"/>
          <p:nvPr/>
        </p:nvSpPr>
        <p:spPr>
          <a:xfrm>
            <a:off x="841248" y="5742432"/>
            <a:ext cx="8229600" cy="292608"/>
          </a:xfrm>
          <a:prstGeom prst="rect">
            <a:avLst/>
          </a:prstGeom>
          <a:noFill/>
          <a:ln/>
        </p:spPr>
        <p:txBody>
          <a:bodyPr wrap="square" lIns="0" tIns="0" rIns="0" bIns="0" rtlCol="0" anchor="ctr"/>
          <a:lstStyle/>
          <a:p>
            <a:pPr indent="0" marL="0">
              <a:buNone/>
            </a:pPr>
            <a:r>
              <a:rPr lang="en-US" sz="1300" dirty="0">
                <a:solidFill>
                  <a:srgbClr val="00A896"/>
                </a:solidFill>
                <a:latin typeface="Courier New" pitchFamily="34" charset="0"/>
                <a:ea typeface="Courier New" pitchFamily="34" charset="-122"/>
                <a:cs typeface="Courier New" pitchFamily="34" charset="-120"/>
              </a:rPr>
              <a:t>concurrency-demo.onrender.com</a:t>
            </a:r>
            <a:endParaRPr lang="en-US" sz="1300" dirty="0"/>
          </a:p>
        </p:txBody>
      </p:sp>
      <p:sp>
        <p:nvSpPr>
          <p:cNvPr id="20" name="Text 17"/>
          <p:cNvSpPr txBox="1"/>
          <p:nvPr/>
        </p:nvSpPr>
        <p:spPr>
          <a:xfrm>
            <a:off x="841248" y="6053328"/>
            <a:ext cx="8229600" cy="292608"/>
          </a:xfrm>
          <a:prstGeom prst="rect">
            <a:avLst/>
          </a:prstGeom>
          <a:noFill/>
          <a:ln/>
        </p:spPr>
        <p:txBody>
          <a:bodyPr wrap="square" lIns="0" tIns="0" rIns="0" bIns="0" rtlCol="0" anchor="ctr"/>
          <a:lstStyle/>
          <a:p>
            <a:pPr indent="0" marL="0">
              <a:buNone/>
            </a:pPr>
            <a:r>
              <a:rPr lang="en-US" sz="1200" dirty="0">
                <a:solidFill>
                  <a:srgbClr val="7C8FA0"/>
                </a:solidFill>
                <a:latin typeface="Courier New" pitchFamily="34" charset="0"/>
                <a:ea typeface="Courier New" pitchFamily="34" charset="-122"/>
                <a:cs typeface="Courier New" pitchFamily="34" charset="-120"/>
              </a:rPr>
              <a:t>github.com/techadnank9/completablefuture-demo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Concurrency with CompletableFuture</dc:title>
  <dc:subject>PptxGenJS Presentation</dc:subject>
  <dc:creator>Mohammed Adnan</dc:creator>
  <cp:lastModifiedBy>Mohammed Adnan</cp:lastModifiedBy>
  <cp:revision>1</cp:revision>
  <dcterms:created xsi:type="dcterms:W3CDTF">2026-09-28T13:11:29Z</dcterms:created>
  <dcterms:modified xsi:type="dcterms:W3CDTF">2026-09-28T13:11:29Z</dcterms:modified>
</cp:coreProperties>
</file>