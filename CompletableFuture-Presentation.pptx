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32E"/>
                </a:solidFill>
                <a:latin typeface="Calibri"/>
              </a:defRPr>
            </a:pPr>
            <a:r>
              <a:rPr sz="1300" b="0" i="0" u="none" strike="noStrike">
                <a:solidFill>
                  <a:srgbClr val="16232E"/>
                </a:solidFill>
                <a:latin typeface="Calibri"/>
              </a:rPr>
              <a:t>Throughput vs number of connections</a:t>
            </a:r>
          </a:p>
        </c:rich>
      </c:tx>
      <c:layout/>
      <c:overlay val="0"/>
    </c:title>
    <c:autoTitleDeleted val="0"/>
    <c:plotArea>
      <c:layout/>
      <c:lineChart>
        <c:varyColors val="0"/>
        <c:ser>
          <c:idx val="0"/>
          <c:order val="0"/>
          <c:tx>
            <c:strRef>
              <c:f>Sheet1!$B$1</c:f>
              <c:strCache>
                <c:ptCount val="1"/>
                <c:pt idx="0">
                  <c:v>MB/s</c:v>
                </c:pt>
              </c:strCache>
            </c:strRef>
          </c:tx>
          <c:spPr>
            <a:solidFill>
              <a:srgbClr val="00A896"/>
            </a:solidFill>
            <a:ln w="50800" cap="flat">
              <a:solidFill>
                <a:srgbClr val="00A896"/>
              </a:solidFill>
              <a:prstDash val="solid"/>
              <a:round/>
            </a:ln>
            <a:effectLst/>
          </c:spPr>
          <c:invertIfNegative val="0"/>
          <c:dLbls>
            <c:numFmt formatCode="0.0" sourceLinked="0"/>
            <c:txPr>
              <a:bodyPr/>
              <a:lstStyle/>
              <a:p>
                <a:pPr>
                  <a:defRPr b="0" i="0" strike="noStrike" sz="1100" u="none">
                    <a:solidFill>
                      <a:srgbClr val="16232E"/>
                    </a:solidFill>
                    <a:latin typeface="Calibri"/>
                  </a:defRPr>
                </a:pPr>
              </a:p>
            </c:txPr>
            <c:dLblPos val="t"/>
            <c:showLegendKey val="0"/>
            <c:showVal val="1"/>
            <c:showCatName val="0"/>
            <c:showSerName val="0"/>
            <c:showPercent val="0"/>
            <c:showBubbleSize val="0"/>
            <c:showLeaderLines val="0"/>
          </c:dLbls>
          <c:marker>
            <c:symbol val="circle"/>
            <c:size val="9"/>
            <c:spPr>
              <a:solidFill>
                <a:srgbClr val="00A896"/>
              </a:solidFill>
              <a:ln w="9525" cap="flat">
                <a:solidFill>
                  <a:srgbClr val="00A896"/>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3</c:v>
                </c:pt>
                <c:pt idx="1">
                  <c:v>6.1</c:v>
                </c:pt>
                <c:pt idx="2">
                  <c:v>12.4</c:v>
                </c:pt>
                <c:pt idx="3">
                  <c:v>25.8</c:v>
                </c:pt>
                <c:pt idx="4">
                  <c:v>25.5</c:v>
                </c:pt>
                <c:pt idx="5">
                  <c:v>25.6</c:v>
                </c:pt>
              </c:numCache>
            </c:numRef>
          </c:val>
          <c:smooth val="0"/>
        </c:ser>
        <c:dLbls>
          <c:numFmt formatCode="0.0" sourceLinked="0"/>
          <c:txPr>
            <a:bodyPr/>
            <a:lstStyle/>
            <a:p>
              <a:pPr>
                <a:defRPr b="0" i="0" strike="noStrike" sz="1100" u="none">
                  <a:solidFill>
                    <a:srgbClr val="16232E"/>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6232E"/>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C8FA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live demos, but every number is on these slides, so nothing depends on the wifi. The subtitle is the thesis: async is not about computing faster, it is about waiting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Hammer the 0%. Everyone assumes "slow" means "needs more power". Here the machine is idle. That reframes what the fix has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"why does this API have forty methods". Because Future had two, and everything else had to be written by hand, badly, in every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no-lock point is the one worth dwelling on. Concurrency is safe here by design, not by synchronisation — the data was partitioned so collisions are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real numbers from concurrency-demo.onrender.com. If the live demo runs, they will differ slightly — say so, that is honest and it proves the numbers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"I used threads" from "I found the bottleneck". The curve is measured,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confusion with this API. If they remember one API slide, make it this one. The two little bars on the right are the whole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row is the interesting one. A try/catch cannot see a task that simply never returns — it would wait forever. Only a timeout converts silence into something you can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you actually built something rather than read a tutorial. The allOf example is from this project — a real 48-second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first and third. Those are judgement, not syntax. Then open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822960" y="1965960"/>
            <a:ext cx="8229600" cy="640080"/>
          </a:xfrm>
          <a:prstGeom prst="rect">
            <a:avLst/>
          </a:prstGeom>
          <a:noFill/>
          <a:ln/>
        </p:spPr>
        <p:txBody>
          <a:bodyPr wrap="square" lIns="0" tIns="0" rIns="0" bIns="0" rtlCol="0" anchor="ctr"/>
          <a:lstStyle/>
          <a:p>
            <a:pPr indent="0" marL="0">
              <a:buNone/>
            </a:pPr>
            <a:r>
              <a:rPr lang="en-US" sz="3800" dirty="0">
                <a:solidFill>
                  <a:srgbClr val="7C8FA0"/>
                </a:solidFill>
                <a:latin typeface="Cambria" pitchFamily="34" charset="0"/>
                <a:ea typeface="Cambria" pitchFamily="34" charset="-122"/>
                <a:cs typeface="Cambria" pitchFamily="34" charset="-120"/>
              </a:rPr>
              <a:t>Concurrency with</a:t>
            </a:r>
            <a:endParaRPr lang="en-US" sz="3800" dirty="0"/>
          </a:p>
        </p:txBody>
      </p:sp>
      <p:sp>
        <p:nvSpPr>
          <p:cNvPr id="3" name="Text 1"/>
          <p:cNvSpPr txBox="1"/>
          <p:nvPr/>
        </p:nvSpPr>
        <p:spPr>
          <a:xfrm>
            <a:off x="822960" y="2560320"/>
            <a:ext cx="10607040" cy="109728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CompletableFuture</a:t>
            </a:r>
            <a:endParaRPr lang="en-US" sz="5800" dirty="0"/>
          </a:p>
        </p:txBody>
      </p:sp>
      <p:sp>
        <p:nvSpPr>
          <p:cNvPr id="4" name="Text 2"/>
          <p:cNvSpPr txBox="1"/>
          <p:nvPr/>
        </p:nvSpPr>
        <p:spPr>
          <a:xfrm>
            <a:off x="841248" y="3749040"/>
            <a:ext cx="9144000" cy="411480"/>
          </a:xfrm>
          <a:prstGeom prst="rect">
            <a:avLst/>
          </a:prstGeom>
          <a:noFill/>
          <a:ln/>
        </p:spPr>
        <p:txBody>
          <a:bodyPr wrap="square" lIns="0" tIns="0" rIns="0" bIns="0" rtlCol="0" anchor="ctr"/>
          <a:lstStyle/>
          <a:p>
            <a:pPr indent="0" marL="0">
              <a:buNone/>
            </a:pPr>
            <a:r>
              <a:rPr lang="en-US" sz="1800" dirty="0">
                <a:solidFill>
                  <a:srgbClr val="00A896"/>
                </a:solidFill>
                <a:latin typeface="Calibri" pitchFamily="34" charset="0"/>
                <a:ea typeface="Calibri" pitchFamily="34" charset="-122"/>
                <a:cs typeface="Calibri" pitchFamily="34" charset="-120"/>
              </a:rPr>
              <a:t>Doing the waiting in parallel</a:t>
            </a:r>
            <a:endParaRPr lang="en-US" sz="1800" dirty="0"/>
          </a:p>
        </p:txBody>
      </p:sp>
      <p:sp>
        <p:nvSpPr>
          <p:cNvPr id="5" name="Text 3"/>
          <p:cNvSpPr txBox="1"/>
          <p:nvPr/>
        </p:nvSpPr>
        <p:spPr>
          <a:xfrm>
            <a:off x="841248" y="5257800"/>
            <a:ext cx="82296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Mohammed Adnan</a:t>
            </a:r>
            <a:pPr indent="0" marL="0">
              <a:buNone/>
            </a:pPr>
            <a:r>
              <a:rPr lang="en-US" sz="1400" dirty="0">
                <a:solidFill>
                  <a:srgbClr val="7C8FA0"/>
                </a:solidFill>
                <a:latin typeface="Calibri" pitchFamily="34" charset="0"/>
                <a:ea typeface="Calibri" pitchFamily="34" charset="-122"/>
                <a:cs typeface="Calibri" pitchFamily="34" charset="-120"/>
              </a:rPr>
              <a:t>   ·   Trine University   ·   Java</a:t>
            </a:r>
            <a:endParaRPr lang="en-US" sz="1400" dirty="0"/>
          </a:p>
        </p:txBody>
      </p:sp>
      <p:sp>
        <p:nvSpPr>
          <p:cNvPr id="6" name="Shape 4"/>
          <p:cNvSpPr/>
          <p:nvPr/>
        </p:nvSpPr>
        <p:spPr>
          <a:xfrm>
            <a:off x="841248" y="5897880"/>
            <a:ext cx="2377440" cy="118872"/>
          </a:xfrm>
          <a:prstGeom prst="rect">
            <a:avLst/>
          </a:prstGeom>
          <a:solidFill>
            <a:srgbClr val="6B7C8C"/>
          </a:solidFill>
          <a:ln/>
        </p:spPr>
      </p:sp>
      <p:sp>
        <p:nvSpPr>
          <p:cNvPr id="7" name="Shape 5"/>
          <p:cNvSpPr/>
          <p:nvPr/>
        </p:nvSpPr>
        <p:spPr>
          <a:xfrm>
            <a:off x="841248" y="6172200"/>
            <a:ext cx="237744" cy="118872"/>
          </a:xfrm>
          <a:prstGeom prst="rect">
            <a:avLst/>
          </a:prstGeom>
          <a:solidFill>
            <a:srgbClr val="00A896"/>
          </a:solidFill>
          <a:ln/>
        </p:spPr>
      </p:sp>
      <p:sp>
        <p:nvSpPr>
          <p:cNvPr id="8" name="Shape 6"/>
          <p:cNvSpPr/>
          <p:nvPr/>
        </p:nvSpPr>
        <p:spPr>
          <a:xfrm>
            <a:off x="1152144" y="6172200"/>
            <a:ext cx="237744" cy="118872"/>
          </a:xfrm>
          <a:prstGeom prst="rect">
            <a:avLst/>
          </a:prstGeom>
          <a:solidFill>
            <a:srgbClr val="00A896"/>
          </a:solidFill>
          <a:ln/>
        </p:spPr>
      </p:sp>
      <p:sp>
        <p:nvSpPr>
          <p:cNvPr id="9" name="Shape 7"/>
          <p:cNvSpPr/>
          <p:nvPr/>
        </p:nvSpPr>
        <p:spPr>
          <a:xfrm>
            <a:off x="1463040" y="6172200"/>
            <a:ext cx="237744" cy="118872"/>
          </a:xfrm>
          <a:prstGeom prst="rect">
            <a:avLst/>
          </a:prstGeom>
          <a:solidFill>
            <a:srgbClr val="00A896"/>
          </a:solidFill>
          <a:ln/>
        </p:spPr>
      </p:sp>
      <p:sp>
        <p:nvSpPr>
          <p:cNvPr id="10" name="Shape 8"/>
          <p:cNvSpPr/>
          <p:nvPr/>
        </p:nvSpPr>
        <p:spPr>
          <a:xfrm>
            <a:off x="1773936" y="6172200"/>
            <a:ext cx="237744" cy="118872"/>
          </a:xfrm>
          <a:prstGeom prst="rect">
            <a:avLst/>
          </a:prstGeom>
          <a:solidFill>
            <a:srgbClr val="00A896"/>
          </a:solidFill>
          <a:ln/>
        </p:spPr>
      </p:sp>
      <p:sp>
        <p:nvSpPr>
          <p:cNvPr id="11" name="Shape 9"/>
          <p:cNvSpPr/>
          <p:nvPr/>
        </p:nvSpPr>
        <p:spPr>
          <a:xfrm>
            <a:off x="2084832" y="6172200"/>
            <a:ext cx="237744" cy="118872"/>
          </a:xfrm>
          <a:prstGeom prst="rect">
            <a:avLst/>
          </a:prstGeom>
          <a:solidFill>
            <a:srgbClr val="00A896"/>
          </a:solidFill>
          <a:ln/>
        </p:spPr>
      </p:sp>
      <p:sp>
        <p:nvSpPr>
          <p:cNvPr id="12" name="Shape 10"/>
          <p:cNvSpPr/>
          <p:nvPr/>
        </p:nvSpPr>
        <p:spPr>
          <a:xfrm>
            <a:off x="2395728" y="6172200"/>
            <a:ext cx="237744" cy="118872"/>
          </a:xfrm>
          <a:prstGeom prst="rect">
            <a:avLst/>
          </a:prstGeom>
          <a:solidFill>
            <a:srgbClr val="00A896"/>
          </a:solidFill>
          <a:ln/>
        </p:spPr>
      </p:sp>
      <p:sp>
        <p:nvSpPr>
          <p:cNvPr id="13" name="Shape 11"/>
          <p:cNvSpPr/>
          <p:nvPr/>
        </p:nvSpPr>
        <p:spPr>
          <a:xfrm>
            <a:off x="2706624" y="6172200"/>
            <a:ext cx="237744" cy="118872"/>
          </a:xfrm>
          <a:prstGeom prst="rect">
            <a:avLst/>
          </a:prstGeom>
          <a:solidFill>
            <a:srgbClr val="00A896"/>
          </a:solidFill>
          <a:ln/>
        </p:spPr>
      </p:sp>
      <p:sp>
        <p:nvSpPr>
          <p:cNvPr id="14" name="Shape 12"/>
          <p:cNvSpPr/>
          <p:nvPr/>
        </p:nvSpPr>
        <p:spPr>
          <a:xfrm>
            <a:off x="3017520" y="6172200"/>
            <a:ext cx="237744" cy="118872"/>
          </a:xfrm>
          <a:prstGeom prst="rect">
            <a:avLst/>
          </a:prstGeom>
          <a:solidFill>
            <a:srgbClr val="00A89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THE PROBLEM</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A blocked thread is not slow. It is asleep.</a:t>
            </a:r>
            <a:endParaRPr lang="en-US" sz="3400" dirty="0"/>
          </a:p>
        </p:txBody>
      </p:sp>
      <p:sp>
        <p:nvSpPr>
          <p:cNvPr id="4" name="Text 2"/>
          <p:cNvSpPr txBox="1"/>
          <p:nvPr/>
        </p:nvSpPr>
        <p:spPr>
          <a:xfrm>
            <a:off x="621792" y="1298448"/>
            <a:ext cx="10881360" cy="365760"/>
          </a:xfrm>
          <a:prstGeom prst="rect">
            <a:avLst/>
          </a:prstGeom>
          <a:noFill/>
          <a:ln/>
        </p:spPr>
        <p:txBody>
          <a:bodyPr wrap="square" lIns="0" tIns="0" rIns="0" bIns="0" rtlCol="0" anchor="ctr"/>
          <a:lstStyle/>
          <a:p>
            <a:pPr indent="0" marL="0">
              <a:buNone/>
            </a:pPr>
            <a:r>
              <a:rPr lang="en-US" sz="1500" dirty="0">
                <a:solidFill>
                  <a:srgbClr val="7C8FA0"/>
                </a:solidFill>
                <a:latin typeface="Calibri" pitchFamily="34" charset="0"/>
                <a:ea typeface="Calibri" pitchFamily="34" charset="-122"/>
                <a:cs typeface="Calibri" pitchFamily="34" charset="-120"/>
              </a:rPr>
              <a:t>Downloading an 8 MB file over one connection, from a server that limits each connection to 0.4 MB/s:</a:t>
            </a:r>
            <a:endParaRPr lang="en-US" sz="1500" dirty="0"/>
          </a:p>
        </p:txBody>
      </p:sp>
      <p:sp>
        <p:nvSpPr>
          <p:cNvPr id="5" name="Shape 3"/>
          <p:cNvSpPr/>
          <p:nvPr/>
        </p:nvSpPr>
        <p:spPr>
          <a:xfrm>
            <a:off x="621792" y="1965960"/>
            <a:ext cx="10927080" cy="1371600"/>
          </a:xfrm>
          <a:prstGeom prst="roundRect">
            <a:avLst>
              <a:gd name="adj" fmla="val 4000"/>
            </a:avLst>
          </a:prstGeom>
          <a:solidFill>
            <a:srgbClr val="F1F5F8"/>
          </a:solidFill>
          <a:ln w="12700">
            <a:solidFill>
              <a:srgbClr val="F1F5F8"/>
            </a:solidFill>
            <a:prstDash val="solid"/>
          </a:ln>
        </p:spPr>
      </p:sp>
      <p:sp>
        <p:nvSpPr>
          <p:cNvPr id="6" name="Shape 4"/>
          <p:cNvSpPr/>
          <p:nvPr/>
        </p:nvSpPr>
        <p:spPr>
          <a:xfrm>
            <a:off x="868680" y="2331720"/>
            <a:ext cx="10424160" cy="640080"/>
          </a:xfrm>
          <a:prstGeom prst="roundRect">
            <a:avLst>
              <a:gd name="adj" fmla="val 10000"/>
            </a:avLst>
          </a:prstGeom>
          <a:solidFill>
            <a:srgbClr val="6B7C8C"/>
          </a:solidFill>
          <a:ln w="12700">
            <a:solidFill>
              <a:srgbClr val="6B7C8C"/>
            </a:solidFill>
            <a:prstDash val="solid"/>
          </a:ln>
        </p:spPr>
      </p:sp>
      <p:sp>
        <p:nvSpPr>
          <p:cNvPr id="7" name="Text 5"/>
          <p:cNvSpPr txBox="1"/>
          <p:nvPr/>
        </p:nvSpPr>
        <p:spPr>
          <a:xfrm>
            <a:off x="868680" y="2331720"/>
            <a:ext cx="104241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main  —  parked in read()  —  20.3 seconds</a:t>
            </a:r>
            <a:endParaRPr lang="en-US" sz="1400" dirty="0"/>
          </a:p>
        </p:txBody>
      </p:sp>
      <p:sp>
        <p:nvSpPr>
          <p:cNvPr id="8" name="Text 6"/>
          <p:cNvSpPr txBox="1"/>
          <p:nvPr/>
        </p:nvSpPr>
        <p:spPr>
          <a:xfrm>
            <a:off x="621792" y="3794760"/>
            <a:ext cx="3474720" cy="914400"/>
          </a:xfrm>
          <a:prstGeom prst="rect">
            <a:avLst/>
          </a:prstGeom>
          <a:noFill/>
          <a:ln/>
        </p:spPr>
        <p:txBody>
          <a:bodyPr wrap="square" lIns="0" tIns="0" rIns="0" bIns="0" rtlCol="0" anchor="ctr"/>
          <a:lstStyle/>
          <a:p>
            <a:pPr indent="0" marL="0">
              <a:buNone/>
            </a:pPr>
            <a:r>
              <a:rPr lang="en-US" sz="5400" b="1" dirty="0">
                <a:solidFill>
                  <a:srgbClr val="6B7C8C"/>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621792" y="4736592"/>
            <a:ext cx="3383280" cy="457200"/>
          </a:xfrm>
          <a:prstGeom prst="rect">
            <a:avLst/>
          </a:prstGeom>
          <a:noFill/>
          <a:ln/>
        </p:spPr>
        <p:txBody>
          <a:bodyPr wrap="square" lIns="0" tIns="0" rIns="0" bIns="0" rtlCol="0" anchor="t"/>
          <a:lstStyle/>
          <a:p>
            <a:pPr indent="0" marL="0">
              <a:buNone/>
            </a:pPr>
            <a:r>
              <a:rPr lang="en-US" sz="1400" dirty="0">
                <a:solidFill>
                  <a:srgbClr val="7C8FA0"/>
                </a:solidFill>
                <a:latin typeface="Calibri" pitchFamily="34" charset="0"/>
                <a:ea typeface="Calibri" pitchFamily="34" charset="-122"/>
                <a:cs typeface="Calibri" pitchFamily="34" charset="-120"/>
              </a:rPr>
              <a:t>CPU used while it waits</a:t>
            </a:r>
            <a:endParaRPr lang="en-US" sz="1400" dirty="0"/>
          </a:p>
        </p:txBody>
      </p:sp>
      <p:sp>
        <p:nvSpPr>
          <p:cNvPr id="10" name="Text 8"/>
          <p:cNvSpPr txBox="1"/>
          <p:nvPr/>
        </p:nvSpPr>
        <p:spPr>
          <a:xfrm>
            <a:off x="4370832" y="3794760"/>
            <a:ext cx="3474720" cy="914400"/>
          </a:xfrm>
          <a:prstGeom prst="rect">
            <a:avLst/>
          </a:prstGeom>
          <a:noFill/>
          <a:ln/>
        </p:spPr>
        <p:txBody>
          <a:bodyPr wrap="square" lIns="0" tIns="0" rIns="0" bIns="0" rtlCol="0" anchor="ctr"/>
          <a:lstStyle/>
          <a:p>
            <a:pPr indent="0" marL="0">
              <a:buNone/>
            </a:pPr>
            <a:r>
              <a:rPr lang="en-US" sz="5400" b="1" dirty="0">
                <a:solidFill>
                  <a:srgbClr val="6B7C8C"/>
                </a:solidFill>
                <a:latin typeface="Cambria" pitchFamily="34" charset="0"/>
                <a:ea typeface="Cambria" pitchFamily="34" charset="-122"/>
                <a:cs typeface="Cambria" pitchFamily="34" charset="-120"/>
              </a:rPr>
              <a:t>~1 MB</a:t>
            </a:r>
            <a:endParaRPr lang="en-US" sz="5400" dirty="0"/>
          </a:p>
        </p:txBody>
      </p:sp>
      <p:sp>
        <p:nvSpPr>
          <p:cNvPr id="11" name="Text 9"/>
          <p:cNvSpPr txBox="1"/>
          <p:nvPr/>
        </p:nvSpPr>
        <p:spPr>
          <a:xfrm>
            <a:off x="4370832" y="4736592"/>
            <a:ext cx="3383280" cy="457200"/>
          </a:xfrm>
          <a:prstGeom prst="rect">
            <a:avLst/>
          </a:prstGeom>
          <a:noFill/>
          <a:ln/>
        </p:spPr>
        <p:txBody>
          <a:bodyPr wrap="square" lIns="0" tIns="0" rIns="0" bIns="0" rtlCol="0" anchor="t"/>
          <a:lstStyle/>
          <a:p>
            <a:pPr indent="0" marL="0">
              <a:buNone/>
            </a:pPr>
            <a:r>
              <a:rPr lang="en-US" sz="1400" dirty="0">
                <a:solidFill>
                  <a:srgbClr val="7C8FA0"/>
                </a:solidFill>
                <a:latin typeface="Calibri" pitchFamily="34" charset="0"/>
                <a:ea typeface="Calibri" pitchFamily="34" charset="-122"/>
                <a:cs typeface="Calibri" pitchFamily="34" charset="-120"/>
              </a:rPr>
              <a:t>of stack held the whole time</a:t>
            </a:r>
            <a:endParaRPr lang="en-US" sz="1400" dirty="0"/>
          </a:p>
        </p:txBody>
      </p:sp>
      <p:sp>
        <p:nvSpPr>
          <p:cNvPr id="12" name="Text 10"/>
          <p:cNvSpPr txBox="1"/>
          <p:nvPr/>
        </p:nvSpPr>
        <p:spPr>
          <a:xfrm>
            <a:off x="8119872" y="3794760"/>
            <a:ext cx="3474720" cy="914400"/>
          </a:xfrm>
          <a:prstGeom prst="rect">
            <a:avLst/>
          </a:prstGeom>
          <a:noFill/>
          <a:ln/>
        </p:spPr>
        <p:txBody>
          <a:bodyPr wrap="square" lIns="0" tIns="0" rIns="0" bIns="0" rtlCol="0" anchor="ctr"/>
          <a:lstStyle/>
          <a:p>
            <a:pPr indent="0" marL="0">
              <a:buNone/>
            </a:pPr>
            <a:r>
              <a:rPr lang="en-US" sz="5400" b="1" dirty="0">
                <a:solidFill>
                  <a:srgbClr val="D9534F"/>
                </a:solidFill>
                <a:latin typeface="Cambria" pitchFamily="34" charset="0"/>
                <a:ea typeface="Cambria" pitchFamily="34" charset="-122"/>
                <a:cs typeface="Cambria" pitchFamily="34" charset="-120"/>
              </a:rPr>
              <a:t>20.3 s</a:t>
            </a:r>
            <a:endParaRPr lang="en-US" sz="5400" dirty="0"/>
          </a:p>
        </p:txBody>
      </p:sp>
      <p:sp>
        <p:nvSpPr>
          <p:cNvPr id="13" name="Text 11"/>
          <p:cNvSpPr txBox="1"/>
          <p:nvPr/>
        </p:nvSpPr>
        <p:spPr>
          <a:xfrm>
            <a:off x="8119872" y="4736592"/>
            <a:ext cx="3383280" cy="457200"/>
          </a:xfrm>
          <a:prstGeom prst="rect">
            <a:avLst/>
          </a:prstGeom>
          <a:noFill/>
          <a:ln/>
        </p:spPr>
        <p:txBody>
          <a:bodyPr wrap="square" lIns="0" tIns="0" rIns="0" bIns="0" rtlCol="0" anchor="t"/>
          <a:lstStyle/>
          <a:p>
            <a:pPr indent="0" marL="0">
              <a:buNone/>
            </a:pPr>
            <a:r>
              <a:rPr lang="en-US" sz="1400" dirty="0">
                <a:solidFill>
                  <a:srgbClr val="7C8FA0"/>
                </a:solidFill>
                <a:latin typeface="Calibri" pitchFamily="34" charset="0"/>
                <a:ea typeface="Calibri" pitchFamily="34" charset="-122"/>
                <a:cs typeface="Calibri" pitchFamily="34" charset="-120"/>
              </a:rPr>
              <a:t>of doing precisely nothing</a:t>
            </a:r>
            <a:endParaRPr lang="en-US" sz="1400" dirty="0"/>
          </a:p>
        </p:txBody>
      </p:sp>
      <p:sp>
        <p:nvSpPr>
          <p:cNvPr id="14" name="Text 12"/>
          <p:cNvSpPr txBox="1"/>
          <p:nvPr/>
        </p:nvSpPr>
        <p:spPr>
          <a:xfrm>
            <a:off x="621792" y="5715000"/>
            <a:ext cx="10881360" cy="457200"/>
          </a:xfrm>
          <a:prstGeom prst="rect">
            <a:avLst/>
          </a:prstGeom>
          <a:noFill/>
          <a:ln/>
        </p:spPr>
        <p:txBody>
          <a:bodyPr wrap="square" lIns="0" tIns="0" rIns="0" bIns="0" rtlCol="0" anchor="ctr"/>
          <a:lstStyle/>
          <a:p>
            <a:pPr indent="0" marL="0">
              <a:buNone/>
            </a:pPr>
            <a:r>
              <a:rPr lang="en-US" sz="2000" b="1" i="1" dirty="0">
                <a:solidFill>
                  <a:srgbClr val="00776B"/>
                </a:solidFill>
                <a:latin typeface="Cambria" pitchFamily="34" charset="0"/>
                <a:ea typeface="Cambria" pitchFamily="34" charset="-122"/>
                <a:cs typeface="Cambria" pitchFamily="34" charset="-120"/>
              </a:rPr>
              <a:t>Adding processors does not help. This was never a CPU problem.</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JAVA 5, 2004  →  JAVA 8, 2014</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Future had exactly one move: block</a:t>
            </a:r>
            <a:endParaRPr lang="en-US" sz="3400" dirty="0"/>
          </a:p>
        </p:txBody>
      </p:sp>
      <p:sp>
        <p:nvSpPr>
          <p:cNvPr id="4" name="Text 2"/>
          <p:cNvSpPr txBox="1"/>
          <p:nvPr/>
        </p:nvSpPr>
        <p:spPr>
          <a:xfrm>
            <a:off x="621792" y="1298448"/>
            <a:ext cx="10881360" cy="365760"/>
          </a:xfrm>
          <a:prstGeom prst="rect">
            <a:avLst/>
          </a:prstGeom>
          <a:noFill/>
          <a:ln/>
        </p:spPr>
        <p:txBody>
          <a:bodyPr wrap="square" lIns="0" tIns="0" rIns="0" bIns="0" rtlCol="0" anchor="ctr"/>
          <a:lstStyle/>
          <a:p>
            <a:pPr indent="0" marL="0">
              <a:buNone/>
            </a:pPr>
            <a:r>
              <a:rPr lang="en-US" sz="1500" dirty="0">
                <a:solidFill>
                  <a:srgbClr val="7C8FA0"/>
                </a:solidFill>
                <a:latin typeface="Calibri" pitchFamily="34" charset="0"/>
                <a:ea typeface="Calibri" pitchFamily="34" charset="-122"/>
                <a:cs typeface="Calibri" pitchFamily="34" charset="-120"/>
              </a:rPr>
              <a:t>It could start work and hand you a receipt. It could not describe what happens next — and ten years of that is why CompletableFuture exists.</a:t>
            </a:r>
            <a:endParaRPr lang="en-US" sz="1500" dirty="0"/>
          </a:p>
        </p:txBody>
      </p:sp>
      <p:sp>
        <p:nvSpPr>
          <p:cNvPr id="5" name="Text 3"/>
          <p:cNvSpPr txBox="1"/>
          <p:nvPr/>
        </p:nvSpPr>
        <p:spPr>
          <a:xfrm>
            <a:off x="621792" y="1874520"/>
            <a:ext cx="5120640" cy="274320"/>
          </a:xfrm>
          <a:prstGeom prst="rect">
            <a:avLst/>
          </a:prstGeom>
          <a:noFill/>
          <a:ln/>
        </p:spPr>
        <p:txBody>
          <a:bodyPr wrap="square" lIns="0" tIns="0" rIns="0" bIns="0" rtlCol="0" anchor="ctr"/>
          <a:lstStyle/>
          <a:p>
            <a:pPr indent="0" marL="0">
              <a:buNone/>
            </a:pPr>
            <a:r>
              <a:rPr lang="en-US" sz="1300" b="1" dirty="0">
                <a:solidFill>
                  <a:srgbClr val="6B7C8C"/>
                </a:solidFill>
                <a:latin typeface="Calibri" pitchFamily="34" charset="0"/>
                <a:ea typeface="Calibri" pitchFamily="34" charset="-122"/>
                <a:cs typeface="Calibri" pitchFamily="34" charset="-120"/>
              </a:rPr>
              <a:t>Future  ·  the only move is to block</a:t>
            </a:r>
            <a:endParaRPr lang="en-US" sz="1300" dirty="0"/>
          </a:p>
        </p:txBody>
      </p:sp>
      <p:sp>
        <p:nvSpPr>
          <p:cNvPr id="6" name="Shape 4"/>
          <p:cNvSpPr/>
          <p:nvPr/>
        </p:nvSpPr>
        <p:spPr>
          <a:xfrm>
            <a:off x="621792" y="2212848"/>
            <a:ext cx="5212080" cy="2286000"/>
          </a:xfrm>
          <a:prstGeom prst="roundRect">
            <a:avLst>
              <a:gd name="adj" fmla="val 2400"/>
            </a:avLst>
          </a:prstGeom>
          <a:solidFill>
            <a:srgbClr val="0D1F31"/>
          </a:solidFill>
          <a:ln w="12700">
            <a:solidFill>
              <a:srgbClr val="0D1F31"/>
            </a:solidFill>
            <a:prstDash val="solid"/>
          </a:ln>
        </p:spPr>
      </p:sp>
      <p:sp>
        <p:nvSpPr>
          <p:cNvPr id="7" name="Text 5"/>
          <p:cNvSpPr txBox="1"/>
          <p:nvPr/>
        </p:nvSpPr>
        <p:spPr>
          <a:xfrm>
            <a:off x="822960" y="2359152"/>
            <a:ext cx="4809744" cy="1993392"/>
          </a:xfrm>
          <a:prstGeom prst="rect">
            <a:avLst/>
          </a:prstGeom>
          <a:noFill/>
          <a:ln/>
        </p:spPr>
        <p:txBody>
          <a:bodyPr wrap="square" lIns="0" tIns="0" rIns="0" bIns="0" rtlCol="0" anchor="t"/>
          <a:lstStyle/>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Future&lt;byte[]&gt; f = pool.submit(task);</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byte[] data = f.</a:t>
            </a:r>
            <a:pPr indent="0" marL="0">
              <a:lnSpc>
                <a:spcPct val="118000"/>
              </a:lnSpc>
              <a:buNone/>
            </a:pPr>
            <a:r>
              <a:rPr lang="en-US" sz="1250" dirty="0">
                <a:solidFill>
                  <a:srgbClr val="D9534F"/>
                </a:solidFill>
                <a:latin typeface="Courier New" pitchFamily="34" charset="0"/>
                <a:ea typeface="Courier New" pitchFamily="34" charset="-122"/>
                <a:cs typeface="Courier New" pitchFamily="34" charset="-120"/>
              </a:rPr>
              <a:t>get</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a:t>
            </a:r>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 blocks. that is it.</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want to chain? transform?</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recover? combine two?</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write it yourself.</a:t>
            </a:r>
            <a:endParaRPr lang="en-US" sz="1250" dirty="0"/>
          </a:p>
        </p:txBody>
      </p:sp>
      <p:sp>
        <p:nvSpPr>
          <p:cNvPr id="8" name="Text 6"/>
          <p:cNvSpPr txBox="1"/>
          <p:nvPr/>
        </p:nvSpPr>
        <p:spPr>
          <a:xfrm>
            <a:off x="621792" y="4617720"/>
            <a:ext cx="5212080" cy="457200"/>
          </a:xfrm>
          <a:prstGeom prst="rect">
            <a:avLst/>
          </a:prstGeom>
          <a:noFill/>
          <a:ln/>
        </p:spPr>
        <p:txBody>
          <a:bodyPr wrap="square" lIns="0" tIns="0" rIns="0" bIns="0" rtlCol="0" anchor="t"/>
          <a:lstStyle/>
          <a:p>
            <a:pPr indent="0" marL="0">
              <a:buNone/>
            </a:pPr>
            <a:r>
              <a:rPr lang="en-US" sz="1250" i="1" dirty="0">
                <a:solidFill>
                  <a:srgbClr val="7C8FA0"/>
                </a:solidFill>
                <a:latin typeface="Calibri" pitchFamily="34" charset="0"/>
                <a:ea typeface="Calibri" pitchFamily="34" charset="-122"/>
                <a:cs typeface="Calibri" pitchFamily="34" charset="-120"/>
              </a:rPr>
              <a:t>isDone() and get() — a handle on work, with no way to say what happens when it lands.</a:t>
            </a:r>
            <a:endParaRPr lang="en-US" sz="1250" dirty="0"/>
          </a:p>
        </p:txBody>
      </p:sp>
      <p:sp>
        <p:nvSpPr>
          <p:cNvPr id="9" name="Text 7"/>
          <p:cNvSpPr txBox="1"/>
          <p:nvPr/>
        </p:nvSpPr>
        <p:spPr>
          <a:xfrm>
            <a:off x="6355080" y="1874520"/>
            <a:ext cx="5212080" cy="274320"/>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CompletableFuture  ·  describe the whole pipeline</a:t>
            </a:r>
            <a:endParaRPr lang="en-US" sz="1300" dirty="0"/>
          </a:p>
        </p:txBody>
      </p:sp>
      <p:sp>
        <p:nvSpPr>
          <p:cNvPr id="10" name="Shape 8"/>
          <p:cNvSpPr/>
          <p:nvPr/>
        </p:nvSpPr>
        <p:spPr>
          <a:xfrm>
            <a:off x="6355080" y="2212848"/>
            <a:ext cx="5193792" cy="2286000"/>
          </a:xfrm>
          <a:prstGeom prst="roundRect">
            <a:avLst>
              <a:gd name="adj" fmla="val 2400"/>
            </a:avLst>
          </a:prstGeom>
          <a:solidFill>
            <a:srgbClr val="0D1F31"/>
          </a:solidFill>
          <a:ln w="12700">
            <a:solidFill>
              <a:srgbClr val="0D1F31"/>
            </a:solidFill>
            <a:prstDash val="solid"/>
          </a:ln>
        </p:spPr>
      </p:sp>
      <p:sp>
        <p:nvSpPr>
          <p:cNvPr id="11" name="Text 9"/>
          <p:cNvSpPr txBox="1"/>
          <p:nvPr/>
        </p:nvSpPr>
        <p:spPr>
          <a:xfrm>
            <a:off x="6556248" y="2359152"/>
            <a:ext cx="4791456" cy="1993392"/>
          </a:xfrm>
          <a:prstGeom prst="rect">
            <a:avLst/>
          </a:prstGeom>
          <a:noFill/>
          <a:ln/>
        </p:spPr>
        <p:txBody>
          <a:bodyPr wrap="square" lIns="0" tIns="0" rIns="0" bIns="0" rtlCol="0" anchor="t"/>
          <a:lstStyle/>
          <a:p>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supplyAsync</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(task, pool)</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thenApply</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(this::decode)</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thenCombine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(other, Pair::of)</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exceptionally</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(e -&gt; fallback)</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orTimeout</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(3, SECONDS);</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nothing has blocked yet.</a:t>
            </a:r>
            <a:endParaRPr lang="en-US" sz="1250" dirty="0"/>
          </a:p>
        </p:txBody>
      </p:sp>
      <p:sp>
        <p:nvSpPr>
          <p:cNvPr id="12" name="Text 10"/>
          <p:cNvSpPr txBox="1"/>
          <p:nvPr/>
        </p:nvSpPr>
        <p:spPr>
          <a:xfrm>
            <a:off x="6355080" y="4617720"/>
            <a:ext cx="5193792" cy="457200"/>
          </a:xfrm>
          <a:prstGeom prst="rect">
            <a:avLst/>
          </a:prstGeom>
          <a:noFill/>
          <a:ln/>
        </p:spPr>
        <p:txBody>
          <a:bodyPr wrap="square" lIns="0" tIns="0" rIns="0" bIns="0" rtlCol="0" anchor="t"/>
          <a:lstStyle/>
          <a:p>
            <a:pPr indent="0" marL="0">
              <a:buNone/>
            </a:pPr>
            <a:r>
              <a:rPr lang="en-US" sz="1250" i="1" dirty="0">
                <a:solidFill>
                  <a:srgbClr val="00776B"/>
                </a:solidFill>
                <a:latin typeface="Calibri" pitchFamily="34" charset="0"/>
                <a:ea typeface="Calibri" pitchFamily="34" charset="-122"/>
                <a:cs typeface="Calibri" pitchFamily="34" charset="-120"/>
              </a:rPr>
              <a:t>A plan, written before the data exists. You block once, at the very end — if at all.</a:t>
            </a:r>
            <a:endParaRPr lang="en-US" sz="1250" dirty="0"/>
          </a:p>
        </p:txBody>
      </p:sp>
      <p:sp>
        <p:nvSpPr>
          <p:cNvPr id="13" name="Text 11"/>
          <p:cNvSpPr txBox="1"/>
          <p:nvPr/>
        </p:nvSpPr>
        <p:spPr>
          <a:xfrm>
            <a:off x="621792" y="5715000"/>
            <a:ext cx="10927080" cy="457200"/>
          </a:xfrm>
          <a:prstGeom prst="rect">
            <a:avLst/>
          </a:prstGeom>
          <a:noFill/>
          <a:ln/>
        </p:spPr>
        <p:txBody>
          <a:bodyPr wrap="square" lIns="0" tIns="0" rIns="0" bIns="0" rtlCol="0" anchor="ctr"/>
          <a:lstStyle/>
          <a:p>
            <a:pPr indent="0" marL="0">
              <a:buNone/>
            </a:pPr>
            <a:r>
              <a:rPr lang="en-US" sz="1900" b="1" i="1" dirty="0">
                <a:solidFill>
                  <a:srgbClr val="16232E"/>
                </a:solidFill>
                <a:latin typeface="Cambria" pitchFamily="34" charset="0"/>
                <a:ea typeface="Cambria" pitchFamily="34" charset="-122"/>
                <a:cs typeface="Cambria" pitchFamily="34" charset="-120"/>
              </a:rPr>
              <a:t>Every method on the right exists because somebody had to hand-write it on the left, in every project, usually wrong.</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THE SHAPE OF EVERY SOLUTION</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Fan out, then fan in</a:t>
            </a:r>
            <a:endParaRPr lang="en-US" sz="3400" dirty="0"/>
          </a:p>
        </p:txBody>
      </p:sp>
      <p:sp>
        <p:nvSpPr>
          <p:cNvPr id="4" name="Shape 2"/>
          <p:cNvSpPr/>
          <p:nvPr/>
        </p:nvSpPr>
        <p:spPr>
          <a:xfrm>
            <a:off x="621792" y="2606040"/>
            <a:ext cx="2286000" cy="1371600"/>
          </a:xfrm>
          <a:prstGeom prst="roundRect">
            <a:avLst>
              <a:gd name="adj" fmla="val 4000"/>
            </a:avLst>
          </a:prstGeom>
          <a:solidFill>
            <a:srgbClr val="16293D"/>
          </a:solidFill>
          <a:ln w="12700">
            <a:solidFill>
              <a:srgbClr val="16293D"/>
            </a:solidFill>
            <a:prstDash val="solid"/>
          </a:ln>
        </p:spPr>
      </p:sp>
      <p:sp>
        <p:nvSpPr>
          <p:cNvPr id="5" name="Text 3"/>
          <p:cNvSpPr txBox="1"/>
          <p:nvPr/>
        </p:nvSpPr>
        <p:spPr>
          <a:xfrm>
            <a:off x="621792" y="2606040"/>
            <a:ext cx="2286000" cy="13716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one 8 MB file</a:t>
            </a:r>
            <a:endParaRPr lang="en-US" sz="1400" dirty="0"/>
          </a:p>
        </p:txBody>
      </p:sp>
      <p:sp>
        <p:nvSpPr>
          <p:cNvPr id="6" name="Text 4"/>
          <p:cNvSpPr txBox="1"/>
          <p:nvPr/>
        </p:nvSpPr>
        <p:spPr>
          <a:xfrm>
            <a:off x="3017520" y="2926080"/>
            <a:ext cx="822960" cy="731520"/>
          </a:xfrm>
          <a:prstGeom prst="rect">
            <a:avLst/>
          </a:prstGeom>
          <a:noFill/>
          <a:ln/>
        </p:spPr>
        <p:txBody>
          <a:bodyPr wrap="square" lIns="0" tIns="0" rIns="0" bIns="0" rtlCol="0" anchor="ctr"/>
          <a:lstStyle/>
          <a:p>
            <a:pPr algn="ctr" indent="0" marL="0">
              <a:buNone/>
            </a:pPr>
            <a:r>
              <a:rPr lang="en-US" sz="3000" dirty="0">
                <a:solidFill>
                  <a:srgbClr val="00A896"/>
                </a:solidFill>
                <a:latin typeface="Calibri" pitchFamily="34" charset="0"/>
                <a:ea typeface="Calibri" pitchFamily="34" charset="-122"/>
                <a:cs typeface="Calibri" pitchFamily="34" charset="-120"/>
              </a:rPr>
              <a:t>→</a:t>
            </a:r>
            <a:endParaRPr lang="en-US" sz="3000" dirty="0"/>
          </a:p>
        </p:txBody>
      </p:sp>
      <p:sp>
        <p:nvSpPr>
          <p:cNvPr id="7" name="Text 5"/>
          <p:cNvSpPr txBox="1"/>
          <p:nvPr/>
        </p:nvSpPr>
        <p:spPr>
          <a:xfrm>
            <a:off x="2697480" y="3675888"/>
            <a:ext cx="1463040" cy="274320"/>
          </a:xfrm>
          <a:prstGeom prst="rect">
            <a:avLst/>
          </a:prstGeom>
          <a:noFill/>
          <a:ln/>
        </p:spPr>
        <p:txBody>
          <a:bodyPr wrap="square" lIns="0" tIns="0" rIns="0" bIns="0" rtlCol="0" anchor="ctr"/>
          <a:lstStyle/>
          <a:p>
            <a:pPr algn="ctr" indent="0" marL="0">
              <a:buNone/>
            </a:pPr>
            <a:r>
              <a:rPr lang="en-US" sz="1100" dirty="0">
                <a:solidFill>
                  <a:srgbClr val="00A896"/>
                </a:solidFill>
                <a:latin typeface="Courier New" pitchFamily="34" charset="0"/>
                <a:ea typeface="Courier New" pitchFamily="34" charset="-122"/>
                <a:cs typeface="Courier New" pitchFamily="34" charset="-120"/>
              </a:rPr>
              <a:t>supplyAsync</a:t>
            </a:r>
            <a:endParaRPr lang="en-US" sz="1100" dirty="0"/>
          </a:p>
        </p:txBody>
      </p:sp>
      <p:sp>
        <p:nvSpPr>
          <p:cNvPr id="8" name="Shape 6"/>
          <p:cNvSpPr/>
          <p:nvPr/>
        </p:nvSpPr>
        <p:spPr>
          <a:xfrm>
            <a:off x="4114800" y="1572768"/>
            <a:ext cx="3291840" cy="347472"/>
          </a:xfrm>
          <a:prstGeom prst="roundRect">
            <a:avLst>
              <a:gd name="adj" fmla="val 13158"/>
            </a:avLst>
          </a:prstGeom>
          <a:solidFill>
            <a:srgbClr val="00A896"/>
          </a:solidFill>
          <a:ln w="12700">
            <a:solidFill>
              <a:srgbClr val="00A896"/>
            </a:solidFill>
            <a:prstDash val="solid"/>
          </a:ln>
        </p:spPr>
      </p:sp>
      <p:sp>
        <p:nvSpPr>
          <p:cNvPr id="9" name="Text 7"/>
          <p:cNvSpPr txBox="1"/>
          <p:nvPr/>
        </p:nvSpPr>
        <p:spPr>
          <a:xfrm>
            <a:off x="4114800" y="15727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0–1048575</a:t>
            </a:r>
            <a:endParaRPr lang="en-US" sz="1000" dirty="0"/>
          </a:p>
        </p:txBody>
      </p:sp>
      <p:sp>
        <p:nvSpPr>
          <p:cNvPr id="10" name="Shape 8"/>
          <p:cNvSpPr/>
          <p:nvPr/>
        </p:nvSpPr>
        <p:spPr>
          <a:xfrm>
            <a:off x="4114800" y="2029968"/>
            <a:ext cx="3291840" cy="347472"/>
          </a:xfrm>
          <a:prstGeom prst="roundRect">
            <a:avLst>
              <a:gd name="adj" fmla="val 13158"/>
            </a:avLst>
          </a:prstGeom>
          <a:solidFill>
            <a:srgbClr val="00A896"/>
          </a:solidFill>
          <a:ln w="12700">
            <a:solidFill>
              <a:srgbClr val="00A896"/>
            </a:solidFill>
            <a:prstDash val="solid"/>
          </a:ln>
        </p:spPr>
      </p:sp>
      <p:sp>
        <p:nvSpPr>
          <p:cNvPr id="11" name="Text 9"/>
          <p:cNvSpPr txBox="1"/>
          <p:nvPr/>
        </p:nvSpPr>
        <p:spPr>
          <a:xfrm>
            <a:off x="4114800" y="20299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1048576–2097151</a:t>
            </a:r>
            <a:endParaRPr lang="en-US" sz="1000" dirty="0"/>
          </a:p>
        </p:txBody>
      </p:sp>
      <p:sp>
        <p:nvSpPr>
          <p:cNvPr id="12" name="Shape 10"/>
          <p:cNvSpPr/>
          <p:nvPr/>
        </p:nvSpPr>
        <p:spPr>
          <a:xfrm>
            <a:off x="4114800" y="2487168"/>
            <a:ext cx="3291840" cy="347472"/>
          </a:xfrm>
          <a:prstGeom prst="roundRect">
            <a:avLst>
              <a:gd name="adj" fmla="val 13158"/>
            </a:avLst>
          </a:prstGeom>
          <a:solidFill>
            <a:srgbClr val="00A896"/>
          </a:solidFill>
          <a:ln w="12700">
            <a:solidFill>
              <a:srgbClr val="00A896"/>
            </a:solidFill>
            <a:prstDash val="solid"/>
          </a:ln>
        </p:spPr>
      </p:sp>
      <p:sp>
        <p:nvSpPr>
          <p:cNvPr id="13" name="Text 11"/>
          <p:cNvSpPr txBox="1"/>
          <p:nvPr/>
        </p:nvSpPr>
        <p:spPr>
          <a:xfrm>
            <a:off x="4114800" y="24871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2097152–3145727</a:t>
            </a:r>
            <a:endParaRPr lang="en-US" sz="1000" dirty="0"/>
          </a:p>
        </p:txBody>
      </p:sp>
      <p:sp>
        <p:nvSpPr>
          <p:cNvPr id="14" name="Shape 12"/>
          <p:cNvSpPr/>
          <p:nvPr/>
        </p:nvSpPr>
        <p:spPr>
          <a:xfrm>
            <a:off x="4114800" y="2944368"/>
            <a:ext cx="3291840" cy="347472"/>
          </a:xfrm>
          <a:prstGeom prst="roundRect">
            <a:avLst>
              <a:gd name="adj" fmla="val 13158"/>
            </a:avLst>
          </a:prstGeom>
          <a:solidFill>
            <a:srgbClr val="00A896"/>
          </a:solidFill>
          <a:ln w="12700">
            <a:solidFill>
              <a:srgbClr val="00A896"/>
            </a:solidFill>
            <a:prstDash val="solid"/>
          </a:ln>
        </p:spPr>
      </p:sp>
      <p:sp>
        <p:nvSpPr>
          <p:cNvPr id="15" name="Text 13"/>
          <p:cNvSpPr txBox="1"/>
          <p:nvPr/>
        </p:nvSpPr>
        <p:spPr>
          <a:xfrm>
            <a:off x="4114800" y="29443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3145728–4194303</a:t>
            </a:r>
            <a:endParaRPr lang="en-US" sz="1000" dirty="0"/>
          </a:p>
        </p:txBody>
      </p:sp>
      <p:sp>
        <p:nvSpPr>
          <p:cNvPr id="16" name="Shape 14"/>
          <p:cNvSpPr/>
          <p:nvPr/>
        </p:nvSpPr>
        <p:spPr>
          <a:xfrm>
            <a:off x="4114800" y="3401568"/>
            <a:ext cx="3291840" cy="347472"/>
          </a:xfrm>
          <a:prstGeom prst="roundRect">
            <a:avLst>
              <a:gd name="adj" fmla="val 13158"/>
            </a:avLst>
          </a:prstGeom>
          <a:solidFill>
            <a:srgbClr val="00A896"/>
          </a:solidFill>
          <a:ln w="12700">
            <a:solidFill>
              <a:srgbClr val="00A896"/>
            </a:solidFill>
            <a:prstDash val="solid"/>
          </a:ln>
        </p:spPr>
      </p:sp>
      <p:sp>
        <p:nvSpPr>
          <p:cNvPr id="17" name="Text 15"/>
          <p:cNvSpPr txBox="1"/>
          <p:nvPr/>
        </p:nvSpPr>
        <p:spPr>
          <a:xfrm>
            <a:off x="4114800" y="34015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4194304–5242879</a:t>
            </a:r>
            <a:endParaRPr lang="en-US" sz="1000" dirty="0"/>
          </a:p>
        </p:txBody>
      </p:sp>
      <p:sp>
        <p:nvSpPr>
          <p:cNvPr id="18" name="Shape 16"/>
          <p:cNvSpPr/>
          <p:nvPr/>
        </p:nvSpPr>
        <p:spPr>
          <a:xfrm>
            <a:off x="4114800" y="3858768"/>
            <a:ext cx="3291840" cy="347472"/>
          </a:xfrm>
          <a:prstGeom prst="roundRect">
            <a:avLst>
              <a:gd name="adj" fmla="val 13158"/>
            </a:avLst>
          </a:prstGeom>
          <a:solidFill>
            <a:srgbClr val="00A896"/>
          </a:solidFill>
          <a:ln w="12700">
            <a:solidFill>
              <a:srgbClr val="00A896"/>
            </a:solidFill>
            <a:prstDash val="solid"/>
          </a:ln>
        </p:spPr>
      </p:sp>
      <p:sp>
        <p:nvSpPr>
          <p:cNvPr id="19" name="Text 17"/>
          <p:cNvSpPr txBox="1"/>
          <p:nvPr/>
        </p:nvSpPr>
        <p:spPr>
          <a:xfrm>
            <a:off x="4114800" y="38587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5242880–6291455</a:t>
            </a:r>
            <a:endParaRPr lang="en-US" sz="1000" dirty="0"/>
          </a:p>
        </p:txBody>
      </p:sp>
      <p:sp>
        <p:nvSpPr>
          <p:cNvPr id="20" name="Shape 18"/>
          <p:cNvSpPr/>
          <p:nvPr/>
        </p:nvSpPr>
        <p:spPr>
          <a:xfrm>
            <a:off x="4114800" y="4315968"/>
            <a:ext cx="3291840" cy="347472"/>
          </a:xfrm>
          <a:prstGeom prst="roundRect">
            <a:avLst>
              <a:gd name="adj" fmla="val 13158"/>
            </a:avLst>
          </a:prstGeom>
          <a:solidFill>
            <a:srgbClr val="00A896"/>
          </a:solidFill>
          <a:ln w="12700">
            <a:solidFill>
              <a:srgbClr val="00A896"/>
            </a:solidFill>
            <a:prstDash val="solid"/>
          </a:ln>
        </p:spPr>
      </p:sp>
      <p:sp>
        <p:nvSpPr>
          <p:cNvPr id="21" name="Text 19"/>
          <p:cNvSpPr txBox="1"/>
          <p:nvPr/>
        </p:nvSpPr>
        <p:spPr>
          <a:xfrm>
            <a:off x="4114800" y="43159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6291456–7340031</a:t>
            </a:r>
            <a:endParaRPr lang="en-US" sz="1000" dirty="0"/>
          </a:p>
        </p:txBody>
      </p:sp>
      <p:sp>
        <p:nvSpPr>
          <p:cNvPr id="22" name="Shape 20"/>
          <p:cNvSpPr/>
          <p:nvPr/>
        </p:nvSpPr>
        <p:spPr>
          <a:xfrm>
            <a:off x="4114800" y="4773168"/>
            <a:ext cx="3291840" cy="347472"/>
          </a:xfrm>
          <a:prstGeom prst="roundRect">
            <a:avLst>
              <a:gd name="adj" fmla="val 13158"/>
            </a:avLst>
          </a:prstGeom>
          <a:solidFill>
            <a:srgbClr val="00A896"/>
          </a:solidFill>
          <a:ln w="12700">
            <a:solidFill>
              <a:srgbClr val="00A896"/>
            </a:solidFill>
            <a:prstDash val="solid"/>
          </a:ln>
        </p:spPr>
      </p:sp>
      <p:sp>
        <p:nvSpPr>
          <p:cNvPr id="23" name="Text 21"/>
          <p:cNvSpPr txBox="1"/>
          <p:nvPr/>
        </p:nvSpPr>
        <p:spPr>
          <a:xfrm>
            <a:off x="4114800" y="4773168"/>
            <a:ext cx="3291840" cy="347472"/>
          </a:xfrm>
          <a:prstGeom prst="rect">
            <a:avLst/>
          </a:prstGeom>
          <a:noFill/>
          <a:ln/>
        </p:spPr>
        <p:txBody>
          <a:bodyPr wrap="square" lIns="0" tIns="0" rIns="0" bIns="0" rtlCol="0" anchor="ctr"/>
          <a:lstStyle/>
          <a:p>
            <a:pPr algn="ctr" indent="0" marL="0">
              <a:buNone/>
            </a:pPr>
            <a:r>
              <a:rPr lang="en-US" sz="1000" dirty="0">
                <a:solidFill>
                  <a:srgbClr val="04201C"/>
                </a:solidFill>
                <a:latin typeface="Courier New" pitchFamily="34" charset="0"/>
                <a:ea typeface="Courier New" pitchFamily="34" charset="-122"/>
                <a:cs typeface="Courier New" pitchFamily="34" charset="-120"/>
              </a:rPr>
              <a:t>bytes 7340032–8388607</a:t>
            </a:r>
            <a:endParaRPr lang="en-US" sz="1000" dirty="0"/>
          </a:p>
        </p:txBody>
      </p:sp>
      <p:sp>
        <p:nvSpPr>
          <p:cNvPr id="24" name="Text 22"/>
          <p:cNvSpPr txBox="1"/>
          <p:nvPr/>
        </p:nvSpPr>
        <p:spPr>
          <a:xfrm>
            <a:off x="4114800" y="5285232"/>
            <a:ext cx="3291840" cy="274320"/>
          </a:xfrm>
          <a:prstGeom prst="rect">
            <a:avLst/>
          </a:prstGeom>
          <a:noFill/>
          <a:ln/>
        </p:spPr>
        <p:txBody>
          <a:bodyPr wrap="square" lIns="0" tIns="0" rIns="0" bIns="0" rtlCol="0" anchor="ctr"/>
          <a:lstStyle/>
          <a:p>
            <a:pPr algn="ctr" indent="0" marL="0">
              <a:buNone/>
            </a:pPr>
            <a:r>
              <a:rPr lang="en-US" sz="1150" dirty="0">
                <a:solidFill>
                  <a:srgbClr val="7C8FA0"/>
                </a:solidFill>
                <a:latin typeface="Calibri" pitchFamily="34" charset="0"/>
                <a:ea typeface="Calibri" pitchFamily="34" charset="-122"/>
                <a:cs typeface="Calibri" pitchFamily="34" charset="-120"/>
              </a:rPr>
              <a:t>8 range requests, all in flight at once</a:t>
            </a:r>
            <a:endParaRPr lang="en-US" sz="1150" dirty="0"/>
          </a:p>
        </p:txBody>
      </p:sp>
      <p:sp>
        <p:nvSpPr>
          <p:cNvPr id="25" name="Text 23"/>
          <p:cNvSpPr txBox="1"/>
          <p:nvPr/>
        </p:nvSpPr>
        <p:spPr>
          <a:xfrm>
            <a:off x="7543800" y="2926080"/>
            <a:ext cx="822960" cy="731520"/>
          </a:xfrm>
          <a:prstGeom prst="rect">
            <a:avLst/>
          </a:prstGeom>
          <a:noFill/>
          <a:ln/>
        </p:spPr>
        <p:txBody>
          <a:bodyPr wrap="square" lIns="0" tIns="0" rIns="0" bIns="0" rtlCol="0" anchor="ctr"/>
          <a:lstStyle/>
          <a:p>
            <a:pPr algn="ctr" indent="0" marL="0">
              <a:buNone/>
            </a:pPr>
            <a:r>
              <a:rPr lang="en-US" sz="3000" dirty="0">
                <a:solidFill>
                  <a:srgbClr val="00A896"/>
                </a:solidFill>
                <a:latin typeface="Calibri" pitchFamily="34" charset="0"/>
                <a:ea typeface="Calibri" pitchFamily="34" charset="-122"/>
                <a:cs typeface="Calibri" pitchFamily="34" charset="-120"/>
              </a:rPr>
              <a:t>→</a:t>
            </a:r>
            <a:endParaRPr lang="en-US" sz="3000" dirty="0"/>
          </a:p>
        </p:txBody>
      </p:sp>
      <p:sp>
        <p:nvSpPr>
          <p:cNvPr id="26" name="Text 24"/>
          <p:cNvSpPr txBox="1"/>
          <p:nvPr/>
        </p:nvSpPr>
        <p:spPr>
          <a:xfrm>
            <a:off x="7223760" y="3675888"/>
            <a:ext cx="1554480" cy="274320"/>
          </a:xfrm>
          <a:prstGeom prst="rect">
            <a:avLst/>
          </a:prstGeom>
          <a:noFill/>
          <a:ln/>
        </p:spPr>
        <p:txBody>
          <a:bodyPr wrap="square" lIns="0" tIns="0" rIns="0" bIns="0" rtlCol="0" anchor="ctr"/>
          <a:lstStyle/>
          <a:p>
            <a:pPr algn="ctr" indent="0" marL="0">
              <a:buNone/>
            </a:pPr>
            <a:r>
              <a:rPr lang="en-US" sz="1100" dirty="0">
                <a:solidFill>
                  <a:srgbClr val="00A896"/>
                </a:solidFill>
                <a:latin typeface="Courier New" pitchFamily="34" charset="0"/>
                <a:ea typeface="Courier New" pitchFamily="34" charset="-122"/>
                <a:cs typeface="Courier New" pitchFamily="34" charset="-120"/>
              </a:rPr>
              <a:t>allOf + thenApply</a:t>
            </a:r>
            <a:endParaRPr lang="en-US" sz="1100" dirty="0"/>
          </a:p>
        </p:txBody>
      </p:sp>
      <p:sp>
        <p:nvSpPr>
          <p:cNvPr id="27" name="Shape 25"/>
          <p:cNvSpPr/>
          <p:nvPr/>
        </p:nvSpPr>
        <p:spPr>
          <a:xfrm>
            <a:off x="8823960" y="2606040"/>
            <a:ext cx="2724912" cy="1371600"/>
          </a:xfrm>
          <a:prstGeom prst="roundRect">
            <a:avLst>
              <a:gd name="adj" fmla="val 4000"/>
            </a:avLst>
          </a:prstGeom>
          <a:solidFill>
            <a:srgbClr val="16293D"/>
          </a:solidFill>
          <a:ln w="12700">
            <a:solidFill>
              <a:srgbClr val="16293D"/>
            </a:solidFill>
            <a:prstDash val="solid"/>
          </a:ln>
        </p:spPr>
      </p:sp>
      <p:sp>
        <p:nvSpPr>
          <p:cNvPr id="28" name="Text 26"/>
          <p:cNvSpPr txBox="1"/>
          <p:nvPr/>
        </p:nvSpPr>
        <p:spPr>
          <a:xfrm>
            <a:off x="8823960" y="2606040"/>
            <a:ext cx="2724912" cy="13716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one file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SHA-256 matches</a:t>
            </a:r>
            <a:endParaRPr lang="en-US" sz="1400" dirty="0"/>
          </a:p>
        </p:txBody>
      </p:sp>
      <p:sp>
        <p:nvSpPr>
          <p:cNvPr id="29" name="Text 27"/>
          <p:cNvSpPr txBox="1"/>
          <p:nvPr/>
        </p:nvSpPr>
        <p:spPr>
          <a:xfrm>
            <a:off x="621792" y="5897880"/>
            <a:ext cx="10927080" cy="548640"/>
          </a:xfrm>
          <a:prstGeom prst="rect">
            <a:avLst/>
          </a:prstGeom>
          <a:noFill/>
          <a:ln/>
        </p:spPr>
        <p:txBody>
          <a:bodyPr wrap="square" lIns="0" tIns="0" rIns="0" bIns="0" rtlCol="0" anchor="ctr"/>
          <a:lstStyle/>
          <a:p>
            <a:pPr indent="0" marL="0">
              <a:buNone/>
            </a:pPr>
            <a:r>
              <a:rPr lang="en-US" sz="1400" dirty="0">
                <a:solidFill>
                  <a:srgbClr val="16232E"/>
                </a:solidFill>
                <a:latin typeface="Calibri" pitchFamily="34" charset="0"/>
                <a:ea typeface="Calibri" pitchFamily="34" charset="-122"/>
                <a:cs typeface="Calibri" pitchFamily="34" charset="-120"/>
              </a:rPr>
              <a:t>Every range writes straight into its own offset of one pre-allocated file. They never overlap, so there is no lock anywhere — and that is why the hashes match.</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MEASURED, NOT CLAIMED</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Same bytes. Same hash. Six times faster.</a:t>
            </a:r>
            <a:endParaRPr lang="en-US" sz="3400" dirty="0"/>
          </a:p>
        </p:txBody>
      </p:sp>
      <p:sp>
        <p:nvSpPr>
          <p:cNvPr id="4" name="Text 2"/>
          <p:cNvSpPr txBox="1"/>
          <p:nvPr/>
        </p:nvSpPr>
        <p:spPr>
          <a:xfrm>
            <a:off x="621792" y="1298448"/>
            <a:ext cx="10881360" cy="365760"/>
          </a:xfrm>
          <a:prstGeom prst="rect">
            <a:avLst/>
          </a:prstGeom>
          <a:noFill/>
          <a:ln/>
        </p:spPr>
        <p:txBody>
          <a:bodyPr wrap="square" lIns="0" tIns="0" rIns="0" bIns="0" rtlCol="0" anchor="ctr"/>
          <a:lstStyle/>
          <a:p>
            <a:pPr indent="0" marL="0">
              <a:buNone/>
            </a:pPr>
            <a:r>
              <a:rPr lang="en-US" sz="1500" dirty="0">
                <a:solidFill>
                  <a:srgbClr val="7C8FA0"/>
                </a:solidFill>
                <a:latin typeface="Calibri" pitchFamily="34" charset="0"/>
                <a:ea typeface="Calibri" pitchFamily="34" charset="-122"/>
                <a:cs typeface="Calibri" pitchFamily="34" charset="-120"/>
              </a:rPr>
              <a:t>Both sides started at the same instant, against the same server, on the same connection.</a:t>
            </a:r>
            <a:endParaRPr lang="en-US" sz="1500" dirty="0"/>
          </a:p>
        </p:txBody>
      </p:sp>
      <p:sp>
        <p:nvSpPr>
          <p:cNvPr id="5" name="Shape 3"/>
          <p:cNvSpPr/>
          <p:nvPr/>
        </p:nvSpPr>
        <p:spPr>
          <a:xfrm>
            <a:off x="621792" y="1920240"/>
            <a:ext cx="5212080" cy="3017520"/>
          </a:xfrm>
          <a:prstGeom prst="roundRect">
            <a:avLst>
              <a:gd name="adj" fmla="val 1818"/>
            </a:avLst>
          </a:prstGeom>
          <a:solidFill>
            <a:srgbClr val="F1F5F8"/>
          </a:solidFill>
          <a:ln w="12700">
            <a:solidFill>
              <a:srgbClr val="F1F5F8"/>
            </a:solidFill>
            <a:prstDash val="solid"/>
          </a:ln>
        </p:spPr>
      </p:sp>
      <p:sp>
        <p:nvSpPr>
          <p:cNvPr id="6" name="Text 4"/>
          <p:cNvSpPr txBox="1"/>
          <p:nvPr/>
        </p:nvSpPr>
        <p:spPr>
          <a:xfrm>
            <a:off x="896112" y="2148840"/>
            <a:ext cx="4572000" cy="274320"/>
          </a:xfrm>
          <a:prstGeom prst="rect">
            <a:avLst/>
          </a:prstGeom>
          <a:noFill/>
          <a:ln/>
        </p:spPr>
        <p:txBody>
          <a:bodyPr wrap="square" lIns="0" tIns="0" rIns="0" bIns="0" rtlCol="0" anchor="ctr"/>
          <a:lstStyle/>
          <a:p>
            <a:pPr indent="0" marL="0">
              <a:buNone/>
            </a:pPr>
            <a:r>
              <a:rPr lang="en-US" sz="1200" b="1" dirty="0">
                <a:solidFill>
                  <a:srgbClr val="6B7C8C"/>
                </a:solidFill>
                <a:latin typeface="Calibri" pitchFamily="34" charset="0"/>
                <a:ea typeface="Calibri" pitchFamily="34" charset="-122"/>
                <a:cs typeface="Calibri" pitchFamily="34" charset="-120"/>
              </a:rPr>
              <a:t>WITHOUT CONCURRENCY</a:t>
            </a:r>
            <a:endParaRPr lang="en-US" sz="1200" dirty="0"/>
          </a:p>
        </p:txBody>
      </p:sp>
      <p:sp>
        <p:nvSpPr>
          <p:cNvPr id="7" name="Text 5"/>
          <p:cNvSpPr txBox="1"/>
          <p:nvPr/>
        </p:nvSpPr>
        <p:spPr>
          <a:xfrm>
            <a:off x="896112" y="2423160"/>
            <a:ext cx="4572000" cy="274320"/>
          </a:xfrm>
          <a:prstGeom prst="rect">
            <a:avLst/>
          </a:prstGeom>
          <a:noFill/>
          <a:ln/>
        </p:spPr>
        <p:txBody>
          <a:bodyPr wrap="square" lIns="0" tIns="0" rIns="0" bIns="0" rtlCol="0" anchor="ctr"/>
          <a:lstStyle/>
          <a:p>
            <a:pPr indent="0" marL="0">
              <a:buNone/>
            </a:pPr>
            <a:r>
              <a:rPr lang="en-US" sz="1100" dirty="0">
                <a:solidFill>
                  <a:srgbClr val="7C8FA0"/>
                </a:solidFill>
                <a:latin typeface="Courier New" pitchFamily="34" charset="0"/>
                <a:ea typeface="Courier New" pitchFamily="34" charset="-122"/>
                <a:cs typeface="Courier New" pitchFamily="34" charset="-120"/>
              </a:rPr>
              <a:t>1 connection</a:t>
            </a:r>
            <a:endParaRPr lang="en-US" sz="1100" dirty="0"/>
          </a:p>
        </p:txBody>
      </p:sp>
      <p:sp>
        <p:nvSpPr>
          <p:cNvPr id="8" name="Text 6"/>
          <p:cNvSpPr txBox="1"/>
          <p:nvPr/>
        </p:nvSpPr>
        <p:spPr>
          <a:xfrm>
            <a:off x="896112" y="2743200"/>
            <a:ext cx="4572000" cy="914400"/>
          </a:xfrm>
          <a:prstGeom prst="rect">
            <a:avLst/>
          </a:prstGeom>
          <a:noFill/>
          <a:ln/>
        </p:spPr>
        <p:txBody>
          <a:bodyPr wrap="square" lIns="0" tIns="0" rIns="0" bIns="0" rtlCol="0" anchor="ctr"/>
          <a:lstStyle/>
          <a:p>
            <a:pPr indent="0" marL="0">
              <a:buNone/>
            </a:pPr>
            <a:r>
              <a:rPr lang="en-US" sz="5000" b="1" dirty="0">
                <a:solidFill>
                  <a:srgbClr val="6B7C8C"/>
                </a:solidFill>
                <a:latin typeface="Cambria" pitchFamily="34" charset="0"/>
                <a:ea typeface="Cambria" pitchFamily="34" charset="-122"/>
                <a:cs typeface="Cambria" pitchFamily="34" charset="-120"/>
              </a:rPr>
              <a:t>20.33 s</a:t>
            </a:r>
            <a:endParaRPr lang="en-US" sz="5000" dirty="0"/>
          </a:p>
        </p:txBody>
      </p:sp>
      <p:sp>
        <p:nvSpPr>
          <p:cNvPr id="9" name="Text 7"/>
          <p:cNvSpPr txBox="1"/>
          <p:nvPr/>
        </p:nvSpPr>
        <p:spPr>
          <a:xfrm>
            <a:off x="896112" y="3703320"/>
            <a:ext cx="4572000" cy="320040"/>
          </a:xfrm>
          <a:prstGeom prst="rect">
            <a:avLst/>
          </a:prstGeom>
          <a:noFill/>
          <a:ln/>
        </p:spPr>
        <p:txBody>
          <a:bodyPr wrap="square" lIns="0" tIns="0" rIns="0" bIns="0" rtlCol="0" anchor="ctr"/>
          <a:lstStyle/>
          <a:p>
            <a:pPr indent="0" marL="0">
              <a:buNone/>
            </a:pPr>
            <a:r>
              <a:rPr lang="en-US" sz="1300" dirty="0">
                <a:solidFill>
                  <a:srgbClr val="7C8FA0"/>
                </a:solidFill>
                <a:latin typeface="Courier New" pitchFamily="34" charset="0"/>
                <a:ea typeface="Courier New" pitchFamily="34" charset="-122"/>
                <a:cs typeface="Courier New" pitchFamily="34" charset="-120"/>
              </a:rPr>
              <a:t>0.40 MB/s</a:t>
            </a:r>
            <a:endParaRPr lang="en-US" sz="1300" dirty="0"/>
          </a:p>
        </p:txBody>
      </p:sp>
      <p:sp>
        <p:nvSpPr>
          <p:cNvPr id="10" name="Shape 8"/>
          <p:cNvSpPr/>
          <p:nvPr/>
        </p:nvSpPr>
        <p:spPr>
          <a:xfrm>
            <a:off x="896112" y="4224528"/>
            <a:ext cx="4663440" cy="182880"/>
          </a:xfrm>
          <a:prstGeom prst="rect">
            <a:avLst/>
          </a:prstGeom>
          <a:solidFill>
            <a:srgbClr val="6B7C8C"/>
          </a:solidFill>
          <a:ln/>
        </p:spPr>
      </p:sp>
      <p:sp>
        <p:nvSpPr>
          <p:cNvPr id="11" name="Shape 9"/>
          <p:cNvSpPr/>
          <p:nvPr/>
        </p:nvSpPr>
        <p:spPr>
          <a:xfrm>
            <a:off x="6336792" y="1920240"/>
            <a:ext cx="5212080" cy="3017520"/>
          </a:xfrm>
          <a:prstGeom prst="roundRect">
            <a:avLst>
              <a:gd name="adj" fmla="val 1818"/>
            </a:avLst>
          </a:prstGeom>
          <a:solidFill>
            <a:srgbClr val="EAF7F5"/>
          </a:solidFill>
          <a:ln w="12700">
            <a:solidFill>
              <a:srgbClr val="EAF7F5"/>
            </a:solidFill>
            <a:prstDash val="solid"/>
          </a:ln>
        </p:spPr>
      </p:sp>
      <p:sp>
        <p:nvSpPr>
          <p:cNvPr id="12" name="Text 10"/>
          <p:cNvSpPr txBox="1"/>
          <p:nvPr/>
        </p:nvSpPr>
        <p:spPr>
          <a:xfrm>
            <a:off x="6611112" y="2148840"/>
            <a:ext cx="4572000" cy="274320"/>
          </a:xfrm>
          <a:prstGeom prst="rect">
            <a:avLst/>
          </a:prstGeom>
          <a:noFill/>
          <a:ln/>
        </p:spPr>
        <p:txBody>
          <a:bodyPr wrap="square" lIns="0" tIns="0" rIns="0" bIns="0" rtlCol="0" anchor="ctr"/>
          <a:lstStyle/>
          <a:p>
            <a:pPr indent="0" marL="0">
              <a:buNone/>
            </a:pPr>
            <a:r>
              <a:rPr lang="en-US" sz="1200" b="1" dirty="0">
                <a:solidFill>
                  <a:srgbClr val="00776B"/>
                </a:solidFill>
                <a:latin typeface="Calibri" pitchFamily="34" charset="0"/>
                <a:ea typeface="Calibri" pitchFamily="34" charset="-122"/>
                <a:cs typeface="Calibri" pitchFamily="34" charset="-120"/>
              </a:rPr>
              <a:t>WITH COMPLETABLEFUTURE</a:t>
            </a:r>
            <a:endParaRPr lang="en-US" sz="1200" dirty="0"/>
          </a:p>
        </p:txBody>
      </p:sp>
      <p:sp>
        <p:nvSpPr>
          <p:cNvPr id="13" name="Text 11"/>
          <p:cNvSpPr txBox="1"/>
          <p:nvPr/>
        </p:nvSpPr>
        <p:spPr>
          <a:xfrm>
            <a:off x="6611112" y="2423160"/>
            <a:ext cx="4572000" cy="274320"/>
          </a:xfrm>
          <a:prstGeom prst="rect">
            <a:avLst/>
          </a:prstGeom>
          <a:noFill/>
          <a:ln/>
        </p:spPr>
        <p:txBody>
          <a:bodyPr wrap="square" lIns="0" tIns="0" rIns="0" bIns="0" rtlCol="0" anchor="ctr"/>
          <a:lstStyle/>
          <a:p>
            <a:pPr indent="0" marL="0">
              <a:buNone/>
            </a:pPr>
            <a:r>
              <a:rPr lang="en-US" sz="1100" dirty="0">
                <a:solidFill>
                  <a:srgbClr val="7C8FA0"/>
                </a:solidFill>
                <a:latin typeface="Courier New" pitchFamily="34" charset="0"/>
                <a:ea typeface="Courier New" pitchFamily="34" charset="-122"/>
                <a:cs typeface="Courier New" pitchFamily="34" charset="-120"/>
              </a:rPr>
              <a:t>8 connections</a:t>
            </a:r>
            <a:endParaRPr lang="en-US" sz="1100" dirty="0"/>
          </a:p>
        </p:txBody>
      </p:sp>
      <p:sp>
        <p:nvSpPr>
          <p:cNvPr id="14" name="Text 12"/>
          <p:cNvSpPr txBox="1"/>
          <p:nvPr/>
        </p:nvSpPr>
        <p:spPr>
          <a:xfrm>
            <a:off x="6611112" y="2743200"/>
            <a:ext cx="4572000" cy="914400"/>
          </a:xfrm>
          <a:prstGeom prst="rect">
            <a:avLst/>
          </a:prstGeom>
          <a:noFill/>
          <a:ln/>
        </p:spPr>
        <p:txBody>
          <a:bodyPr wrap="square" lIns="0" tIns="0" rIns="0" bIns="0" rtlCol="0" anchor="ctr"/>
          <a:lstStyle/>
          <a:p>
            <a:pPr indent="0" marL="0">
              <a:buNone/>
            </a:pPr>
            <a:r>
              <a:rPr lang="en-US" sz="5000" b="1" dirty="0">
                <a:solidFill>
                  <a:srgbClr val="00A896"/>
                </a:solidFill>
                <a:latin typeface="Cambria" pitchFamily="34" charset="0"/>
                <a:ea typeface="Cambria" pitchFamily="34" charset="-122"/>
                <a:cs typeface="Cambria" pitchFamily="34" charset="-120"/>
              </a:rPr>
              <a:t>3.35 s</a:t>
            </a:r>
            <a:endParaRPr lang="en-US" sz="5000" dirty="0"/>
          </a:p>
        </p:txBody>
      </p:sp>
      <p:sp>
        <p:nvSpPr>
          <p:cNvPr id="15" name="Text 13"/>
          <p:cNvSpPr txBox="1"/>
          <p:nvPr/>
        </p:nvSpPr>
        <p:spPr>
          <a:xfrm>
            <a:off x="6611112" y="3703320"/>
            <a:ext cx="4572000" cy="320040"/>
          </a:xfrm>
          <a:prstGeom prst="rect">
            <a:avLst/>
          </a:prstGeom>
          <a:noFill/>
          <a:ln/>
        </p:spPr>
        <p:txBody>
          <a:bodyPr wrap="square" lIns="0" tIns="0" rIns="0" bIns="0" rtlCol="0" anchor="ctr"/>
          <a:lstStyle/>
          <a:p>
            <a:pPr indent="0" marL="0">
              <a:buNone/>
            </a:pPr>
            <a:r>
              <a:rPr lang="en-US" sz="1300" dirty="0">
                <a:solidFill>
                  <a:srgbClr val="00776B"/>
                </a:solidFill>
                <a:latin typeface="Courier New" pitchFamily="34" charset="0"/>
                <a:ea typeface="Courier New" pitchFamily="34" charset="-122"/>
                <a:cs typeface="Courier New" pitchFamily="34" charset="-120"/>
              </a:rPr>
              <a:t>2.40 MB/s</a:t>
            </a:r>
            <a:endParaRPr lang="en-US" sz="1300" dirty="0"/>
          </a:p>
        </p:txBody>
      </p:sp>
      <p:sp>
        <p:nvSpPr>
          <p:cNvPr id="16" name="Shape 14"/>
          <p:cNvSpPr/>
          <p:nvPr/>
        </p:nvSpPr>
        <p:spPr>
          <a:xfrm>
            <a:off x="6611112" y="4224528"/>
            <a:ext cx="512064" cy="182880"/>
          </a:xfrm>
          <a:prstGeom prst="rect">
            <a:avLst/>
          </a:prstGeom>
          <a:solidFill>
            <a:srgbClr val="00A896"/>
          </a:solidFill>
          <a:ln/>
        </p:spPr>
      </p:sp>
      <p:sp>
        <p:nvSpPr>
          <p:cNvPr id="17" name="Shape 15"/>
          <p:cNvSpPr/>
          <p:nvPr/>
        </p:nvSpPr>
        <p:spPr>
          <a:xfrm>
            <a:off x="7196328" y="4224528"/>
            <a:ext cx="512064" cy="182880"/>
          </a:xfrm>
          <a:prstGeom prst="rect">
            <a:avLst/>
          </a:prstGeom>
          <a:solidFill>
            <a:srgbClr val="00A896"/>
          </a:solidFill>
          <a:ln/>
        </p:spPr>
      </p:sp>
      <p:sp>
        <p:nvSpPr>
          <p:cNvPr id="18" name="Shape 16"/>
          <p:cNvSpPr/>
          <p:nvPr/>
        </p:nvSpPr>
        <p:spPr>
          <a:xfrm>
            <a:off x="7781544" y="4224528"/>
            <a:ext cx="512064" cy="182880"/>
          </a:xfrm>
          <a:prstGeom prst="rect">
            <a:avLst/>
          </a:prstGeom>
          <a:solidFill>
            <a:srgbClr val="00A896"/>
          </a:solidFill>
          <a:ln/>
        </p:spPr>
      </p:sp>
      <p:sp>
        <p:nvSpPr>
          <p:cNvPr id="19" name="Shape 17"/>
          <p:cNvSpPr/>
          <p:nvPr/>
        </p:nvSpPr>
        <p:spPr>
          <a:xfrm>
            <a:off x="8366760" y="4224528"/>
            <a:ext cx="512064" cy="182880"/>
          </a:xfrm>
          <a:prstGeom prst="rect">
            <a:avLst/>
          </a:prstGeom>
          <a:solidFill>
            <a:srgbClr val="00A896"/>
          </a:solidFill>
          <a:ln/>
        </p:spPr>
      </p:sp>
      <p:sp>
        <p:nvSpPr>
          <p:cNvPr id="20" name="Shape 18"/>
          <p:cNvSpPr/>
          <p:nvPr/>
        </p:nvSpPr>
        <p:spPr>
          <a:xfrm>
            <a:off x="8951976" y="4224528"/>
            <a:ext cx="512064" cy="182880"/>
          </a:xfrm>
          <a:prstGeom prst="rect">
            <a:avLst/>
          </a:prstGeom>
          <a:solidFill>
            <a:srgbClr val="00A896"/>
          </a:solidFill>
          <a:ln/>
        </p:spPr>
      </p:sp>
      <p:sp>
        <p:nvSpPr>
          <p:cNvPr id="21" name="Shape 19"/>
          <p:cNvSpPr/>
          <p:nvPr/>
        </p:nvSpPr>
        <p:spPr>
          <a:xfrm>
            <a:off x="9537192" y="4224528"/>
            <a:ext cx="512064" cy="182880"/>
          </a:xfrm>
          <a:prstGeom prst="rect">
            <a:avLst/>
          </a:prstGeom>
          <a:solidFill>
            <a:srgbClr val="00A896"/>
          </a:solidFill>
          <a:ln/>
        </p:spPr>
      </p:sp>
      <p:sp>
        <p:nvSpPr>
          <p:cNvPr id="22" name="Shape 20"/>
          <p:cNvSpPr/>
          <p:nvPr/>
        </p:nvSpPr>
        <p:spPr>
          <a:xfrm>
            <a:off x="10122408" y="4224528"/>
            <a:ext cx="512064" cy="182880"/>
          </a:xfrm>
          <a:prstGeom prst="rect">
            <a:avLst/>
          </a:prstGeom>
          <a:solidFill>
            <a:srgbClr val="00A896"/>
          </a:solidFill>
          <a:ln/>
        </p:spPr>
      </p:sp>
      <p:sp>
        <p:nvSpPr>
          <p:cNvPr id="23" name="Shape 21"/>
          <p:cNvSpPr/>
          <p:nvPr/>
        </p:nvSpPr>
        <p:spPr>
          <a:xfrm>
            <a:off x="10707624" y="4224528"/>
            <a:ext cx="512064" cy="182880"/>
          </a:xfrm>
          <a:prstGeom prst="rect">
            <a:avLst/>
          </a:prstGeom>
          <a:solidFill>
            <a:srgbClr val="00A896"/>
          </a:solidFill>
          <a:ln/>
        </p:spPr>
      </p:sp>
      <p:sp>
        <p:nvSpPr>
          <p:cNvPr id="24" name="Text 22"/>
          <p:cNvSpPr txBox="1"/>
          <p:nvPr/>
        </p:nvSpPr>
        <p:spPr>
          <a:xfrm>
            <a:off x="621792" y="5230368"/>
            <a:ext cx="10927080" cy="457200"/>
          </a:xfrm>
          <a:prstGeom prst="rect">
            <a:avLst/>
          </a:prstGeom>
          <a:noFill/>
          <a:ln/>
        </p:spPr>
        <p:txBody>
          <a:bodyPr wrap="square" lIns="0" tIns="0" rIns="0" bIns="0" rtlCol="0" anchor="ctr"/>
          <a:lstStyle/>
          <a:p>
            <a:pPr indent="0" marL="0">
              <a:buNone/>
            </a:pPr>
            <a:r>
              <a:rPr lang="en-US" sz="2200" b="1" dirty="0">
                <a:solidFill>
                  <a:srgbClr val="00A896"/>
                </a:solidFill>
                <a:latin typeface="Calibri" pitchFamily="34" charset="0"/>
                <a:ea typeface="Calibri" pitchFamily="34" charset="-122"/>
                <a:cs typeface="Calibri" pitchFamily="34" charset="-120"/>
              </a:rPr>
              <a:t>6.1× faster</a:t>
            </a:r>
            <a:pPr indent="0" marL="0">
              <a:buNone/>
            </a:pPr>
            <a:r>
              <a:rPr lang="en-US" sz="1500" dirty="0">
                <a:solidFill>
                  <a:srgbClr val="16232E"/>
                </a:solidFill>
                <a:latin typeface="Calibri" pitchFamily="34" charset="0"/>
                <a:ea typeface="Calibri" pitchFamily="34" charset="-122"/>
                <a:cs typeface="Calibri" pitchFamily="34" charset="-120"/>
              </a:rPr>
              <a:t>    SHA-256   1d31…724f  =  1d31…724f   identical</a:t>
            </a:r>
            <a:endParaRPr lang="en-US" sz="2200" dirty="0"/>
          </a:p>
        </p:txBody>
      </p:sp>
      <p:sp>
        <p:nvSpPr>
          <p:cNvPr id="25" name="Text 23"/>
          <p:cNvSpPr txBox="1"/>
          <p:nvPr/>
        </p:nvSpPr>
        <p:spPr>
          <a:xfrm>
            <a:off x="621792" y="5760720"/>
            <a:ext cx="10927080" cy="365760"/>
          </a:xfrm>
          <a:prstGeom prst="rect">
            <a:avLst/>
          </a:prstGeom>
          <a:noFill/>
          <a:ln/>
        </p:spPr>
        <p:txBody>
          <a:bodyPr wrap="square" lIns="0" tIns="0" rIns="0" bIns="0" rtlCol="0" anchor="ctr"/>
          <a:lstStyle/>
          <a:p>
            <a:pPr indent="0" marL="0">
              <a:buNone/>
            </a:pPr>
            <a:r>
              <a:rPr lang="en-US" sz="1400" dirty="0">
                <a:solidFill>
                  <a:srgbClr val="7C8FA0"/>
                </a:solidFill>
                <a:latin typeface="Calibri" pitchFamily="34" charset="0"/>
                <a:ea typeface="Calibri" pitchFamily="34" charset="-122"/>
                <a:cs typeface="Calibri" pitchFamily="34" charset="-120"/>
              </a:rPr>
              <a:t>Eight threads wrote into one file at eight offsets. Not one byte landed in the wrong place.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F2A65A"/>
                </a:solidFill>
                <a:latin typeface="Calibri" pitchFamily="34" charset="0"/>
                <a:ea typeface="Calibri" pitchFamily="34" charset="-122"/>
                <a:cs typeface="Calibri" pitchFamily="34" charset="-120"/>
              </a:rPr>
              <a:t>RESOURCE MANAGEMENT</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More threads is not a strategy</a:t>
            </a:r>
            <a:endParaRPr lang="en-US" sz="3400" dirty="0"/>
          </a:p>
        </p:txBody>
      </p:sp>
      <p:graphicFrame>
        <p:nvGraphicFramePr>
          <p:cNvPr id="4" name="Chart 0" descr=""/>
          <p:cNvGraphicFramePr/>
          <p:nvPr/>
        </p:nvGraphicFramePr>
        <p:xfrm>
          <a:off x="548640" y="1600200"/>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783080"/>
            <a:ext cx="4069080" cy="1115568"/>
          </a:xfrm>
          <a:prstGeom prst="roundRect">
            <a:avLst>
              <a:gd name="adj" fmla="val 4918"/>
            </a:avLst>
          </a:prstGeom>
          <a:solidFill>
            <a:srgbClr val="F1F5F8"/>
          </a:solidFill>
          <a:ln w="12700">
            <a:solidFill>
              <a:srgbClr val="F1F5F8"/>
            </a:solidFill>
            <a:prstDash val="solid"/>
          </a:ln>
        </p:spPr>
      </p:sp>
      <p:sp>
        <p:nvSpPr>
          <p:cNvPr id="6" name="Text 3"/>
          <p:cNvSpPr txBox="1"/>
          <p:nvPr/>
        </p:nvSpPr>
        <p:spPr>
          <a:xfrm>
            <a:off x="7754112" y="1911096"/>
            <a:ext cx="3566160" cy="274320"/>
          </a:xfrm>
          <a:prstGeom prst="rect">
            <a:avLst/>
          </a:prstGeom>
          <a:noFill/>
          <a:ln/>
        </p:spPr>
        <p:txBody>
          <a:bodyPr wrap="square" lIns="0" tIns="0" rIns="0" bIns="0" rtlCol="0" anchor="ctr"/>
          <a:lstStyle/>
          <a:p>
            <a:pPr indent="0" marL="0">
              <a:buNone/>
            </a:pPr>
            <a:r>
              <a:rPr lang="en-US" sz="1500" b="1" dirty="0">
                <a:solidFill>
                  <a:srgbClr val="00A896"/>
                </a:solidFill>
                <a:latin typeface="Calibri" pitchFamily="34" charset="0"/>
                <a:ea typeface="Calibri" pitchFamily="34" charset="-122"/>
                <a:cs typeface="Calibri" pitchFamily="34" charset="-120"/>
              </a:rPr>
              <a:t>1 → 8</a:t>
            </a:r>
            <a:endParaRPr lang="en-US" sz="1500" dirty="0"/>
          </a:p>
        </p:txBody>
      </p:sp>
      <p:sp>
        <p:nvSpPr>
          <p:cNvPr id="7" name="Text 4"/>
          <p:cNvSpPr txBox="1"/>
          <p:nvPr/>
        </p:nvSpPr>
        <p:spPr>
          <a:xfrm>
            <a:off x="7754112" y="2212848"/>
            <a:ext cx="3566160" cy="621792"/>
          </a:xfrm>
          <a:prstGeom prst="rect">
            <a:avLst/>
          </a:prstGeom>
          <a:noFill/>
          <a:ln/>
        </p:spPr>
        <p:txBody>
          <a:bodyPr wrap="square" lIns="0" tIns="0" rIns="0" bIns="0" rtlCol="0" anchor="t"/>
          <a:lstStyle/>
          <a:p>
            <a:pPr indent="0" marL="0">
              <a:buNone/>
            </a:pPr>
            <a:r>
              <a:rPr lang="en-US" sz="1200" dirty="0">
                <a:solidFill>
                  <a:srgbClr val="16232E"/>
                </a:solidFill>
                <a:latin typeface="Calibri" pitchFamily="34" charset="0"/>
                <a:ea typeface="Calibri" pitchFamily="34" charset="-122"/>
                <a:cs typeface="Calibri" pitchFamily="34" charset="-120"/>
              </a:rPr>
              <a:t>Each new connection buys real bandwidth, because the server limits each one on its own.</a:t>
            </a:r>
            <a:endParaRPr lang="en-US" sz="1200" dirty="0"/>
          </a:p>
        </p:txBody>
      </p:sp>
      <p:sp>
        <p:nvSpPr>
          <p:cNvPr id="8" name="Shape 5"/>
          <p:cNvSpPr/>
          <p:nvPr/>
        </p:nvSpPr>
        <p:spPr>
          <a:xfrm>
            <a:off x="7498080" y="3081528"/>
            <a:ext cx="4069080" cy="1115568"/>
          </a:xfrm>
          <a:prstGeom prst="roundRect">
            <a:avLst>
              <a:gd name="adj" fmla="val 4918"/>
            </a:avLst>
          </a:prstGeom>
          <a:solidFill>
            <a:srgbClr val="F1F5F8"/>
          </a:solidFill>
          <a:ln w="12700">
            <a:solidFill>
              <a:srgbClr val="F1F5F8"/>
            </a:solidFill>
            <a:prstDash val="solid"/>
          </a:ln>
        </p:spPr>
      </p:sp>
      <p:sp>
        <p:nvSpPr>
          <p:cNvPr id="9" name="Text 6"/>
          <p:cNvSpPr txBox="1"/>
          <p:nvPr/>
        </p:nvSpPr>
        <p:spPr>
          <a:xfrm>
            <a:off x="7754112" y="3209544"/>
            <a:ext cx="3566160" cy="274320"/>
          </a:xfrm>
          <a:prstGeom prst="rect">
            <a:avLst/>
          </a:prstGeom>
          <a:noFill/>
          <a:ln/>
        </p:spPr>
        <p:txBody>
          <a:bodyPr wrap="square" lIns="0" tIns="0" rIns="0" bIns="0" rtlCol="0" anchor="ctr"/>
          <a:lstStyle/>
          <a:p>
            <a:pPr indent="0" marL="0">
              <a:buNone/>
            </a:pPr>
            <a:r>
              <a:rPr lang="en-US" sz="1500" b="1" dirty="0">
                <a:solidFill>
                  <a:srgbClr val="F2A65A"/>
                </a:solidFill>
                <a:latin typeface="Calibri" pitchFamily="34" charset="0"/>
                <a:ea typeface="Calibri" pitchFamily="34" charset="-122"/>
                <a:cs typeface="Calibri" pitchFamily="34" charset="-120"/>
              </a:rPr>
              <a:t>8 → 32</a:t>
            </a:r>
            <a:endParaRPr lang="en-US" sz="1500" dirty="0"/>
          </a:p>
        </p:txBody>
      </p:sp>
      <p:sp>
        <p:nvSpPr>
          <p:cNvPr id="10" name="Text 7"/>
          <p:cNvSpPr txBox="1"/>
          <p:nvPr/>
        </p:nvSpPr>
        <p:spPr>
          <a:xfrm>
            <a:off x="7754112" y="3511296"/>
            <a:ext cx="3566160" cy="621792"/>
          </a:xfrm>
          <a:prstGeom prst="rect">
            <a:avLst/>
          </a:prstGeom>
          <a:noFill/>
          <a:ln/>
        </p:spPr>
        <p:txBody>
          <a:bodyPr wrap="square" lIns="0" tIns="0" rIns="0" bIns="0" rtlCol="0" anchor="t"/>
          <a:lstStyle/>
          <a:p>
            <a:pPr indent="0" marL="0">
              <a:buNone/>
            </a:pPr>
            <a:r>
              <a:rPr lang="en-US" sz="1200" dirty="0">
                <a:solidFill>
                  <a:srgbClr val="16232E"/>
                </a:solidFill>
                <a:latin typeface="Calibri" pitchFamily="34" charset="0"/>
                <a:ea typeface="Calibri" pitchFamily="34" charset="-122"/>
                <a:cs typeface="Calibri" pitchFamily="34" charset="-120"/>
              </a:rPr>
              <a:t>Flat. The bottleneck is now total bandwidth; connections 9 to 32 add nothing at all.</a:t>
            </a:r>
            <a:endParaRPr lang="en-US" sz="1200" dirty="0"/>
          </a:p>
        </p:txBody>
      </p:sp>
      <p:sp>
        <p:nvSpPr>
          <p:cNvPr id="11" name="Shape 8"/>
          <p:cNvSpPr/>
          <p:nvPr/>
        </p:nvSpPr>
        <p:spPr>
          <a:xfrm>
            <a:off x="7498080" y="4379976"/>
            <a:ext cx="4069080" cy="1115568"/>
          </a:xfrm>
          <a:prstGeom prst="roundRect">
            <a:avLst>
              <a:gd name="adj" fmla="val 4918"/>
            </a:avLst>
          </a:prstGeom>
          <a:solidFill>
            <a:srgbClr val="F1F5F8"/>
          </a:solidFill>
          <a:ln w="12700">
            <a:solidFill>
              <a:srgbClr val="F1F5F8"/>
            </a:solidFill>
            <a:prstDash val="solid"/>
          </a:ln>
        </p:spPr>
      </p:sp>
      <p:sp>
        <p:nvSpPr>
          <p:cNvPr id="12" name="Text 9"/>
          <p:cNvSpPr txBox="1"/>
          <p:nvPr/>
        </p:nvSpPr>
        <p:spPr>
          <a:xfrm>
            <a:off x="7754112" y="4507992"/>
            <a:ext cx="3566160" cy="274320"/>
          </a:xfrm>
          <a:prstGeom prst="rect">
            <a:avLst/>
          </a:prstGeom>
          <a:noFill/>
          <a:ln/>
        </p:spPr>
        <p:txBody>
          <a:bodyPr wrap="square" lIns="0" tIns="0" rIns="0" bIns="0" rtlCol="0" anchor="ctr"/>
          <a:lstStyle/>
          <a:p>
            <a:pPr indent="0" marL="0">
              <a:buNone/>
            </a:pPr>
            <a:r>
              <a:rPr lang="en-US" sz="1500" b="1" dirty="0">
                <a:solidFill>
                  <a:srgbClr val="6B7C8C"/>
                </a:solidFill>
                <a:latin typeface="Calibri" pitchFamily="34" charset="0"/>
                <a:ea typeface="Calibri" pitchFamily="34" charset="-122"/>
                <a:cs typeface="Calibri" pitchFamily="34" charset="-120"/>
              </a:rPr>
              <a:t>And they bill you</a:t>
            </a:r>
            <a:endParaRPr lang="en-US" sz="1500" dirty="0"/>
          </a:p>
        </p:txBody>
      </p:sp>
      <p:sp>
        <p:nvSpPr>
          <p:cNvPr id="13" name="Text 10"/>
          <p:cNvSpPr txBox="1"/>
          <p:nvPr/>
        </p:nvSpPr>
        <p:spPr>
          <a:xfrm>
            <a:off x="7754112" y="4809744"/>
            <a:ext cx="3566160" cy="621792"/>
          </a:xfrm>
          <a:prstGeom prst="rect">
            <a:avLst/>
          </a:prstGeom>
          <a:noFill/>
          <a:ln/>
        </p:spPr>
        <p:txBody>
          <a:bodyPr wrap="square" lIns="0" tIns="0" rIns="0" bIns="0" rtlCol="0" anchor="t"/>
          <a:lstStyle/>
          <a:p>
            <a:pPr indent="0" marL="0">
              <a:buNone/>
            </a:pPr>
            <a:r>
              <a:rPr lang="en-US" sz="1200" dirty="0">
                <a:solidFill>
                  <a:srgbClr val="16232E"/>
                </a:solidFill>
                <a:latin typeface="Calibri" pitchFamily="34" charset="0"/>
                <a:ea typeface="Calibri" pitchFamily="34" charset="-122"/>
                <a:cs typeface="Calibri" pitchFamily="34" charset="-120"/>
              </a:rPr>
              <a:t>Threads, sockets, buffers, context switches. Paid for in full, used for nothing.</a:t>
            </a:r>
            <a:endParaRPr lang="en-US" sz="1200" dirty="0"/>
          </a:p>
        </p:txBody>
      </p:sp>
      <p:sp>
        <p:nvSpPr>
          <p:cNvPr id="14" name="Text 11"/>
          <p:cNvSpPr txBox="1"/>
          <p:nvPr/>
        </p:nvSpPr>
        <p:spPr>
          <a:xfrm>
            <a:off x="621792" y="5852160"/>
            <a:ext cx="10927080" cy="411480"/>
          </a:xfrm>
          <a:prstGeom prst="rect">
            <a:avLst/>
          </a:prstGeom>
          <a:noFill/>
          <a:ln/>
        </p:spPr>
        <p:txBody>
          <a:bodyPr wrap="square" lIns="0" tIns="0" rIns="0" bIns="0" rtlCol="0" anchor="ctr"/>
          <a:lstStyle/>
          <a:p>
            <a:pPr indent="0" marL="0">
              <a:buNone/>
            </a:pPr>
            <a:r>
              <a:rPr lang="en-US" sz="1900" b="1" i="1" dirty="0">
                <a:solidFill>
                  <a:srgbClr val="16232E"/>
                </a:solidFill>
                <a:latin typeface="Cambria" pitchFamily="34" charset="0"/>
                <a:ea typeface="Cambria" pitchFamily="34" charset="-122"/>
                <a:cs typeface="Cambria" pitchFamily="34" charset="-120"/>
              </a:rPr>
              <a:t>Size the pool to the work — not to the machine, and not to optimism.</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COMPOSITION</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thenCompose or thenCombine?</a:t>
            </a:r>
            <a:endParaRPr lang="en-US" sz="3400" dirty="0"/>
          </a:p>
        </p:txBody>
      </p:sp>
      <p:sp>
        <p:nvSpPr>
          <p:cNvPr id="4" name="Text 2"/>
          <p:cNvSpPr txBox="1"/>
          <p:nvPr/>
        </p:nvSpPr>
        <p:spPr>
          <a:xfrm>
            <a:off x="621792" y="1298448"/>
            <a:ext cx="10881360" cy="365760"/>
          </a:xfrm>
          <a:prstGeom prst="rect">
            <a:avLst/>
          </a:prstGeom>
          <a:noFill/>
          <a:ln/>
        </p:spPr>
        <p:txBody>
          <a:bodyPr wrap="square" lIns="0" tIns="0" rIns="0" bIns="0" rtlCol="0" anchor="ctr"/>
          <a:lstStyle/>
          <a:p>
            <a:pPr indent="0" marL="0">
              <a:buNone/>
            </a:pPr>
            <a:r>
              <a:rPr lang="en-US" sz="1500" dirty="0">
                <a:solidFill>
                  <a:srgbClr val="7C8FA0"/>
                </a:solidFill>
                <a:latin typeface="Calibri" pitchFamily="34" charset="0"/>
                <a:ea typeface="Calibri" pitchFamily="34" charset="-122"/>
                <a:cs typeface="Calibri" pitchFamily="34" charset="-120"/>
              </a:rPr>
              <a:t>One question settles it: does the next step need the previous step’s answer?</a:t>
            </a:r>
            <a:endParaRPr lang="en-US" sz="1500" dirty="0"/>
          </a:p>
        </p:txBody>
      </p:sp>
      <p:sp>
        <p:nvSpPr>
          <p:cNvPr id="5" name="Text 3"/>
          <p:cNvSpPr txBox="1"/>
          <p:nvPr/>
        </p:nvSpPr>
        <p:spPr>
          <a:xfrm>
            <a:off x="621792" y="1874520"/>
            <a:ext cx="5212080" cy="274320"/>
          </a:xfrm>
          <a:prstGeom prst="rect">
            <a:avLst/>
          </a:prstGeom>
          <a:noFill/>
          <a:ln/>
        </p:spPr>
        <p:txBody>
          <a:bodyPr wrap="square" lIns="0" tIns="0" rIns="0" bIns="0" rtlCol="0" anchor="ctr"/>
          <a:lstStyle/>
          <a:p>
            <a:pPr indent="0" marL="0">
              <a:buNone/>
            </a:pPr>
            <a:r>
              <a:rPr lang="en-US" sz="1300" b="1" dirty="0">
                <a:solidFill>
                  <a:srgbClr val="00A896"/>
                </a:solidFill>
                <a:latin typeface="Calibri" pitchFamily="34" charset="0"/>
                <a:ea typeface="Calibri" pitchFamily="34" charset="-122"/>
                <a:cs typeface="Calibri" pitchFamily="34" charset="-120"/>
              </a:rPr>
              <a:t>YES  →  thenCompose</a:t>
            </a:r>
            <a:endParaRPr lang="en-US" sz="1300" dirty="0"/>
          </a:p>
        </p:txBody>
      </p:sp>
      <p:sp>
        <p:nvSpPr>
          <p:cNvPr id="6" name="Shape 4"/>
          <p:cNvSpPr/>
          <p:nvPr/>
        </p:nvSpPr>
        <p:spPr>
          <a:xfrm>
            <a:off x="621792" y="2212848"/>
            <a:ext cx="5212080" cy="1783080"/>
          </a:xfrm>
          <a:prstGeom prst="roundRect">
            <a:avLst>
              <a:gd name="adj" fmla="val 3077"/>
            </a:avLst>
          </a:prstGeom>
          <a:solidFill>
            <a:srgbClr val="0D1F31"/>
          </a:solidFill>
          <a:ln w="12700">
            <a:solidFill>
              <a:srgbClr val="0D1F31"/>
            </a:solidFill>
            <a:prstDash val="solid"/>
          </a:ln>
        </p:spPr>
      </p:sp>
      <p:sp>
        <p:nvSpPr>
          <p:cNvPr id="7" name="Text 5"/>
          <p:cNvSpPr txBox="1"/>
          <p:nvPr/>
        </p:nvSpPr>
        <p:spPr>
          <a:xfrm>
            <a:off x="822960" y="2359152"/>
            <a:ext cx="4809744" cy="1490472"/>
          </a:xfrm>
          <a:prstGeom prst="rect">
            <a:avLst/>
          </a:prstGeom>
          <a:noFill/>
          <a:ln/>
        </p:spPr>
        <p:txBody>
          <a:bodyPr wrap="square" lIns="0" tIns="0" rIns="0" bIns="0" rtlCol="0" anchor="t"/>
          <a:lstStyle/>
          <a:p>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grind</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(order)</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thenCompose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(g -&gt; brew(g))</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thenCompose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(s -&gt; steam(s))</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you cannot brew before you grind</a:t>
            </a:r>
            <a:endParaRPr lang="en-US" sz="1250" dirty="0"/>
          </a:p>
        </p:txBody>
      </p:sp>
      <p:sp>
        <p:nvSpPr>
          <p:cNvPr id="8" name="Text 6"/>
          <p:cNvSpPr txBox="1"/>
          <p:nvPr/>
        </p:nvSpPr>
        <p:spPr>
          <a:xfrm>
            <a:off x="621792" y="4133088"/>
            <a:ext cx="5212080" cy="777240"/>
          </a:xfrm>
          <a:prstGeom prst="rect">
            <a:avLst/>
          </a:prstGeom>
          <a:noFill/>
          <a:ln/>
        </p:spPr>
        <p:txBody>
          <a:bodyPr wrap="square" lIns="0" tIns="0" rIns="0" bIns="0" rtlCol="0" anchor="t"/>
          <a:lstStyle/>
          <a:p>
            <a:pPr indent="0" marL="0">
              <a:buNone/>
            </a:pPr>
            <a:r>
              <a:rPr lang="en-US" sz="1250" dirty="0">
                <a:solidFill>
                  <a:srgbClr val="16232E"/>
                </a:solidFill>
                <a:latin typeface="Calibri" pitchFamily="34" charset="0"/>
                <a:ea typeface="Calibri" pitchFamily="34" charset="-122"/>
                <a:cs typeface="Calibri" pitchFamily="34" charset="-120"/>
              </a:rPr>
              <a:t>Each step returns its own future; compose flattens them. thenApply here would hand you a CompletableFuture of a CompletableFuture.</a:t>
            </a:r>
            <a:endParaRPr lang="en-US" sz="1250" dirty="0"/>
          </a:p>
        </p:txBody>
      </p:sp>
      <p:sp>
        <p:nvSpPr>
          <p:cNvPr id="9" name="Shape 7"/>
          <p:cNvSpPr/>
          <p:nvPr/>
        </p:nvSpPr>
        <p:spPr>
          <a:xfrm>
            <a:off x="621792" y="5074920"/>
            <a:ext cx="4206240" cy="237744"/>
          </a:xfrm>
          <a:prstGeom prst="rect">
            <a:avLst/>
          </a:prstGeom>
          <a:solidFill>
            <a:srgbClr val="6B7C8C"/>
          </a:solidFill>
          <a:ln/>
        </p:spPr>
      </p:sp>
      <p:sp>
        <p:nvSpPr>
          <p:cNvPr id="10" name="Text 8"/>
          <p:cNvSpPr txBox="1"/>
          <p:nvPr/>
        </p:nvSpPr>
        <p:spPr>
          <a:xfrm>
            <a:off x="621792" y="5394960"/>
            <a:ext cx="5212080" cy="274320"/>
          </a:xfrm>
          <a:prstGeom prst="rect">
            <a:avLst/>
          </a:prstGeom>
          <a:noFill/>
          <a:ln/>
        </p:spPr>
        <p:txBody>
          <a:bodyPr wrap="square" lIns="0" tIns="0" rIns="0" bIns="0" rtlCol="0" anchor="ctr"/>
          <a:lstStyle/>
          <a:p>
            <a:pPr indent="0" marL="0">
              <a:buNone/>
            </a:pPr>
            <a:r>
              <a:rPr lang="en-US" sz="1250" b="1" dirty="0">
                <a:solidFill>
                  <a:srgbClr val="6B7C8C"/>
                </a:solidFill>
                <a:latin typeface="Calibri" pitchFamily="34" charset="0"/>
                <a:ea typeface="Calibri" pitchFamily="34" charset="-122"/>
                <a:cs typeface="Calibri" pitchFamily="34" charset="-120"/>
              </a:rPr>
              <a:t>2.5 s — sequential by necessity</a:t>
            </a:r>
            <a:endParaRPr lang="en-US" sz="1250" dirty="0"/>
          </a:p>
        </p:txBody>
      </p:sp>
      <p:sp>
        <p:nvSpPr>
          <p:cNvPr id="11" name="Text 9"/>
          <p:cNvSpPr txBox="1"/>
          <p:nvPr/>
        </p:nvSpPr>
        <p:spPr>
          <a:xfrm>
            <a:off x="6336792" y="1874520"/>
            <a:ext cx="5212080" cy="274320"/>
          </a:xfrm>
          <a:prstGeom prst="rect">
            <a:avLst/>
          </a:prstGeom>
          <a:noFill/>
          <a:ln/>
        </p:spPr>
        <p:txBody>
          <a:bodyPr wrap="square" lIns="0" tIns="0" rIns="0" bIns="0" rtlCol="0" anchor="ctr"/>
          <a:lstStyle/>
          <a:p>
            <a:pPr indent="0" marL="0">
              <a:buNone/>
            </a:pPr>
            <a:r>
              <a:rPr lang="en-US" sz="1300" b="1" dirty="0">
                <a:solidFill>
                  <a:srgbClr val="F2A65A"/>
                </a:solidFill>
                <a:latin typeface="Calibri" pitchFamily="34" charset="0"/>
                <a:ea typeface="Calibri" pitchFamily="34" charset="-122"/>
                <a:cs typeface="Calibri" pitchFamily="34" charset="-120"/>
              </a:rPr>
              <a:t>NO  →  thenCombine</a:t>
            </a:r>
            <a:endParaRPr lang="en-US" sz="1300" dirty="0"/>
          </a:p>
        </p:txBody>
      </p:sp>
      <p:sp>
        <p:nvSpPr>
          <p:cNvPr id="12" name="Shape 10"/>
          <p:cNvSpPr/>
          <p:nvPr/>
        </p:nvSpPr>
        <p:spPr>
          <a:xfrm>
            <a:off x="6336792" y="2212848"/>
            <a:ext cx="5212080" cy="1783080"/>
          </a:xfrm>
          <a:prstGeom prst="roundRect">
            <a:avLst>
              <a:gd name="adj" fmla="val 3077"/>
            </a:avLst>
          </a:prstGeom>
          <a:solidFill>
            <a:srgbClr val="0D1F31"/>
          </a:solidFill>
          <a:ln w="12700">
            <a:solidFill>
              <a:srgbClr val="0D1F31"/>
            </a:solidFill>
            <a:prstDash val="solid"/>
          </a:ln>
        </p:spPr>
      </p:sp>
      <p:sp>
        <p:nvSpPr>
          <p:cNvPr id="13" name="Text 11"/>
          <p:cNvSpPr txBox="1"/>
          <p:nvPr/>
        </p:nvSpPr>
        <p:spPr>
          <a:xfrm>
            <a:off x="6537960" y="2359152"/>
            <a:ext cx="4809744" cy="1490472"/>
          </a:xfrm>
          <a:prstGeom prst="rect">
            <a:avLst/>
          </a:prstGeom>
          <a:noFill/>
          <a:ln/>
        </p:spPr>
        <p:txBody>
          <a:bodyPr wrap="square" lIns="0" tIns="0" rIns="0" bIns="0" rtlCol="0" anchor="t"/>
          <a:lstStyle/>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drinkFuture</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pPr indent="0" marL="0">
              <a:lnSpc>
                <a:spcPct val="118000"/>
              </a:lnSpc>
              <a:buNone/>
            </a:pPr>
            <a:r>
              <a:rPr lang="en-US" sz="1250" dirty="0">
                <a:solidFill>
                  <a:srgbClr val="00A896"/>
                </a:solidFill>
                <a:latin typeface="Courier New" pitchFamily="34" charset="0"/>
                <a:ea typeface="Courier New" pitchFamily="34" charset="-122"/>
                <a:cs typeface="Courier New" pitchFamily="34" charset="-120"/>
              </a:rPr>
              <a:t>thenCombine</a:t>
            </a:r>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(pastryFuture,</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(d, p) -&gt; serveTogether(d, p))</a:t>
            </a:r>
            <a:endParaRPr lang="en-US" sz="1250" dirty="0"/>
          </a:p>
          <a:p>
            <a:pPr indent="0" marL="0">
              <a:lnSpc>
                <a:spcPct val="118000"/>
              </a:lnSpc>
              <a:buNone/>
            </a:pPr>
            <a:r>
              <a:rPr lang="en-US" sz="1250" dirty="0">
                <a:solidFill>
                  <a:srgbClr val="C9D6E0"/>
                </a:solidFill>
                <a:latin typeface="Courier New" pitchFamily="34" charset="0"/>
                <a:ea typeface="Courier New" pitchFamily="34" charset="-122"/>
                <a:cs typeface="Courier New" pitchFamily="34" charset="-120"/>
              </a:rPr>
              <a:t> </a:t>
            </a:r>
            <a:endParaRPr lang="en-US" sz="1250" dirty="0"/>
          </a:p>
          <a:p>
            <a:pPr indent="0" marL="0">
              <a:lnSpc>
                <a:spcPct val="118000"/>
              </a:lnSpc>
              <a:buNone/>
            </a:pPr>
            <a:r>
              <a:rPr lang="en-US" sz="1250" dirty="0">
                <a:solidFill>
                  <a:srgbClr val="6B8199"/>
                </a:solidFill>
                <a:latin typeface="Courier New" pitchFamily="34" charset="0"/>
                <a:ea typeface="Courier New" pitchFamily="34" charset="-122"/>
                <a:cs typeface="Courier New" pitchFamily="34" charset="-120"/>
              </a:rPr>
              <a:t>// the croissant never needed coffee</a:t>
            </a:r>
            <a:endParaRPr lang="en-US" sz="1250" dirty="0"/>
          </a:p>
        </p:txBody>
      </p:sp>
      <p:sp>
        <p:nvSpPr>
          <p:cNvPr id="14" name="Text 12"/>
          <p:cNvSpPr txBox="1"/>
          <p:nvPr/>
        </p:nvSpPr>
        <p:spPr>
          <a:xfrm>
            <a:off x="6336792" y="4133088"/>
            <a:ext cx="5212080" cy="777240"/>
          </a:xfrm>
          <a:prstGeom prst="rect">
            <a:avLst/>
          </a:prstGeom>
          <a:noFill/>
          <a:ln/>
        </p:spPr>
        <p:txBody>
          <a:bodyPr wrap="square" lIns="0" tIns="0" rIns="0" bIns="0" rtlCol="0" anchor="t"/>
          <a:lstStyle/>
          <a:p>
            <a:pPr indent="0" marL="0">
              <a:buNone/>
            </a:pPr>
            <a:r>
              <a:rPr lang="en-US" sz="1250" dirty="0">
                <a:solidFill>
                  <a:srgbClr val="16232E"/>
                </a:solidFill>
                <a:latin typeface="Calibri" pitchFamily="34" charset="0"/>
                <a:ea typeface="Calibri" pitchFamily="34" charset="-122"/>
                <a:cs typeface="Calibri" pitchFamily="34" charset="-120"/>
              </a:rPr>
              <a:t>Two futures that were never related, already running side by side. The pair costs the slower of the two, not the sum of both.</a:t>
            </a:r>
            <a:endParaRPr lang="en-US" sz="1250" dirty="0"/>
          </a:p>
        </p:txBody>
      </p:sp>
      <p:sp>
        <p:nvSpPr>
          <p:cNvPr id="15" name="Shape 13"/>
          <p:cNvSpPr/>
          <p:nvPr/>
        </p:nvSpPr>
        <p:spPr>
          <a:xfrm>
            <a:off x="6336792" y="5074920"/>
            <a:ext cx="2651760" cy="237744"/>
          </a:xfrm>
          <a:prstGeom prst="rect">
            <a:avLst/>
          </a:prstGeom>
          <a:solidFill>
            <a:srgbClr val="00A896"/>
          </a:solidFill>
          <a:ln/>
        </p:spPr>
      </p:sp>
      <p:sp>
        <p:nvSpPr>
          <p:cNvPr id="16" name="Shape 14"/>
          <p:cNvSpPr/>
          <p:nvPr/>
        </p:nvSpPr>
        <p:spPr>
          <a:xfrm>
            <a:off x="6336792" y="5376672"/>
            <a:ext cx="1600200" cy="237744"/>
          </a:xfrm>
          <a:prstGeom prst="rect">
            <a:avLst/>
          </a:prstGeom>
          <a:solidFill>
            <a:srgbClr val="F2A65A"/>
          </a:solidFill>
          <a:ln/>
        </p:spPr>
      </p:sp>
      <p:sp>
        <p:nvSpPr>
          <p:cNvPr id="17" name="Text 15"/>
          <p:cNvSpPr txBox="1"/>
          <p:nvPr/>
        </p:nvSpPr>
        <p:spPr>
          <a:xfrm>
            <a:off x="6336792" y="5687568"/>
            <a:ext cx="5212080" cy="274320"/>
          </a:xfrm>
          <a:prstGeom prst="rect">
            <a:avLst/>
          </a:prstGeom>
          <a:noFill/>
          <a:ln/>
        </p:spPr>
        <p:txBody>
          <a:bodyPr wrap="square" lIns="0" tIns="0" rIns="0" bIns="0" rtlCol="0" anchor="ctr"/>
          <a:lstStyle/>
          <a:p>
            <a:pPr indent="0" marL="0">
              <a:buNone/>
            </a:pPr>
            <a:r>
              <a:rPr lang="en-US" sz="1250" b="1" dirty="0">
                <a:solidFill>
                  <a:srgbClr val="00776B"/>
                </a:solidFill>
                <a:latin typeface="Calibri" pitchFamily="34" charset="0"/>
                <a:ea typeface="Calibri" pitchFamily="34" charset="-122"/>
                <a:cs typeface="Calibri" pitchFamily="34" charset="-120"/>
              </a:rPr>
              <a:t>2.5 s total, not 4.0 s — they overlap</a:t>
            </a:r>
            <a:endParaRPr lang="en-US" sz="1250" dirty="0"/>
          </a:p>
        </p:txBody>
      </p:sp>
      <p:sp>
        <p:nvSpPr>
          <p:cNvPr id="18" name="Text 16"/>
          <p:cNvSpPr txBox="1"/>
          <p:nvPr/>
        </p:nvSpPr>
        <p:spPr>
          <a:xfrm>
            <a:off x="621792" y="6144768"/>
            <a:ext cx="10927080" cy="411480"/>
          </a:xfrm>
          <a:prstGeom prst="rect">
            <a:avLst/>
          </a:prstGeom>
          <a:noFill/>
          <a:ln/>
        </p:spPr>
        <p:txBody>
          <a:bodyPr wrap="square" lIns="0" tIns="0" rIns="0" bIns="0" rtlCol="0" anchor="ctr"/>
          <a:lstStyle/>
          <a:p>
            <a:pPr indent="0" marL="0">
              <a:buNone/>
            </a:pPr>
            <a:r>
              <a:rPr lang="en-US" sz="1900" b="1" i="1" dirty="0">
                <a:solidFill>
                  <a:srgbClr val="00776B"/>
                </a:solidFill>
                <a:latin typeface="Cambria" pitchFamily="34" charset="0"/>
                <a:ea typeface="Cambria" pitchFamily="34" charset="-122"/>
                <a:cs typeface="Cambria" pitchFamily="34" charset="-120"/>
              </a:rPr>
              <a:t>Need the answer? Compose. Never needed it? Combine.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F2A65A"/>
                </a:solidFill>
                <a:latin typeface="Calibri" pitchFamily="34" charset="0"/>
                <a:ea typeface="Calibri" pitchFamily="34" charset="-122"/>
                <a:cs typeface="Calibri" pitchFamily="34" charset="-120"/>
              </a:rPr>
              <a:t>RESILIENCE</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16232E"/>
                </a:solidFill>
                <a:latin typeface="Cambria" pitchFamily="34" charset="0"/>
                <a:ea typeface="Cambria" pitchFamily="34" charset="-122"/>
                <a:cs typeface="Cambria" pitchFamily="34" charset="-120"/>
              </a:rPr>
              <a:t>Three ways to fail. Three different tools.</a:t>
            </a:r>
            <a:endParaRPr lang="en-US" sz="3400" dirty="0"/>
          </a:p>
        </p:txBody>
      </p:sp>
      <p:sp>
        <p:nvSpPr>
          <p:cNvPr id="4" name="Shape 2"/>
          <p:cNvSpPr/>
          <p:nvPr/>
        </p:nvSpPr>
        <p:spPr>
          <a:xfrm>
            <a:off x="621792" y="1691640"/>
            <a:ext cx="10927080" cy="1234440"/>
          </a:xfrm>
          <a:prstGeom prst="roundRect">
            <a:avLst>
              <a:gd name="adj" fmla="val 4444"/>
            </a:avLst>
          </a:prstGeom>
          <a:solidFill>
            <a:srgbClr val="F1F5F8"/>
          </a:solidFill>
          <a:ln w="12700">
            <a:solidFill>
              <a:srgbClr val="F1F5F8"/>
            </a:solidFill>
            <a:prstDash val="solid"/>
          </a:ln>
        </p:spPr>
      </p:sp>
      <p:sp>
        <p:nvSpPr>
          <p:cNvPr id="5" name="Text 3"/>
          <p:cNvSpPr txBox="1"/>
          <p:nvPr/>
        </p:nvSpPr>
        <p:spPr>
          <a:xfrm>
            <a:off x="914400" y="1874520"/>
            <a:ext cx="2377440" cy="320040"/>
          </a:xfrm>
          <a:prstGeom prst="rect">
            <a:avLst/>
          </a:prstGeom>
          <a:noFill/>
          <a:ln/>
        </p:spPr>
        <p:txBody>
          <a:bodyPr wrap="square" lIns="0" tIns="0" rIns="0" bIns="0" rtlCol="0" anchor="ctr"/>
          <a:lstStyle/>
          <a:p>
            <a:pPr indent="0" marL="0">
              <a:buNone/>
            </a:pPr>
            <a:r>
              <a:rPr lang="en-US" sz="1600" b="1" dirty="0">
                <a:solidFill>
                  <a:srgbClr val="16232E"/>
                </a:solidFill>
                <a:latin typeface="Calibri" pitchFamily="34" charset="0"/>
                <a:ea typeface="Calibri" pitchFamily="34" charset="-122"/>
                <a:cs typeface="Calibri" pitchFamily="34" charset="-120"/>
              </a:rPr>
              <a:t>It threw</a:t>
            </a:r>
            <a:endParaRPr lang="en-US" sz="1600" dirty="0"/>
          </a:p>
        </p:txBody>
      </p:sp>
      <p:sp>
        <p:nvSpPr>
          <p:cNvPr id="6" name="Text 4"/>
          <p:cNvSpPr txBox="1"/>
          <p:nvPr/>
        </p:nvSpPr>
        <p:spPr>
          <a:xfrm>
            <a:off x="914400" y="2258568"/>
            <a:ext cx="2377440" cy="320040"/>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exceptionally</a:t>
            </a:r>
            <a:endParaRPr lang="en-US" sz="1400" dirty="0"/>
          </a:p>
        </p:txBody>
      </p:sp>
      <p:sp>
        <p:nvSpPr>
          <p:cNvPr id="7" name="Text 5"/>
          <p:cNvSpPr txBox="1"/>
          <p:nvPr/>
        </p:nvSpPr>
        <p:spPr>
          <a:xfrm>
            <a:off x="3657600" y="1892808"/>
            <a:ext cx="7680960" cy="86868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Supply a replacement value and let the pipeline carry on. The order still produces a drink.</a:t>
            </a:r>
            <a:endParaRPr lang="en-US" sz="1350" dirty="0"/>
          </a:p>
        </p:txBody>
      </p:sp>
      <p:sp>
        <p:nvSpPr>
          <p:cNvPr id="8" name="Shape 6"/>
          <p:cNvSpPr/>
          <p:nvPr/>
        </p:nvSpPr>
        <p:spPr>
          <a:xfrm>
            <a:off x="621792" y="3108960"/>
            <a:ext cx="10927080" cy="1234440"/>
          </a:xfrm>
          <a:prstGeom prst="roundRect">
            <a:avLst>
              <a:gd name="adj" fmla="val 4444"/>
            </a:avLst>
          </a:prstGeom>
          <a:solidFill>
            <a:srgbClr val="F1F5F8"/>
          </a:solidFill>
          <a:ln w="12700">
            <a:solidFill>
              <a:srgbClr val="F1F5F8"/>
            </a:solidFill>
            <a:prstDash val="solid"/>
          </a:ln>
        </p:spPr>
      </p:sp>
      <p:sp>
        <p:nvSpPr>
          <p:cNvPr id="9" name="Text 7"/>
          <p:cNvSpPr txBox="1"/>
          <p:nvPr/>
        </p:nvSpPr>
        <p:spPr>
          <a:xfrm>
            <a:off x="914400" y="3291840"/>
            <a:ext cx="2377440" cy="320040"/>
          </a:xfrm>
          <a:prstGeom prst="rect">
            <a:avLst/>
          </a:prstGeom>
          <a:noFill/>
          <a:ln/>
        </p:spPr>
        <p:txBody>
          <a:bodyPr wrap="square" lIns="0" tIns="0" rIns="0" bIns="0" rtlCol="0" anchor="ctr"/>
          <a:lstStyle/>
          <a:p>
            <a:pPr indent="0" marL="0">
              <a:buNone/>
            </a:pPr>
            <a:r>
              <a:rPr lang="en-US" sz="1600" b="1" dirty="0">
                <a:solidFill>
                  <a:srgbClr val="16232E"/>
                </a:solidFill>
                <a:latin typeface="Calibri" pitchFamily="34" charset="0"/>
                <a:ea typeface="Calibri" pitchFamily="34" charset="-122"/>
                <a:cs typeface="Calibri" pitchFamily="34" charset="-120"/>
              </a:rPr>
              <a:t>It never finished</a:t>
            </a:r>
            <a:endParaRPr lang="en-US" sz="1600" dirty="0"/>
          </a:p>
        </p:txBody>
      </p:sp>
      <p:sp>
        <p:nvSpPr>
          <p:cNvPr id="10" name="Text 8"/>
          <p:cNvSpPr txBox="1"/>
          <p:nvPr/>
        </p:nvSpPr>
        <p:spPr>
          <a:xfrm>
            <a:off x="914400" y="3675888"/>
            <a:ext cx="2377440" cy="320040"/>
          </a:xfrm>
          <a:prstGeom prst="rect">
            <a:avLst/>
          </a:prstGeom>
          <a:noFill/>
          <a:ln/>
        </p:spPr>
        <p:txBody>
          <a:bodyPr wrap="square" lIns="0" tIns="0" rIns="0" bIns="0" rtlCol="0" anchor="ctr"/>
          <a:lstStyle/>
          <a:p>
            <a:pPr indent="0" marL="0">
              <a:buNone/>
            </a:pPr>
            <a:r>
              <a:rPr lang="en-US" sz="1400" b="1" dirty="0">
                <a:solidFill>
                  <a:srgbClr val="D9534F"/>
                </a:solidFill>
                <a:latin typeface="Courier New" pitchFamily="34" charset="0"/>
                <a:ea typeface="Courier New" pitchFamily="34" charset="-122"/>
                <a:cs typeface="Courier New" pitchFamily="34" charset="-120"/>
              </a:rPr>
              <a:t>orTimeout</a:t>
            </a:r>
            <a:endParaRPr lang="en-US" sz="1400" dirty="0"/>
          </a:p>
        </p:txBody>
      </p:sp>
      <p:sp>
        <p:nvSpPr>
          <p:cNvPr id="11" name="Text 9"/>
          <p:cNvSpPr txBox="1"/>
          <p:nvPr/>
        </p:nvSpPr>
        <p:spPr>
          <a:xfrm>
            <a:off x="3657600" y="3310128"/>
            <a:ext cx="7680960" cy="86868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Nothing throws, so there is nothing to catch — until a timeout turns the silence into a TimeoutException.</a:t>
            </a:r>
            <a:endParaRPr lang="en-US" sz="1350" dirty="0"/>
          </a:p>
        </p:txBody>
      </p:sp>
      <p:sp>
        <p:nvSpPr>
          <p:cNvPr id="12" name="Shape 10"/>
          <p:cNvSpPr/>
          <p:nvPr/>
        </p:nvSpPr>
        <p:spPr>
          <a:xfrm>
            <a:off x="621792" y="4526280"/>
            <a:ext cx="10927080" cy="1234440"/>
          </a:xfrm>
          <a:prstGeom prst="roundRect">
            <a:avLst>
              <a:gd name="adj" fmla="val 4444"/>
            </a:avLst>
          </a:prstGeom>
          <a:solidFill>
            <a:srgbClr val="F1F5F8"/>
          </a:solidFill>
          <a:ln w="12700">
            <a:solidFill>
              <a:srgbClr val="F1F5F8"/>
            </a:solidFill>
            <a:prstDash val="solid"/>
          </a:ln>
        </p:spPr>
      </p:sp>
      <p:sp>
        <p:nvSpPr>
          <p:cNvPr id="13" name="Text 11"/>
          <p:cNvSpPr txBox="1"/>
          <p:nvPr/>
        </p:nvSpPr>
        <p:spPr>
          <a:xfrm>
            <a:off x="914400" y="4709160"/>
            <a:ext cx="2377440" cy="320040"/>
          </a:xfrm>
          <a:prstGeom prst="rect">
            <a:avLst/>
          </a:prstGeom>
          <a:noFill/>
          <a:ln/>
        </p:spPr>
        <p:txBody>
          <a:bodyPr wrap="square" lIns="0" tIns="0" rIns="0" bIns="0" rtlCol="0" anchor="ctr"/>
          <a:lstStyle/>
          <a:p>
            <a:pPr indent="0" marL="0">
              <a:buNone/>
            </a:pPr>
            <a:r>
              <a:rPr lang="en-US" sz="1600" b="1" dirty="0">
                <a:solidFill>
                  <a:srgbClr val="16232E"/>
                </a:solidFill>
                <a:latin typeface="Calibri" pitchFamily="34" charset="0"/>
                <a:ea typeface="Calibri" pitchFamily="34" charset="-122"/>
                <a:cs typeface="Calibri" pitchFamily="34" charset="-120"/>
              </a:rPr>
              <a:t>Either way</a:t>
            </a:r>
            <a:endParaRPr lang="en-US" sz="1600" dirty="0"/>
          </a:p>
        </p:txBody>
      </p:sp>
      <p:sp>
        <p:nvSpPr>
          <p:cNvPr id="14" name="Text 12"/>
          <p:cNvSpPr txBox="1"/>
          <p:nvPr/>
        </p:nvSpPr>
        <p:spPr>
          <a:xfrm>
            <a:off x="914400" y="5093208"/>
            <a:ext cx="2377440" cy="320040"/>
          </a:xfrm>
          <a:prstGeom prst="rect">
            <a:avLst/>
          </a:prstGeom>
          <a:noFill/>
          <a:ln/>
        </p:spPr>
        <p:txBody>
          <a:bodyPr wrap="square" lIns="0" tIns="0" rIns="0" bIns="0" rtlCol="0" anchor="ctr"/>
          <a:lstStyle/>
          <a:p>
            <a:pPr indent="0" marL="0">
              <a:buNone/>
            </a:pPr>
            <a:r>
              <a:rPr lang="en-US" sz="1400" b="1" dirty="0">
                <a:solidFill>
                  <a:srgbClr val="00A896"/>
                </a:solidFill>
                <a:latin typeface="Courier New" pitchFamily="34" charset="0"/>
                <a:ea typeface="Courier New" pitchFamily="34" charset="-122"/>
                <a:cs typeface="Courier New" pitchFamily="34" charset="-120"/>
              </a:rPr>
              <a:t>handle</a:t>
            </a:r>
            <a:endParaRPr lang="en-US" sz="1400" dirty="0"/>
          </a:p>
        </p:txBody>
      </p:sp>
      <p:sp>
        <p:nvSpPr>
          <p:cNvPr id="15" name="Text 13"/>
          <p:cNvSpPr txBox="1"/>
          <p:nvPr/>
        </p:nvSpPr>
        <p:spPr>
          <a:xfrm>
            <a:off x="3657600" y="4727448"/>
            <a:ext cx="7680960" cy="868680"/>
          </a:xfrm>
          <a:prstGeom prst="rect">
            <a:avLst/>
          </a:prstGeom>
          <a:noFill/>
          <a:ln/>
        </p:spPr>
        <p:txBody>
          <a:bodyPr wrap="square" lIns="0" tIns="0" rIns="0" bIns="0" rtlCol="0" anchor="ctr"/>
          <a:lstStyle/>
          <a:p>
            <a:pPr indent="0" marL="0">
              <a:buNone/>
            </a:pPr>
            <a:r>
              <a:rPr lang="en-US" sz="1350" dirty="0">
                <a:solidFill>
                  <a:srgbClr val="16232E"/>
                </a:solidFill>
                <a:latin typeface="Calibri" pitchFamily="34" charset="0"/>
                <a:ea typeface="Calibri" pitchFamily="34" charset="-122"/>
                <a:cs typeface="Calibri" pitchFamily="34" charset="-120"/>
              </a:rPr>
              <a:t>Runs on success and on failure, so the closing summary is written once instead of twice.</a:t>
            </a:r>
            <a:endParaRPr lang="en-US" sz="1350" dirty="0"/>
          </a:p>
        </p:txBody>
      </p:sp>
      <p:sp>
        <p:nvSpPr>
          <p:cNvPr id="16" name="Text 14"/>
          <p:cNvSpPr txBox="1"/>
          <p:nvPr/>
        </p:nvSpPr>
        <p:spPr>
          <a:xfrm>
            <a:off x="621792" y="6035040"/>
            <a:ext cx="10927080" cy="411480"/>
          </a:xfrm>
          <a:prstGeom prst="rect">
            <a:avLst/>
          </a:prstGeom>
          <a:noFill/>
          <a:ln/>
        </p:spPr>
        <p:txBody>
          <a:bodyPr wrap="square" lIns="0" tIns="0" rIns="0" bIns="0" rtlCol="0" anchor="ctr"/>
          <a:lstStyle/>
          <a:p>
            <a:pPr indent="0" marL="0">
              <a:buNone/>
            </a:pPr>
            <a:r>
              <a:rPr lang="en-US" sz="1800" b="1" i="1" dirty="0">
                <a:solidFill>
                  <a:srgbClr val="00776B"/>
                </a:solidFill>
                <a:latin typeface="Cambria" pitchFamily="34" charset="0"/>
                <a:ea typeface="Cambria" pitchFamily="34" charset="-122"/>
                <a:cs typeface="Cambria" pitchFamily="34" charset="-120"/>
              </a:rPr>
              <a:t>A broken order never takes the others down with it, and the program never crashes.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621792" y="274320"/>
            <a:ext cx="10058400" cy="256032"/>
          </a:xfrm>
          <a:prstGeom prst="rect">
            <a:avLst/>
          </a:prstGeom>
          <a:noFill/>
          <a:ln/>
        </p:spPr>
        <p:txBody>
          <a:bodyPr wrap="square" lIns="0" tIns="0" rIns="0" bIns="0" rtlCol="0" anchor="ctr"/>
          <a:lstStyle/>
          <a:p>
            <a:pPr indent="0" marL="0">
              <a:buNone/>
            </a:pPr>
            <a:r>
              <a:rPr lang="en-US" sz="1150" b="1" spc="220" kern="0" dirty="0">
                <a:solidFill>
                  <a:srgbClr val="F2A65A"/>
                </a:solidFill>
                <a:latin typeface="Calibri" pitchFamily="34" charset="0"/>
                <a:ea typeface="Calibri" pitchFamily="34" charset="-122"/>
                <a:cs typeface="Calibri" pitchFamily="34" charset="-120"/>
              </a:rPr>
              <a:t>WHAT THE TUTORIALS LEAVE OUT</a:t>
            </a:r>
            <a:endParaRPr lang="en-US" sz="1150" dirty="0"/>
          </a:p>
        </p:txBody>
      </p:sp>
      <p:sp>
        <p:nvSpPr>
          <p:cNvPr id="3" name="Text 1"/>
          <p:cNvSpPr txBox="1"/>
          <p:nvPr/>
        </p:nvSpPr>
        <p:spPr>
          <a:xfrm>
            <a:off x="621792" y="566928"/>
            <a:ext cx="10972800" cy="713232"/>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Four things that will bite you</a:t>
            </a:r>
            <a:endParaRPr lang="en-US" sz="3400" dirty="0"/>
          </a:p>
        </p:txBody>
      </p:sp>
      <p:sp>
        <p:nvSpPr>
          <p:cNvPr id="4" name="Text 2"/>
          <p:cNvSpPr txBox="1"/>
          <p:nvPr/>
        </p:nvSpPr>
        <p:spPr>
          <a:xfrm>
            <a:off x="621792" y="1572768"/>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supplyAsync(task)  with no executor</a:t>
            </a:r>
            <a:endParaRPr lang="en-US" sz="1400" dirty="0"/>
          </a:p>
        </p:txBody>
      </p:sp>
      <p:sp>
        <p:nvSpPr>
          <p:cNvPr id="5" name="Text 3"/>
          <p:cNvSpPr txBox="1"/>
          <p:nvPr/>
        </p:nvSpPr>
        <p:spPr>
          <a:xfrm>
            <a:off x="621792" y="1901952"/>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runs on the shared ForkJoinPool.commonPool() — sized to your cores, shared with every parallel stream in the JVM, and built for short CPU work. Block it and you stall the whole process. Always pass your own pool.</a:t>
            </a:r>
            <a:endParaRPr lang="en-US" sz="1300" dirty="0"/>
          </a:p>
        </p:txBody>
      </p:sp>
      <p:sp>
        <p:nvSpPr>
          <p:cNvPr id="6" name="Shape 4"/>
          <p:cNvSpPr/>
          <p:nvPr/>
        </p:nvSpPr>
        <p:spPr>
          <a:xfrm>
            <a:off x="621792" y="2642616"/>
            <a:ext cx="10927080" cy="10973"/>
          </a:xfrm>
          <a:prstGeom prst="rect">
            <a:avLst/>
          </a:prstGeom>
          <a:solidFill>
            <a:srgbClr val="22405C"/>
          </a:solidFill>
          <a:ln/>
        </p:spPr>
      </p:sp>
      <p:sp>
        <p:nvSpPr>
          <p:cNvPr id="7" name="Text 5"/>
          <p:cNvSpPr txBox="1"/>
          <p:nvPr/>
        </p:nvSpPr>
        <p:spPr>
          <a:xfrm>
            <a:off x="621792" y="2779776"/>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thenApply  does not promise you a thread</a:t>
            </a:r>
            <a:endParaRPr lang="en-US" sz="1400" dirty="0"/>
          </a:p>
        </p:txBody>
      </p:sp>
      <p:sp>
        <p:nvSpPr>
          <p:cNvPr id="8" name="Text 6"/>
          <p:cNvSpPr txBox="1"/>
          <p:nvPr/>
        </p:nvSpPr>
        <p:spPr>
          <a:xfrm>
            <a:off x="621792" y="3108960"/>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It runs on whichever thread completed the future — or on your calling thread, if it had already completed. Use the ...Async variants when you need to know.</a:t>
            </a:r>
            <a:endParaRPr lang="en-US" sz="1300" dirty="0"/>
          </a:p>
        </p:txBody>
      </p:sp>
      <p:sp>
        <p:nvSpPr>
          <p:cNvPr id="9" name="Shape 7"/>
          <p:cNvSpPr/>
          <p:nvPr/>
        </p:nvSpPr>
        <p:spPr>
          <a:xfrm>
            <a:off x="621792" y="3849624"/>
            <a:ext cx="10927080" cy="10973"/>
          </a:xfrm>
          <a:prstGeom prst="rect">
            <a:avLst/>
          </a:prstGeom>
          <a:solidFill>
            <a:srgbClr val="22405C"/>
          </a:solidFill>
          <a:ln/>
        </p:spPr>
      </p:sp>
      <p:sp>
        <p:nvSpPr>
          <p:cNvPr id="10" name="Text 8"/>
          <p:cNvSpPr txBox="1"/>
          <p:nvPr/>
        </p:nvSpPr>
        <p:spPr>
          <a:xfrm>
            <a:off x="621792" y="3986784"/>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allOf  waits for all of them, even after one fails</a:t>
            </a:r>
            <a:endParaRPr lang="en-US" sz="1400" dirty="0"/>
          </a:p>
        </p:txBody>
      </p:sp>
      <p:sp>
        <p:nvSpPr>
          <p:cNvPr id="11" name="Text 9"/>
          <p:cNvSpPr txBox="1"/>
          <p:nvPr/>
        </p:nvSpPr>
        <p:spPr>
          <a:xfrm>
            <a:off x="621792" y="4315968"/>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It completes exceptionally, but not early. In this project one chunk failed at 62 s and join() still returned at 110 s, because the survivors were left to finish.</a:t>
            </a:r>
            <a:endParaRPr lang="en-US" sz="1300" dirty="0"/>
          </a:p>
        </p:txBody>
      </p:sp>
      <p:sp>
        <p:nvSpPr>
          <p:cNvPr id="12" name="Shape 10"/>
          <p:cNvSpPr/>
          <p:nvPr/>
        </p:nvSpPr>
        <p:spPr>
          <a:xfrm>
            <a:off x="621792" y="5056632"/>
            <a:ext cx="10927080" cy="10973"/>
          </a:xfrm>
          <a:prstGeom prst="rect">
            <a:avLst/>
          </a:prstGeom>
          <a:solidFill>
            <a:srgbClr val="22405C"/>
          </a:solidFill>
          <a:ln/>
        </p:spPr>
      </p:sp>
      <p:sp>
        <p:nvSpPr>
          <p:cNvPr id="13" name="Text 11"/>
          <p:cNvSpPr txBox="1"/>
          <p:nvPr/>
        </p:nvSpPr>
        <p:spPr>
          <a:xfrm>
            <a:off x="621792" y="5193792"/>
            <a:ext cx="10927080" cy="310896"/>
          </a:xfrm>
          <a:prstGeom prst="rect">
            <a:avLst/>
          </a:prstGeom>
          <a:noFill/>
          <a:ln/>
        </p:spPr>
        <p:txBody>
          <a:bodyPr wrap="square" lIns="0" tIns="0" rIns="0" bIns="0" rtlCol="0" anchor="ctr"/>
          <a:lstStyle/>
          <a:p>
            <a:pPr indent="0" marL="0">
              <a:buNone/>
            </a:pPr>
            <a:r>
              <a:rPr lang="en-US" sz="1400" b="1" dirty="0">
                <a:solidFill>
                  <a:srgbClr val="F2A65A"/>
                </a:solidFill>
                <a:latin typeface="Courier New" pitchFamily="34" charset="0"/>
                <a:ea typeface="Courier New" pitchFamily="34" charset="-122"/>
                <a:cs typeface="Courier New" pitchFamily="34" charset="-120"/>
              </a:rPr>
              <a:t>orTimeout  gives up, it does not cancel</a:t>
            </a:r>
            <a:endParaRPr lang="en-US" sz="1400" dirty="0"/>
          </a:p>
        </p:txBody>
      </p:sp>
      <p:sp>
        <p:nvSpPr>
          <p:cNvPr id="14" name="Text 12"/>
          <p:cNvSpPr txBox="1"/>
          <p:nvPr/>
        </p:nvSpPr>
        <p:spPr>
          <a:xfrm>
            <a:off x="621792" y="5522976"/>
            <a:ext cx="10927080" cy="731520"/>
          </a:xfrm>
          <a:prstGeom prst="rect">
            <a:avLst/>
          </a:prstGeom>
          <a:noFill/>
          <a:ln/>
        </p:spPr>
        <p:txBody>
          <a:bodyPr wrap="square" lIns="0" tIns="0" rIns="0" bIns="0" rtlCol="0" anchor="t"/>
          <a:lstStyle/>
          <a:p>
            <a:pPr indent="0" marL="0">
              <a:buNone/>
            </a:pPr>
            <a:r>
              <a:rPr lang="en-US" sz="1300" dirty="0">
                <a:solidFill>
                  <a:srgbClr val="B9C7D4"/>
                </a:solidFill>
                <a:latin typeface="Calibri" pitchFamily="34" charset="0"/>
                <a:ea typeface="Calibri" pitchFamily="34" charset="-122"/>
                <a:cs typeface="Calibri" pitchFamily="34" charset="-120"/>
              </a:rPr>
              <a:t>Your future completes exceptionally; the work underneath carries right on running and holding its thread. The timeout protects the caller, not the server.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B2A"/>
        </a:solidFill>
      </p:bgPr>
    </p:bg>
    <p:spTree>
      <p:nvGrpSpPr>
        <p:cNvPr id="1" name=""/>
        <p:cNvGrpSpPr/>
        <p:nvPr/>
      </p:nvGrpSpPr>
      <p:grpSpPr>
        <a:xfrm>
          <a:off x="0" y="0"/>
          <a:ext cx="0" cy="0"/>
          <a:chOff x="0" y="0"/>
          <a:chExt cx="0" cy="0"/>
        </a:xfrm>
      </p:grpSpPr>
      <p:sp>
        <p:nvSpPr>
          <p:cNvPr id="2" name="Text 0"/>
          <p:cNvSpPr txBox="1"/>
          <p:nvPr/>
        </p:nvSpPr>
        <p:spPr>
          <a:xfrm>
            <a:off x="822960" y="731520"/>
            <a:ext cx="8229600" cy="77724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Four things to take away</a:t>
            </a:r>
            <a:endParaRPr lang="en-US" sz="3600" dirty="0"/>
          </a:p>
        </p:txBody>
      </p:sp>
      <p:sp>
        <p:nvSpPr>
          <p:cNvPr id="3" name="Shape 1"/>
          <p:cNvSpPr/>
          <p:nvPr/>
        </p:nvSpPr>
        <p:spPr>
          <a:xfrm>
            <a:off x="822960" y="1828800"/>
            <a:ext cx="384048" cy="41148"/>
          </a:xfrm>
          <a:prstGeom prst="rect">
            <a:avLst/>
          </a:prstGeom>
          <a:solidFill>
            <a:srgbClr val="00A896"/>
          </a:solidFill>
          <a:ln/>
        </p:spPr>
      </p:sp>
      <p:sp>
        <p:nvSpPr>
          <p:cNvPr id="4" name="Text 2"/>
          <p:cNvSpPr txBox="1"/>
          <p:nvPr/>
        </p:nvSpPr>
        <p:spPr>
          <a:xfrm>
            <a:off x="822960" y="2029968"/>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It buys waiting, not speed</a:t>
            </a:r>
            <a:endParaRPr lang="en-US" sz="1800" dirty="0"/>
          </a:p>
        </p:txBody>
      </p:sp>
      <p:sp>
        <p:nvSpPr>
          <p:cNvPr id="5" name="Text 3"/>
          <p:cNvSpPr txBox="1"/>
          <p:nvPr/>
        </p:nvSpPr>
        <p:spPr>
          <a:xfrm>
            <a:off x="822960" y="2468880"/>
            <a:ext cx="5029200" cy="868680"/>
          </a:xfrm>
          <a:prstGeom prst="rect">
            <a:avLst/>
          </a:prstGeom>
          <a:noFill/>
          <a:ln/>
        </p:spPr>
        <p:txBody>
          <a:bodyPr wrap="square" lIns="0" tIns="0" rIns="0" bIns="0" rtlCol="0" anchor="t"/>
          <a:lstStyle/>
          <a:p>
            <a:pPr indent="0" marL="0">
              <a:buNone/>
            </a:pPr>
            <a:r>
              <a:rPr lang="en-US" sz="1350" dirty="0">
                <a:solidFill>
                  <a:srgbClr val="9FB0BF"/>
                </a:solidFill>
                <a:latin typeface="Calibri" pitchFamily="34" charset="0"/>
                <a:ea typeface="Calibri" pitchFamily="34" charset="-122"/>
                <a:cs typeface="Calibri" pitchFamily="34" charset="-120"/>
              </a:rPr>
              <a:t>CompletableFuture wins exactly where threads sit blocked on I/O. It will never make your CPU faster.</a:t>
            </a:r>
            <a:endParaRPr lang="en-US" sz="1350" dirty="0"/>
          </a:p>
        </p:txBody>
      </p:sp>
      <p:sp>
        <p:nvSpPr>
          <p:cNvPr id="6" name="Shape 4"/>
          <p:cNvSpPr/>
          <p:nvPr/>
        </p:nvSpPr>
        <p:spPr>
          <a:xfrm>
            <a:off x="6355080" y="1828800"/>
            <a:ext cx="384048" cy="41148"/>
          </a:xfrm>
          <a:prstGeom prst="rect">
            <a:avLst/>
          </a:prstGeom>
          <a:solidFill>
            <a:srgbClr val="00A896"/>
          </a:solidFill>
          <a:ln/>
        </p:spPr>
      </p:sp>
      <p:sp>
        <p:nvSpPr>
          <p:cNvPr id="7" name="Text 5"/>
          <p:cNvSpPr txBox="1"/>
          <p:nvPr/>
        </p:nvSpPr>
        <p:spPr>
          <a:xfrm>
            <a:off x="6355080" y="2029968"/>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Partition, and you need no locks</a:t>
            </a:r>
            <a:endParaRPr lang="en-US" sz="1800" dirty="0"/>
          </a:p>
        </p:txBody>
      </p:sp>
      <p:sp>
        <p:nvSpPr>
          <p:cNvPr id="8" name="Text 6"/>
          <p:cNvSpPr txBox="1"/>
          <p:nvPr/>
        </p:nvSpPr>
        <p:spPr>
          <a:xfrm>
            <a:off x="6355080" y="2468880"/>
            <a:ext cx="5029200" cy="868680"/>
          </a:xfrm>
          <a:prstGeom prst="rect">
            <a:avLst/>
          </a:prstGeom>
          <a:noFill/>
          <a:ln/>
        </p:spPr>
        <p:txBody>
          <a:bodyPr wrap="square" lIns="0" tIns="0" rIns="0" bIns="0" rtlCol="0" anchor="t"/>
          <a:lstStyle/>
          <a:p>
            <a:pPr indent="0" marL="0">
              <a:buNone/>
            </a:pPr>
            <a:r>
              <a:rPr lang="en-US" sz="1350" dirty="0">
                <a:solidFill>
                  <a:srgbClr val="9FB0BF"/>
                </a:solidFill>
                <a:latin typeface="Calibri" pitchFamily="34" charset="0"/>
                <a:ea typeface="Calibri" pitchFamily="34" charset="-122"/>
                <a:cs typeface="Calibri" pitchFamily="34" charset="-120"/>
              </a:rPr>
              <a:t>Eight threads, eight offsets, one matching hash. Design so the parallel parts cannot collide.</a:t>
            </a:r>
            <a:endParaRPr lang="en-US" sz="1350" dirty="0"/>
          </a:p>
        </p:txBody>
      </p:sp>
      <p:sp>
        <p:nvSpPr>
          <p:cNvPr id="9" name="Shape 7"/>
          <p:cNvSpPr/>
          <p:nvPr/>
        </p:nvSpPr>
        <p:spPr>
          <a:xfrm>
            <a:off x="822960" y="3794760"/>
            <a:ext cx="384048" cy="41148"/>
          </a:xfrm>
          <a:prstGeom prst="rect">
            <a:avLst/>
          </a:prstGeom>
          <a:solidFill>
            <a:srgbClr val="F2A65A"/>
          </a:solidFill>
          <a:ln/>
        </p:spPr>
      </p:sp>
      <p:sp>
        <p:nvSpPr>
          <p:cNvPr id="10" name="Text 8"/>
          <p:cNvSpPr txBox="1"/>
          <p:nvPr/>
        </p:nvSpPr>
        <p:spPr>
          <a:xfrm>
            <a:off x="822960" y="3995928"/>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Own every executor</a:t>
            </a:r>
            <a:endParaRPr lang="en-US" sz="1800" dirty="0"/>
          </a:p>
        </p:txBody>
      </p:sp>
      <p:sp>
        <p:nvSpPr>
          <p:cNvPr id="11" name="Text 9"/>
          <p:cNvSpPr txBox="1"/>
          <p:nvPr/>
        </p:nvSpPr>
        <p:spPr>
          <a:xfrm>
            <a:off x="822960" y="4434840"/>
            <a:ext cx="5029200" cy="868680"/>
          </a:xfrm>
          <a:prstGeom prst="rect">
            <a:avLst/>
          </a:prstGeom>
          <a:noFill/>
          <a:ln/>
        </p:spPr>
        <p:txBody>
          <a:bodyPr wrap="square" lIns="0" tIns="0" rIns="0" bIns="0" rtlCol="0" anchor="t"/>
          <a:lstStyle/>
          <a:p>
            <a:pPr indent="0" marL="0">
              <a:buNone/>
            </a:pPr>
            <a:r>
              <a:rPr lang="en-US" sz="1350" dirty="0">
                <a:solidFill>
                  <a:srgbClr val="9FB0BF"/>
                </a:solidFill>
                <a:latin typeface="Calibri" pitchFamily="34" charset="0"/>
                <a:ea typeface="Calibri" pitchFamily="34" charset="-122"/>
                <a:cs typeface="Calibri" pitchFamily="34" charset="-120"/>
              </a:rPr>
              <a:t>Never blocking work on the common pool. Name the threads, size the pool to the work, shut it down in a finally.</a:t>
            </a:r>
            <a:endParaRPr lang="en-US" sz="1350" dirty="0"/>
          </a:p>
        </p:txBody>
      </p:sp>
      <p:sp>
        <p:nvSpPr>
          <p:cNvPr id="12" name="Shape 10"/>
          <p:cNvSpPr/>
          <p:nvPr/>
        </p:nvSpPr>
        <p:spPr>
          <a:xfrm>
            <a:off x="6355080" y="3794760"/>
            <a:ext cx="384048" cy="41148"/>
          </a:xfrm>
          <a:prstGeom prst="rect">
            <a:avLst/>
          </a:prstGeom>
          <a:solidFill>
            <a:srgbClr val="00A896"/>
          </a:solidFill>
          <a:ln/>
        </p:spPr>
      </p:sp>
      <p:sp>
        <p:nvSpPr>
          <p:cNvPr id="13" name="Text 11"/>
          <p:cNvSpPr txBox="1"/>
          <p:nvPr/>
        </p:nvSpPr>
        <p:spPr>
          <a:xfrm>
            <a:off x="6355080" y="3995928"/>
            <a:ext cx="502920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Compose; block once, at the end</a:t>
            </a:r>
            <a:endParaRPr lang="en-US" sz="1800" dirty="0"/>
          </a:p>
        </p:txBody>
      </p:sp>
      <p:sp>
        <p:nvSpPr>
          <p:cNvPr id="14" name="Text 12"/>
          <p:cNvSpPr txBox="1"/>
          <p:nvPr/>
        </p:nvSpPr>
        <p:spPr>
          <a:xfrm>
            <a:off x="6355080" y="4434840"/>
            <a:ext cx="5029200" cy="868680"/>
          </a:xfrm>
          <a:prstGeom prst="rect">
            <a:avLst/>
          </a:prstGeom>
          <a:noFill/>
          <a:ln/>
        </p:spPr>
        <p:txBody>
          <a:bodyPr wrap="square" lIns="0" tIns="0" rIns="0" bIns="0" rtlCol="0" anchor="t"/>
          <a:lstStyle/>
          <a:p>
            <a:pPr indent="0" marL="0">
              <a:buNone/>
            </a:pPr>
            <a:r>
              <a:rPr lang="en-US" sz="1350" dirty="0">
                <a:solidFill>
                  <a:srgbClr val="9FB0BF"/>
                </a:solidFill>
                <a:latin typeface="Calibri" pitchFamily="34" charset="0"/>
                <a:ea typeface="Calibri" pitchFamily="34" charset="-122"/>
                <a:cs typeface="Calibri" pitchFamily="34" charset="-120"/>
              </a:rPr>
              <a:t>thenCompose and thenCombine to build it, exceptionally and orTimeout to survive it, one join() to collect it.</a:t>
            </a:r>
            <a:endParaRPr lang="en-US" sz="1350" dirty="0"/>
          </a:p>
        </p:txBody>
      </p:sp>
      <p:sp>
        <p:nvSpPr>
          <p:cNvPr id="15" name="Text 13"/>
          <p:cNvSpPr txBox="1"/>
          <p:nvPr/>
        </p:nvSpPr>
        <p:spPr>
          <a:xfrm>
            <a:off x="841248" y="5897880"/>
            <a:ext cx="4572000" cy="457200"/>
          </a:xfrm>
          <a:prstGeom prst="rect">
            <a:avLst/>
          </a:prstGeom>
          <a:noFill/>
          <a:ln/>
        </p:spPr>
        <p:txBody>
          <a:bodyPr wrap="square" lIns="0" tIns="0" rIns="0" bIns="0" rtlCol="0" anchor="ctr"/>
          <a:lstStyle/>
          <a:p>
            <a:pPr indent="0" marL="0">
              <a:buNone/>
            </a:pPr>
            <a:r>
              <a:rPr lang="en-US" sz="2400" b="1" dirty="0">
                <a:solidFill>
                  <a:srgbClr val="00A896"/>
                </a:solidFill>
                <a:latin typeface="Cambria" pitchFamily="34" charset="0"/>
                <a:ea typeface="Cambria" pitchFamily="34" charset="-122"/>
                <a:cs typeface="Cambria" pitchFamily="34" charset="-120"/>
              </a:rPr>
              <a:t>Questions?</a:t>
            </a:r>
            <a:endParaRPr lang="en-US" sz="2400" dirty="0"/>
          </a:p>
        </p:txBody>
      </p:sp>
      <p:sp>
        <p:nvSpPr>
          <p:cNvPr id="16" name="Text 14"/>
          <p:cNvSpPr txBox="1"/>
          <p:nvPr/>
        </p:nvSpPr>
        <p:spPr>
          <a:xfrm>
            <a:off x="5029200" y="5998464"/>
            <a:ext cx="6400800" cy="365760"/>
          </a:xfrm>
          <a:prstGeom prst="rect">
            <a:avLst/>
          </a:prstGeom>
          <a:noFill/>
          <a:ln/>
        </p:spPr>
        <p:txBody>
          <a:bodyPr wrap="square" lIns="0" tIns="0" rIns="0" bIns="0" rtlCol="0" anchor="ctr"/>
          <a:lstStyle/>
          <a:p>
            <a:pPr algn="r" indent="0" marL="0">
              <a:buNone/>
            </a:pPr>
            <a:r>
              <a:rPr lang="en-US" sz="1250" dirty="0">
                <a:solidFill>
                  <a:srgbClr val="7C8FA0"/>
                </a:solidFill>
                <a:latin typeface="Calibri" pitchFamily="34" charset="0"/>
                <a:ea typeface="Calibri" pitchFamily="34" charset="-122"/>
                <a:cs typeface="Calibri" pitchFamily="34" charset="-120"/>
              </a:rPr>
              <a:t>concurrency-demo.onrender.com  ·  github.com/techadnank9/completablefuture-demo</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Concurrency with CompletableFuture</dc:title>
  <dc:subject>PptxGenJS Presentation</dc:subject>
  <dc:creator>Mohammed Adnan</dc:creator>
  <cp:lastModifiedBy>Mohammed Adnan</cp:lastModifiedBy>
  <cp:revision>1</cp:revision>
  <dcterms:created xsi:type="dcterms:W3CDTF">2026-09-28T08:30:11Z</dcterms:created>
  <dcterms:modified xsi:type="dcterms:W3CDTF">2026-09-28T08:30:11Z</dcterms:modified>
</cp:coreProperties>
</file>